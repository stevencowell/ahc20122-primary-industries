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4cf84d3ec946e5" /><Relationship Type="http://schemas.openxmlformats.org/officeDocument/2006/relationships/extended-properties" Target="/docProps/app.xml" Id="R1237d9d6e45a4baf" /><Relationship Type="http://schemas.openxmlformats.org/officeDocument/2006/relationships/officeDocument" Target="/ppt/presentation.xml" Id="R185f12f1beca4e28" /></Relationships>
</file>

<file path=ppt/presentation.xml><?xml version="1.0" encoding="utf-8"?>
<p:presentation xmlns:p="http://schemas.openxmlformats.org/presentationml/2006/main">
  <p:sldMasterIdLst>
    <p:sldMasterId xmlns:r="http://schemas.openxmlformats.org/officeDocument/2006/relationships" id="2147483648" r:id="R52755e39b27649ee"/>
  </p:sldMasterIdLst>
  <p:notesMasterIdLst>
    <p:notesMasterId xmlns:r="http://schemas.openxmlformats.org/officeDocument/2006/relationships" r:id="Rdce7d7129bc04f92"/>
  </p:notesMasterIdLst>
  <p:sldIdLst>
    <p:sldId xmlns:r="http://schemas.openxmlformats.org/officeDocument/2006/relationships" id="256" r:id="Rd92feeb0c2874084"/>
    <p:sldId xmlns:r="http://schemas.openxmlformats.org/officeDocument/2006/relationships" id="257" r:id="Rdc2a08b971fd4d84"/>
    <p:sldId xmlns:r="http://schemas.openxmlformats.org/officeDocument/2006/relationships" id="258" r:id="R371881313730411f"/>
    <p:sldId xmlns:r="http://schemas.openxmlformats.org/officeDocument/2006/relationships" id="259" r:id="Re1ff0097753d4c54"/>
    <p:sldId xmlns:r="http://schemas.openxmlformats.org/officeDocument/2006/relationships" id="260" r:id="Rc0633da3092b4486"/>
    <p:sldId xmlns:r="http://schemas.openxmlformats.org/officeDocument/2006/relationships" id="261" r:id="R5a157377b3c64e14"/>
    <p:sldId xmlns:r="http://schemas.openxmlformats.org/officeDocument/2006/relationships" id="262" r:id="R247aaa42ceaa4a0f"/>
    <p:sldId xmlns:r="http://schemas.openxmlformats.org/officeDocument/2006/relationships" id="263" r:id="R3efc19c827b04d87"/>
    <p:sldId xmlns:r="http://schemas.openxmlformats.org/officeDocument/2006/relationships" id="264" r:id="R90f14220e44a4b12"/>
    <p:sldId xmlns:r="http://schemas.openxmlformats.org/officeDocument/2006/relationships" id="265" r:id="R76bf4369012143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0780e2a9824c6c" /><Relationship Type="http://schemas.openxmlformats.org/officeDocument/2006/relationships/slideMaster" Target="/ppt/slideMasters/slideMaster1.xml" Id="R52755e39b27649ee" /><Relationship Type="http://schemas.openxmlformats.org/officeDocument/2006/relationships/notesMaster" Target="/ppt/notesMasters/notesMaster1.xml" Id="Rdce7d7129bc04f92" /><Relationship Type="http://schemas.openxmlformats.org/officeDocument/2006/relationships/presProps" Target="/ppt/presProps.xml" Id="R281c142e6a6d41f9" /><Relationship Type="http://schemas.openxmlformats.org/officeDocument/2006/relationships/tableStyles" Target="/ppt/tableStyles.xml" Id="R3be472c038a34071" /><Relationship Type="http://schemas.openxmlformats.org/officeDocument/2006/relationships/slide" Target="/ppt/slides/slide1.xml" Id="Rd92feeb0c2874084" /><Relationship Type="http://schemas.openxmlformats.org/officeDocument/2006/relationships/slide" Target="/ppt/slides/slide2.xml" Id="Rdc2a08b971fd4d84" /><Relationship Type="http://schemas.openxmlformats.org/officeDocument/2006/relationships/slide" Target="/ppt/slides/slide3.xml" Id="R371881313730411f" /><Relationship Type="http://schemas.openxmlformats.org/officeDocument/2006/relationships/slide" Target="/ppt/slides/slide4.xml" Id="Re1ff0097753d4c54" /><Relationship Type="http://schemas.openxmlformats.org/officeDocument/2006/relationships/slide" Target="/ppt/slides/slide5.xml" Id="Rc0633da3092b4486" /><Relationship Type="http://schemas.openxmlformats.org/officeDocument/2006/relationships/slide" Target="/ppt/slides/slide6.xml" Id="R5a157377b3c64e14" /><Relationship Type="http://schemas.openxmlformats.org/officeDocument/2006/relationships/slide" Target="/ppt/slides/slide7.xml" Id="R247aaa42ceaa4a0f" /><Relationship Type="http://schemas.openxmlformats.org/officeDocument/2006/relationships/slide" Target="/ppt/slides/slide8.xml" Id="R3efc19c827b04d87" /><Relationship Type="http://schemas.openxmlformats.org/officeDocument/2006/relationships/slide" Target="/ppt/slides/slide9.xml" Id="R90f14220e44a4b12" /><Relationship Type="http://schemas.openxmlformats.org/officeDocument/2006/relationships/slide" Target="/ppt/slides/slide10.xml" Id="R76bf4369012143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d71e6ddf1846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3c0ca4f88f4668" /><Relationship Type="http://schemas.openxmlformats.org/officeDocument/2006/relationships/notesMaster" Target="/ppt/notesMasters/notesMaster1.xml" Id="R167782e1f67744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5e18c279bf4be5" /><Relationship Type="http://schemas.openxmlformats.org/officeDocument/2006/relationships/notesMaster" Target="/ppt/notesMasters/notesMaster1.xml" Id="R85e7f0719f754e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65a1d2c31d47eb" /><Relationship Type="http://schemas.openxmlformats.org/officeDocument/2006/relationships/notesMaster" Target="/ppt/notesMasters/notesMaster1.xml" Id="R7a9a0a27344c47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343f4f3d0a4927" /><Relationship Type="http://schemas.openxmlformats.org/officeDocument/2006/relationships/notesMaster" Target="/ppt/notesMasters/notesMaster1.xml" Id="R4e60ff9536c742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951fcfd92a40b5" /><Relationship Type="http://schemas.openxmlformats.org/officeDocument/2006/relationships/notesMaster" Target="/ppt/notesMasters/notesMaster1.xml" Id="R1ba1c38906ef4b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33c5827b7d4f6b" /><Relationship Type="http://schemas.openxmlformats.org/officeDocument/2006/relationships/notesMaster" Target="/ppt/notesMasters/notesMaster1.xml" Id="R8d4e494ad79643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0b5b7ee6e244c5" /><Relationship Type="http://schemas.openxmlformats.org/officeDocument/2006/relationships/notesMaster" Target="/ppt/notesMasters/notesMaster1.xml" Id="R609ab261b56e4b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f6adac556745e2" /><Relationship Type="http://schemas.openxmlformats.org/officeDocument/2006/relationships/notesMaster" Target="/ppt/notesMasters/notesMaster1.xml" Id="R078a022d24ae44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6e9daeaecb46c0" /><Relationship Type="http://schemas.openxmlformats.org/officeDocument/2006/relationships/notesMaster" Target="/ppt/notesMasters/notesMaster1.xml" Id="R66e4276f43a546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27ff70e0554b48" /><Relationship Type="http://schemas.openxmlformats.org/officeDocument/2006/relationships/notesMaster" Target="/ppt/notesMasters/notesMaster1.xml" Id="R5e30323dfcd648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When controlling sources conflict, make the difference visible to the authorised person. State source one, source two and the exact decision required.</a:t>
            </a:r>
          </a:p>
          <a:p xmlns:a="http://schemas.openxmlformats.org/drawingml/2006/main">
            <a:r>
              <a:t>Applied action: Rehearse a clarification handover. Use a fictional teacher-provided instruction. In pairs, practise restating the known details, asking one precise question and confirming the final direction. Do not use a real workplace dispute or assessment answer.</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Source basis: AHCWRK212 and AHCWRK213 Release 1 requirements for confirming work, gathering information, clarifying instructions and communicating with supervisors. Teacher-posted working-in-industry notes informed topic breadth only.</a:t>
            </a:r>
          </a:p>
          <a:p xmlns:a="http://schemas.openxmlformats.org/drawingml/2006/main">
            <a:r>
              <a:t>- Visual visual-task-02-01: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When controlling sources conflict, make the difference visible to the authorised person. State source one, source two and the exact decision required.
Applied action: Rehearse a clarification handover. Use a fictional teacher-provided instruction. In pairs, practise restating the known details, asking one precise question and confirming the final direction. Do not use a real workplace dispute or assessment answer.
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
[Sources]
- Source basis: AHCWRK212 and AHCWRK213 Release 1 requirements for confirming work, gathering information, clarifying instructions and communicating with supervisors. Teacher-posted working-in-industry notes informed topic breadth only.
- Visual visual-task-02-01: Generated locally from accepted Stage 05 module headings; no external image copied.
- Course visual manifest: work/pi/visuals/visual-manifest.json</a:t>
            </a:r>
          </a:p>
          <a:p xmlns:a="http://schemas.openxmlformats.org/drawingml/2006/main">
            <a:r>
              <a:t>Formative check answer: Present both figures to the supervisor and ask which authorised source controls.</a:t>
            </a:r>
          </a:p>
          <a:p xmlns:a="http://schemas.openxmlformats.org/drawingml/2006/main">
            <a:r>
              <a:t>Correct feedback: You used source comparison and clarification instead of guessing.</a:t>
            </a:r>
          </a:p>
          <a:p xmlns:a="http://schemas.openxmlformats.org/drawingml/2006/main">
            <a:r>
              <a:t>Corrective feedback: When controlling sources conflict, make the difference visible to the authorised person.</a:t>
            </a:r>
          </a:p>
          <a:p xmlns:a="http://schemas.openxmlformats.org/drawingml/2006/main">
            <a:r>
              <a:t>Full contextual example: Observed evidence: In a fictional nursery store, Mina's verbal instruction says to prepare eight labelled trays, but the electronic schedule lists six. Decision and reason: Guessing could create waste or leave the job incomplete, and Mina is not authorised to alter the order. Safe action: Mina tells the supervisor the two figures and asks which current source controls. Result: The supervisor confirms that the schedule was not updated and directs eight trays. Next check or record: Mina repeats the confirmed quantity and records the completed total in the authorised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dependency blocks or changes a later step; a preference mainly affects convenience. Ask: Can the next step be accurate without this?</a:t>
            </a:r>
          </a:p>
          <a:p xmlns:a="http://schemas.openxmlformats.org/drawingml/2006/main">
            <a:r>
              <a:t>Applied action: Plan a fictional 70-minute job. Turn a teacher-provided routine work brief into a one-page plan with tasks, time windows, roles and hold points. Use only fictional data and leave practical procedures to the teacher's authorised source.</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Source basis: AHCWRK212 Release 1 requirements for confirming work plans, schedules, timelines, materials, equipment and priorities, supported by AHCWRK213 communication and record requirements. Local schedules and methods remain controlling.</a:t>
            </a:r>
          </a:p>
          <a:p xmlns:a="http://schemas.openxmlformats.org/drawingml/2006/main">
            <a:r>
              <a:t>- Visual visual-task-02-02: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dependency blocks or changes a later step; a preference mainly affects convenience. Ask: Can the next step be accurate without this?
Applied action: Plan a fictional 70-minute job. Turn a teacher-provided routine work brief into a one-page plan with tasks, time windows, roles and hold points. Use only fictional data and leave practical procedures to the teacher's authorised source.
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
[Sources]
- Source basis: AHCWRK212 Release 1 requirements for confirming work plans, schedules, timelines, materials, equipment and priorities, supported by AHCWRK213 communication and record requirements. Local schedules and methods remain controlling.
- Visual visual-task-02-02: Generated locally from accepted Stage 05 module headings; no external image copied.
- Course visual manifest: work/pi/visuals/visual-manifest.json</a:t>
            </a:r>
          </a:p>
          <a:p xmlns:a="http://schemas.openxmlformats.org/drawingml/2006/main">
            <a:r>
              <a:t>Formative check answer: Confirming which delivery is current before recording its stock count.</a:t>
            </a:r>
          </a:p>
          <a:p xmlns:a="http://schemas.openxmlformats.org/drawingml/2006/main">
            <a:r>
              <a:t>Correct feedback: You identified information that must be confirmed before the dependent task can be completed.</a:t>
            </a:r>
          </a:p>
          <a:p xmlns:a="http://schemas.openxmlformats.org/drawingml/2006/main">
            <a:r>
              <a:t>Corrective feedback: A dependency blocks or changes a later step; a preference mainly affects convenience.</a:t>
            </a:r>
          </a:p>
          <a:p xmlns:a="http://schemas.openxmlformats.org/drawingml/2006/main">
            <a:r>
              <a:t>Full contextual example: Observed evidence: A fictional team has 70 minutes to prepare labelled storage tubs, count unopened supplies and update a stock sheet. One count depends on the supervisor confirming which delivery is current. Decision and reason: The team schedules independent preparation first and places the uncertain count behind a hold point. Safe action: At the first checkpoint, the learner reports that confirmation is still missing. Result: The supervisor supplies the correct delivery reference and adjusts who completes the count. Next check or record: The team records actual totals and finish times rather than copying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Check that every source value is included and the answer names what was counted. Add the four values, then write the unit beside the answer.</a:t>
            </a:r>
          </a:p>
          <a:p xmlns:a="http://schemas.openxmlformats.org/drawingml/2006/main">
            <a:r>
              <a:t>Applied action: Audit a fictional work record. Check a teacher-provided fictional record for one arithmetic error, one unit error and one unclear comment. Explain each correction without copying the controlled assessment template.</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Source basis: AHCWRK213 Release 1 requirements for accurate records, routine calculations, error correction and reporting, supported by AHCWRK212 quality-of-own-work expectations. Current workplace forms and correction processes remain controlling.</a:t>
            </a:r>
          </a:p>
          <a:p xmlns:a="http://schemas.openxmlformats.org/drawingml/2006/main">
            <a:r>
              <a:t>- Visual visual-task-02-03: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Check that every source value is included and the answer names what was counted. Add the four values, then write the unit beside the answer.
Applied action: Audit a fictional work record. Check a teacher-provided fictional record for one arithmetic error, one unit error and one unclear comment. Explain each correction without copying the controlled assessment template.
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
[Sources]
- Source basis: AHCWRK213 Release 1 requirements for accurate records, routine calculations, error correction and reporting, supported by AHCWRK212 quality-of-own-work expectations. Current workplace forms and correction processes remain controlling.
- Visual visual-task-02-03: Generated locally from accepted Stage 05 module headings; no external image copied.
- Course visual manifest: work/pi/visuals/visual-manifest.json</a:t>
            </a:r>
          </a:p>
          <a:p xmlns:a="http://schemas.openxmlformats.org/drawingml/2006/main">
            <a:r>
              <a:t>Formative check answer: 50 items</a:t>
            </a:r>
          </a:p>
          <a:p xmlns:a="http://schemas.openxmlformats.org/drawingml/2006/main">
            <a:r>
              <a:t>Correct feedback: You calculated the total and recorded the correct unit.</a:t>
            </a:r>
          </a:p>
          <a:p xmlns:a="http://schemas.openxmlformats.org/drawingml/2006/main">
            <a:r>
              <a:t>Corrective feedback: Check that every source value is included and the answer names what was counted.</a:t>
            </a:r>
          </a:p>
          <a:p xmlns:a="http://schemas.openxmlformats.org/drawingml/2006/main">
            <a:r>
              <a:t>Full contextual example: Observed evidence: A fictional count sheet lists four bins with 18, 17, 20 and 19 sealed items, while the total box says 75. Decision and reason: The source entries add to 74, so either a bin count or the total is wrong. Safe action: The learner repeats the arithmetic and checks the original bin observations rather than changing a figure to make it balance. Result: The second bin is confirmed as 18, giving a supported total of 75. Next check or record: The correction is made through the authorised process with the source check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Useful feedback describes an observable action and the next required step. Use: I observed; this affects; please do or confirm.</a:t>
            </a:r>
          </a:p>
          <a:p xmlns:a="http://schemas.openxmlformats.org/drawingml/2006/main">
            <a:r>
              <a:t>Applied action: Run a fictional handover huddle. In a small group, use fictional roles to identify one handover gap, give evidence-based feedback and record an action, owner, timing and check. Do not use real colleague conduct or personal information.</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Source basis: AHCWRK212 Release 1 teamwork, feedback, conflict, meetings and inclusive-work requirements, together with AHCWRK213 Release 1 meeting and communication requirements. Teacher-posted notes informed concept breadth; current workplace policies control conduct matters.</a:t>
            </a:r>
          </a:p>
          <a:p xmlns:a="http://schemas.openxmlformats.org/drawingml/2006/main">
            <a:r>
              <a:t>- Visual visual-task-02-04: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Useful feedback describes an observable action and the next required step. Use: I observed; this affects; please do or confirm.
Applied action: Run a fictional handover huddle. In a small group, use fictional roles to identify one handover gap, give evidence-based feedback and record an action, owner, timing and check. Do not use real colleague conduct or personal information.
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
[Sources]
- Source basis: AHCWRK212 Release 1 teamwork, feedback, conflict, meetings and inclusive-work requirements, together with AHCWRK213 Release 1 meeting and communication requirements. Teacher-posted notes informed concept breadth; current workplace policies control conduct matters.
- Visual visual-task-02-04: Generated locally from accepted Stage 05 module headings; no external image copied.
- Course visual manifest: work/pi/visuals/visual-manifest.json</a:t>
            </a:r>
          </a:p>
          <a:p xmlns:a="http://schemas.openxmlformats.org/drawingml/2006/main">
            <a:r>
              <a:t>Formative check answer: The final count field was blank at handover; please complete it and ask me to verify the total before 2 pm.</a:t>
            </a:r>
          </a:p>
          <a:p xmlns:a="http://schemas.openxmlformats.org/drawingml/2006/main">
            <a:r>
              <a:t>Correct feedback: You selected feedback that is specific, respectful and actionable.</a:t>
            </a:r>
          </a:p>
          <a:p xmlns:a="http://schemas.openxmlformats.org/drawingml/2006/main">
            <a:r>
              <a:t>Corrective feedback: Useful feedback describes an observable action and the next required step.</a:t>
            </a:r>
          </a:p>
          <a:p xmlns:a="http://schemas.openxmlformats.org/drawingml/2006/main">
            <a:r>
              <a:t>Full contextual example: Observed evidence: In a fictional produce store, Sam expects Jo to enter the final count while Jo believes Sam owns that step, so the record remains blank. Decision and reason: The issue is an unclear handover, not proof that either person is lazy. Safe action: Sam states the shared deadline, shows the blank field and asks to confirm responsibility. Result: The team checks the plan and the supervisor assigns the entry to Jo and the verification to Sam. Next check or record: Both confirm completion through the normal channel and note the clearer handover for next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AHCWRK212 Release 1, AHCWRK213 Release 1 and authorised teacher-posted working-in-industry notes used only for current concepts and original scenarios. Current workplace instructions, forms, employment sources, reporting channels, assessment tasks and assessor decisions remain controlling.</a:t>
            </a:r>
          </a:p>
          <a:p xmlns:a="http://schemas.openxmlformats.org/drawingml/2006/main">
            <a:r>
              <a:t>[Sources]</a:t>
            </a:r>
          </a:p>
          <a:p xmlns:a="http://schemas.openxmlformats.org/drawingml/2006/main">
            <a:r>
              <a:t>- Source basis: AHCWRK212 and AHCWRK213 Release 1 requirements for confirming work, gathering information, clarifying instructions and communicating with supervisors. Teacher-posted working-in-industry notes informed topic breadth only.</a:t>
            </a:r>
          </a:p>
          <a:p xmlns:a="http://schemas.openxmlformats.org/drawingml/2006/main">
            <a:r>
              <a:t>- Source basis: AHCWRK212 Release 1 requirements for confirming work plans, schedules, timelines, materials, equipment and priorities, supported by AHCWRK213 communication and record requirements. Local schedules and methods remain controlling.</a:t>
            </a:r>
          </a:p>
          <a:p xmlns:a="http://schemas.openxmlformats.org/drawingml/2006/main">
            <a:r>
              <a:t>- Source basis: AHCWRK213 Release 1 requirements for accurate records, routine calculations, error correction and reporting, supported by AHCWRK212 quality-of-own-work expectations. Current workplace forms and correction processes remain controlling.</a:t>
            </a:r>
          </a:p>
          <a:p xmlns:a="http://schemas.openxmlformats.org/drawingml/2006/main">
            <a:r>
              <a:t>- Source basis: AHCWRK212 Release 1 teamwork, feedback, conflict, meetings and inclusive-work requirements, together with AHCWRK213 Release 1 meeting and communication requirements. Teacher-posted notes informed concept breadth; current workplace policies control conduct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79fc0a16b242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d7444f093448e5" /><Relationship Type="http://schemas.openxmlformats.org/officeDocument/2006/relationships/slideLayout" Target="/ppt/slideLayouts/slideLayout1.xml" Id="Re4e325e297ae40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e325e297ae40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c1d70d27b94343" /><Relationship Type="http://schemas.openxmlformats.org/officeDocument/2006/relationships/image" Target="/ppt/media/image.png" Id="R092d89e83bb14206" /><Relationship Type="http://schemas.openxmlformats.org/officeDocument/2006/relationships/notesSlide" Target="/ppt/notesSlides/notesSlide1.xml" Id="R7f299866fc1d46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1d571044a04fe0" /><Relationship Type="http://schemas.openxmlformats.org/officeDocument/2006/relationships/image" Target="/ppt/media/image2.png" Id="Rad6a56f7c26c424d" /><Relationship Type="http://schemas.openxmlformats.org/officeDocument/2006/relationships/image" Target="/ppt/media/image.svg" Id="Raa39a99be2414f4b" /><Relationship Type="http://schemas.openxmlformats.org/officeDocument/2006/relationships/notesSlide" Target="/ppt/notesSlides/notesSlide2.xml" Id="R0182faa192f243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60731de52a4aae" /><Relationship Type="http://schemas.openxmlformats.org/officeDocument/2006/relationships/notesSlide" Target="/ppt/notesSlides/notesSlide3.xml" Id="R7e57eeaaa36b45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96e56f5b0b4080" /><Relationship Type="http://schemas.openxmlformats.org/officeDocument/2006/relationships/image" Target="/ppt/media/image3.png" Id="R9e3e878bf3554beb" /><Relationship Type="http://schemas.openxmlformats.org/officeDocument/2006/relationships/image" Target="/ppt/media/image2.svg" Id="Ra59dfa0573ca404c" /><Relationship Type="http://schemas.openxmlformats.org/officeDocument/2006/relationships/notesSlide" Target="/ppt/notesSlides/notesSlide4.xml" Id="Rebbe8ffa2de847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c874decc254926" /><Relationship Type="http://schemas.openxmlformats.org/officeDocument/2006/relationships/notesSlide" Target="/ppt/notesSlides/notesSlide5.xml" Id="R37dfc1a75e5c47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9e77a044094060" /><Relationship Type="http://schemas.openxmlformats.org/officeDocument/2006/relationships/image" Target="/ppt/media/image4.png" Id="Raddf3b48506d461b" /><Relationship Type="http://schemas.openxmlformats.org/officeDocument/2006/relationships/image" Target="/ppt/media/image3.svg" Id="R6c443bd287b04493" /><Relationship Type="http://schemas.openxmlformats.org/officeDocument/2006/relationships/notesSlide" Target="/ppt/notesSlides/notesSlide6.xml" Id="R96d5c2225e3140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680462964349ba" /><Relationship Type="http://schemas.openxmlformats.org/officeDocument/2006/relationships/notesSlide" Target="/ppt/notesSlides/notesSlide7.xml" Id="R11ad97b5f9c14d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5675f18e444f94" /><Relationship Type="http://schemas.openxmlformats.org/officeDocument/2006/relationships/image" Target="/ppt/media/image5.png" Id="Rf3022d070457498d" /><Relationship Type="http://schemas.openxmlformats.org/officeDocument/2006/relationships/image" Target="/ppt/media/image4.svg" Id="Rde4fb95714514f57" /><Relationship Type="http://schemas.openxmlformats.org/officeDocument/2006/relationships/notesSlide" Target="/ppt/notesSlides/notesSlide8.xml" Id="R67c304af571b45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c5c1a574cf4ce1" /><Relationship Type="http://schemas.openxmlformats.org/officeDocument/2006/relationships/notesSlide" Target="/ppt/notesSlides/notesSlide9.xml" Id="R1e4ab9d730a845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57e68b6119413c" /><Relationship Type="http://schemas.openxmlformats.org/officeDocument/2006/relationships/notesSlide" Target="/ppt/notesSlides/notesSlide10.xml" Id="R3511df71bbc841dd"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92d89e83bb14206"/>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92B339-E155-4D7F-8972-DD283B6D4BF2}"/>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DEBD7B43-C191-43E1-9545-63532D82CE50}"/>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EEA98485-0A02-4925-89D9-89DC9B153D78}"/>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2 · Communicate and work effectively</a:t>
            </a:r>
          </a:p>
        </p:txBody>
      </p:sp>
      <p:sp>
        <p:nvSpPr>
          <p:cNvPr id="5" name="">
            <a:extLst xmlns:a="http://schemas.openxmlformats.org/drawingml/2006/main">
              <a:ext uri="{FF2B5EF4-FFF2-40B4-BE49-F238E27FC236}">
                <a16:creationId xmlns:a16="http://schemas.microsoft.com/office/drawing/2014/main" id="{00A00665-74BA-4F6A-8A2B-79CFF68EBC86}"/>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Clarify instructions, organise routine work, complete useful workplace records and contribute respectfully to a team.</a:t>
            </a:r>
          </a:p>
        </p:txBody>
      </p:sp>
      <p:sp>
        <p:nvSpPr>
          <p:cNvPr id="6" name="">
            <a:extLst xmlns:a="http://schemas.openxmlformats.org/drawingml/2006/main">
              <a:ext uri="{FF2B5EF4-FFF2-40B4-BE49-F238E27FC236}">
                <a16:creationId xmlns:a16="http://schemas.microsoft.com/office/drawing/2014/main" id="{857DCA95-8E8A-4C3B-BBC3-41393270CC06}"/>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C12BDB16-B312-4BC2-8598-CF50DB5BAD63}"/>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Roles, instructions and scope of authority</a:t>
            </a:r>
          </a:p>
          <a:p xmlns:a="http://schemas.openxmlformats.org/drawingml/2006/main">
            <a:pPr algn="l">
              <a:defRPr sz="1425" b="1">
                <a:solidFill>
                  <a:srgbClr val="FFFFFF"/>
                </a:solidFill>
              </a:defRPr>
            </a:pPr>
            <a:r>
              <a:rPr sz="1425" b="1">
                <a:solidFill>
                  <a:srgbClr val="FFFFFF"/>
                </a:solidFill>
              </a:rPr>
              <a:t>02  Work plans, priorities and time</a:t>
            </a:r>
          </a:p>
          <a:p xmlns:a="http://schemas.openxmlformats.org/drawingml/2006/main">
            <a:pPr algn="l">
              <a:defRPr sz="1425" b="1">
                <a:solidFill>
                  <a:srgbClr val="FFFFFF"/>
                </a:solidFill>
              </a:defRPr>
            </a:pPr>
            <a:r>
              <a:rPr sz="1425" b="1">
                <a:solidFill>
                  <a:srgbClr val="FFFFFF"/>
                </a:solidFill>
              </a:rPr>
              <a:t>03  Workplace records and routine calculations</a:t>
            </a:r>
          </a:p>
          <a:p xmlns:a="http://schemas.openxmlformats.org/drawingml/2006/main">
            <a:pPr algn="l">
              <a:defRPr sz="1425" b="1">
                <a:solidFill>
                  <a:srgbClr val="FFFFFF"/>
                </a:solidFill>
              </a:defRPr>
            </a:pPr>
            <a:r>
              <a:rPr sz="1425" b="1">
                <a:solidFill>
                  <a:srgbClr val="FFFFFF"/>
                </a:solidFill>
              </a:rPr>
              <a:t>04  Teamwork, feedback and workplace issues</a:t>
            </a:r>
          </a:p>
        </p:txBody>
      </p:sp>
      <p:sp>
        <p:nvSpPr>
          <p:cNvPr id="8" name="">
            <a:extLst xmlns:a="http://schemas.openxmlformats.org/drawingml/2006/main">
              <a:ext uri="{FF2B5EF4-FFF2-40B4-BE49-F238E27FC236}">
                <a16:creationId xmlns:a16="http://schemas.microsoft.com/office/drawing/2014/main" id="{DAF7C27E-F94B-483D-B70A-5D201844AC55}"/>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361891491"/>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EA9EC3-2276-4E82-992B-1D453A45C4D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D5D79DBA-7484-4EE4-AFAA-11115F21A4A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2">
            <a:extLst xmlns:a="http://schemas.openxmlformats.org/drawingml/2006/main">
              <a:ext uri="{FF2B5EF4-FFF2-40B4-BE49-F238E27FC236}">
                <a16:creationId xmlns:a16="http://schemas.microsoft.com/office/drawing/2014/main" id="{F30103E1-9C74-49AB-8C71-71A3F77CD05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Roles, instructions and scope of authority</a:t>
            </a:r>
          </a:p>
        </p:txBody>
      </p:sp>
      <p:sp>
        <p:nvSpPr>
          <p:cNvPr id="4" name="">
            <a:extLst xmlns:a="http://schemas.openxmlformats.org/drawingml/2006/main">
              <a:ext uri="{FF2B5EF4-FFF2-40B4-BE49-F238E27FC236}">
                <a16:creationId xmlns:a16="http://schemas.microsoft.com/office/drawing/2014/main" id="{9F813E94-DD7D-4A87-B7F5-378CA0719F3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8832C1E9-0B98-4E18-A32D-D34246A9B2D1}"/>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D03BC6CE-BB60-4301-865A-C1632B534B98}"/>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d6a56f7c26c424d">
            <a:extLst>
              <a:ext uri="{96DAC541-7B7A-43D3-8B79-37D633B846F1}">
                <asvg:svgBlip xmlns:asvg="http://schemas.microsoft.com/office/drawing/2016/SVG/main" r:embed="Raa39a99be2414f4b"/>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06291C7-7363-49EC-B228-8895279A98D1}"/>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7BC66116-D5FA-4677-B781-F5CB28A5E126}"/>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Instructions connect the team to the job</a:t>
            </a:r>
          </a:p>
          <a:p xmlns:a="http://schemas.openxmlformats.org/drawingml/2006/main">
            <a:pPr algn="l">
              <a:defRPr sz="1725" b="1">
                <a:solidFill>
                  <a:srgbClr val="123E2A"/>
                </a:solidFill>
              </a:defRPr>
            </a:pPr>
            <a:r>
              <a:rPr sz="1725" b="1">
                <a:solidFill>
                  <a:srgbClr val="123E2A"/>
                </a:solidFill>
              </a:rPr>
              <a:t>• Clarify before guessing</a:t>
            </a:r>
          </a:p>
        </p:txBody>
      </p:sp>
      <p:sp>
        <p:nvSpPr>
          <p:cNvPr id="10" name="">
            <a:extLst xmlns:a="http://schemas.openxmlformats.org/drawingml/2006/main">
              <a:ext uri="{FF2B5EF4-FFF2-40B4-BE49-F238E27FC236}">
                <a16:creationId xmlns:a16="http://schemas.microsoft.com/office/drawing/2014/main" id="{CEC6B398-1428-4A09-9113-7D79020092BE}"/>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workplace instruction communicates an expected outcome, boundaries and information needed for a task. Clarification is needed when the outcome, sequence, specification, timing, resources, safety control or reporting requirement is unclear.</a:t>
            </a:r>
          </a:p>
        </p:txBody>
      </p:sp>
      <p:sp>
        <p:nvSpPr>
          <p:cNvPr id="11" name="">
            <a:extLst xmlns:a="http://schemas.openxmlformats.org/drawingml/2006/main">
              <a:ext uri="{FF2B5EF4-FFF2-40B4-BE49-F238E27FC236}">
                <a16:creationId xmlns:a16="http://schemas.microsoft.com/office/drawing/2014/main" id="{1751BF63-1DF6-4BFA-B380-0B407AD786C6}"/>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97ED3BC7-3070-4729-B7F8-F2259E5EE3A1}"/>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877F5837-8BCD-4CC8-9FD7-96DD39C1860B}"/>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7260326"/>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7F33F57-55AE-4776-8136-8C1B11A0DD5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551906EB-125E-46EF-B374-B93248C8CBB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3">
            <a:extLst xmlns:a="http://schemas.openxmlformats.org/drawingml/2006/main">
              <a:ext uri="{FF2B5EF4-FFF2-40B4-BE49-F238E27FC236}">
                <a16:creationId xmlns:a16="http://schemas.microsoft.com/office/drawing/2014/main" id="{F9865050-C41E-42E2-9825-A32770EF4C0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Roles, instructions and scope of authority: decide from evidence</a:t>
            </a:r>
          </a:p>
        </p:txBody>
      </p:sp>
      <p:sp>
        <p:nvSpPr>
          <p:cNvPr id="4" name="">
            <a:extLst xmlns:a="http://schemas.openxmlformats.org/drawingml/2006/main">
              <a:ext uri="{FF2B5EF4-FFF2-40B4-BE49-F238E27FC236}">
                <a16:creationId xmlns:a16="http://schemas.microsoft.com/office/drawing/2014/main" id="{1A637461-5C40-4CF3-B44B-048843E828B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1E68445E-2850-4E4E-811E-03D548B4260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AF252BD4-7987-493A-AC7B-99B922DEF92D}"/>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D9EAEBD-9396-47AC-B7BA-613CAB95C767}"/>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9D11BB75-532E-47DF-B472-E6365D137D06}"/>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nursery store, Mina's verbal instruction says to prepare eight labelled trays, but the electronic schedule lists six.</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Guessing could create waste or leave the job incomplete, and Mina is not authorised to alter the order.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Mina tells the supervisor the two figures and asks which current source controls.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Mina repeats the confirmed quantity and records the completed total in the authorised system.</a:t>
            </a:r>
          </a:p>
        </p:txBody>
      </p:sp>
      <p:sp>
        <p:nvSpPr>
          <p:cNvPr id="9" name="">
            <a:extLst xmlns:a="http://schemas.openxmlformats.org/drawingml/2006/main">
              <a:ext uri="{FF2B5EF4-FFF2-40B4-BE49-F238E27FC236}">
                <a16:creationId xmlns:a16="http://schemas.microsoft.com/office/drawing/2014/main" id="{44BCC696-0636-4DD2-85E6-551D8D52317E}"/>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CEBC647-C030-49B1-A4E0-2B251748BD94}"/>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BA78FFD9-75E4-4660-9F42-E74573B4F729}"/>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verbal instruction and the current schedule show different quantities. What is the strongest response?</a:t>
            </a:r>
          </a:p>
        </p:txBody>
      </p:sp>
      <p:sp>
        <p:nvSpPr>
          <p:cNvPr id="12" name="">
            <a:extLst xmlns:a="http://schemas.openxmlformats.org/drawingml/2006/main">
              <a:ext uri="{FF2B5EF4-FFF2-40B4-BE49-F238E27FC236}">
                <a16:creationId xmlns:a16="http://schemas.microsoft.com/office/drawing/2014/main" id="{127CF31B-DA1E-4745-AB8F-50D37E82D7F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Use the larger number so the job cannot be short.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Present both figures to the supervisor and ask which authorised source controls.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Follow whichever instruction was received first.</a:t>
            </a:r>
          </a:p>
        </p:txBody>
      </p:sp>
      <p:sp>
        <p:nvSpPr>
          <p:cNvPr id="13" name="">
            <a:extLst xmlns:a="http://schemas.openxmlformats.org/drawingml/2006/main">
              <a:ext uri="{FF2B5EF4-FFF2-40B4-BE49-F238E27FC236}">
                <a16:creationId xmlns:a16="http://schemas.microsoft.com/office/drawing/2014/main" id="{1AE94906-FBF7-49D4-9810-16777B1D820A}"/>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State source one, source two and the exact decision required.</a:t>
            </a:r>
          </a:p>
        </p:txBody>
      </p:sp>
    </p:spTree>
    <p:extLst>
      <p:ext uri="{BB962C8B-B14F-4D97-AF65-F5344CB8AC3E}">
        <p14:creationId xmlns:p14="http://schemas.microsoft.com/office/powerpoint/2010/main" val="766235507"/>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FAE1BEF-5CE7-4232-A204-1A19FA1B538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9E51901F-62F9-4955-959C-202F75BDE2D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4">
            <a:extLst xmlns:a="http://schemas.openxmlformats.org/drawingml/2006/main">
              <a:ext uri="{FF2B5EF4-FFF2-40B4-BE49-F238E27FC236}">
                <a16:creationId xmlns:a16="http://schemas.microsoft.com/office/drawing/2014/main" id="{35ACF0C7-1538-4ED9-AC71-7C0A3E00063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Work plans, priorities and time</a:t>
            </a:r>
          </a:p>
        </p:txBody>
      </p:sp>
      <p:sp>
        <p:nvSpPr>
          <p:cNvPr id="4" name="">
            <a:extLst xmlns:a="http://schemas.openxmlformats.org/drawingml/2006/main">
              <a:ext uri="{FF2B5EF4-FFF2-40B4-BE49-F238E27FC236}">
                <a16:creationId xmlns:a16="http://schemas.microsoft.com/office/drawing/2014/main" id="{D898F38C-00FA-44E4-B10E-175207B4018B}"/>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12CF89C1-72AC-465D-8485-E2699F5D726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7788BCDB-A101-4580-A139-EEA9F441DF03}"/>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e3e878bf3554beb">
            <a:extLst>
              <a:ext uri="{96DAC541-7B7A-43D3-8B79-37D633B846F1}">
                <asvg:svgBlip xmlns:asvg="http://schemas.microsoft.com/office/drawing/2016/SVG/main" r:embed="Ra59dfa0573ca404c"/>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72D165-953C-4C44-8D49-3BBF32B6BA14}"/>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E49BD723-BD3E-4222-9F9F-30526974FBCB}"/>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work plan makes the brief visible</a:t>
            </a:r>
          </a:p>
          <a:p xmlns:a="http://schemas.openxmlformats.org/drawingml/2006/main">
            <a:pPr algn="l">
              <a:defRPr sz="1725" b="1">
                <a:solidFill>
                  <a:srgbClr val="123E2A"/>
                </a:solidFill>
              </a:defRPr>
            </a:pPr>
            <a:r>
              <a:rPr sz="1725" b="1">
                <a:solidFill>
                  <a:srgbClr val="123E2A"/>
                </a:solidFill>
              </a:rPr>
              <a:t>• Separate dependencies from preferences</a:t>
            </a:r>
          </a:p>
        </p:txBody>
      </p:sp>
      <p:sp>
        <p:nvSpPr>
          <p:cNvPr id="10" name="">
            <a:extLst xmlns:a="http://schemas.openxmlformats.org/drawingml/2006/main">
              <a:ext uri="{FF2B5EF4-FFF2-40B4-BE49-F238E27FC236}">
                <a16:creationId xmlns:a16="http://schemas.microsoft.com/office/drawing/2014/main" id="{754B336E-85B1-4159-9227-83420EC7B056}"/>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useful plan translates an expected outcome into tasks, sequence, resources, responsibilities, timing and checks. A dependency is something that must occur before another step can begin, such as receiving confirmed stock information before finalising a count.</a:t>
            </a:r>
          </a:p>
        </p:txBody>
      </p:sp>
      <p:sp>
        <p:nvSpPr>
          <p:cNvPr id="11" name="">
            <a:extLst xmlns:a="http://schemas.openxmlformats.org/drawingml/2006/main">
              <a:ext uri="{FF2B5EF4-FFF2-40B4-BE49-F238E27FC236}">
                <a16:creationId xmlns:a16="http://schemas.microsoft.com/office/drawing/2014/main" id="{7DE2A8D1-AFED-4A79-B9FD-49CB66195E57}"/>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E4D07231-7F07-4CA1-B1BA-129EB0A64129}"/>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7465D229-BBDB-4BED-A13F-A1856218D0C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2047949994"/>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C6F751-3B5B-49BD-9810-92E5B4B6E66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34AF6F58-9FE7-4CCF-98B6-C2F14939AA6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5">
            <a:extLst xmlns:a="http://schemas.openxmlformats.org/drawingml/2006/main">
              <a:ext uri="{FF2B5EF4-FFF2-40B4-BE49-F238E27FC236}">
                <a16:creationId xmlns:a16="http://schemas.microsoft.com/office/drawing/2014/main" id="{299D0DC3-F36E-4CB7-8F7B-13515A3B275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Work plans, priorities and time: decide from evidence</a:t>
            </a:r>
          </a:p>
        </p:txBody>
      </p:sp>
      <p:sp>
        <p:nvSpPr>
          <p:cNvPr id="4" name="">
            <a:extLst xmlns:a="http://schemas.openxmlformats.org/drawingml/2006/main">
              <a:ext uri="{FF2B5EF4-FFF2-40B4-BE49-F238E27FC236}">
                <a16:creationId xmlns:a16="http://schemas.microsoft.com/office/drawing/2014/main" id="{6114C8AF-FFC2-4131-887C-5ED8E1A79C34}"/>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3953B1BA-7A48-4984-8952-51900FB55EE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69DABF26-9EF7-4532-B0C6-A7D3E4E10233}"/>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AFEED59-F00B-453A-AE04-19F1EE1F5B1C}"/>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D1B6D87A-2DC2-462D-9630-832798B7D7DF}"/>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team has 70 minutes to prepare labelled storage tubs, count unopened supplies and update a stock sheet. One count depends on the supervisor confirming which delivery is current.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team schedules independent preparation first and places the uncertain count behind a hold point.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At the first checkpoint, the learner reports that confirmation is still missing.</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team records actual totals and finish times rather than copying estimates.</a:t>
            </a:r>
          </a:p>
        </p:txBody>
      </p:sp>
      <p:sp>
        <p:nvSpPr>
          <p:cNvPr id="9" name="">
            <a:extLst xmlns:a="http://schemas.openxmlformats.org/drawingml/2006/main">
              <a:ext uri="{FF2B5EF4-FFF2-40B4-BE49-F238E27FC236}">
                <a16:creationId xmlns:a16="http://schemas.microsoft.com/office/drawing/2014/main" id="{E74908A6-DD1C-43C5-933F-DA3A07949189}"/>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23A97AF-3FE1-45E5-B550-3789F996F707}"/>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6A27E5D9-ECF3-4223-B306-DF9671C9F62C}"/>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item is a dependency rather than a preference?</a:t>
            </a:r>
          </a:p>
        </p:txBody>
      </p:sp>
      <p:sp>
        <p:nvSpPr>
          <p:cNvPr id="12" name="">
            <a:extLst xmlns:a="http://schemas.openxmlformats.org/drawingml/2006/main">
              <a:ext uri="{FF2B5EF4-FFF2-40B4-BE49-F238E27FC236}">
                <a16:creationId xmlns:a16="http://schemas.microsoft.com/office/drawing/2014/main" id="{70A3BE60-9A44-4368-A13B-7D53A195307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Using the blue clipboard because it is easier to recognise.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Confirming which delivery is current before recording its stock count.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Completing two independent tidy-up tasks in a preferred order.</a:t>
            </a:r>
          </a:p>
        </p:txBody>
      </p:sp>
      <p:sp>
        <p:nvSpPr>
          <p:cNvPr id="13" name="">
            <a:extLst xmlns:a="http://schemas.openxmlformats.org/drawingml/2006/main">
              <a:ext uri="{FF2B5EF4-FFF2-40B4-BE49-F238E27FC236}">
                <a16:creationId xmlns:a16="http://schemas.microsoft.com/office/drawing/2014/main" id="{F11D6C7C-EF14-4475-BFA8-53B66866619D}"/>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Can the next step be accurate without this?</a:t>
            </a:r>
          </a:p>
        </p:txBody>
      </p:sp>
    </p:spTree>
    <p:extLst>
      <p:ext uri="{BB962C8B-B14F-4D97-AF65-F5344CB8AC3E}">
        <p14:creationId xmlns:p14="http://schemas.microsoft.com/office/powerpoint/2010/main" val="13705902"/>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13A085-11B9-47F2-9BDB-5BE2B2FF1AC5}"/>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9ABAD5E1-87D0-41E5-B3BA-A84A94FD5DF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6">
            <a:extLst xmlns:a="http://schemas.openxmlformats.org/drawingml/2006/main">
              <a:ext uri="{FF2B5EF4-FFF2-40B4-BE49-F238E27FC236}">
                <a16:creationId xmlns:a16="http://schemas.microsoft.com/office/drawing/2014/main" id="{BF731FB7-2EC0-43C2-89F7-C5B7EA178514}"/>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Workplace records and routine calculations</a:t>
            </a:r>
          </a:p>
        </p:txBody>
      </p:sp>
      <p:sp>
        <p:nvSpPr>
          <p:cNvPr id="4" name="">
            <a:extLst xmlns:a="http://schemas.openxmlformats.org/drawingml/2006/main">
              <a:ext uri="{FF2B5EF4-FFF2-40B4-BE49-F238E27FC236}">
                <a16:creationId xmlns:a16="http://schemas.microsoft.com/office/drawing/2014/main" id="{4A1AE131-64C9-4FCD-9741-67688D08FA2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B1BB44D3-4A69-4DE0-9747-D23D14AB092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D6FF0243-5F4E-4105-B09F-66CF6B7C20F6}"/>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ddf3b48506d461b">
            <a:extLst>
              <a:ext uri="{96DAC541-7B7A-43D3-8B79-37D633B846F1}">
                <asvg:svgBlip xmlns:asvg="http://schemas.microsoft.com/office/drawing/2016/SVG/main" r:embed="R6c443bd287b04493"/>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56DCBC5-1081-499B-9A7C-92C352145CD9}"/>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58057D6-F855-4E16-9525-A7D5F491F9DA}"/>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Records help the next decision</a:t>
            </a:r>
          </a:p>
          <a:p xmlns:a="http://schemas.openxmlformats.org/drawingml/2006/main">
            <a:pPr algn="l">
              <a:defRPr sz="1725" b="1">
                <a:solidFill>
                  <a:srgbClr val="123E2A"/>
                </a:solidFill>
              </a:defRPr>
            </a:pPr>
            <a:r>
              <a:rPr sz="1725" b="1">
                <a:solidFill>
                  <a:srgbClr val="123E2A"/>
                </a:solidFill>
              </a:rPr>
              <a:t>• Separate source data from calculated data</a:t>
            </a:r>
          </a:p>
        </p:txBody>
      </p:sp>
      <p:sp>
        <p:nvSpPr>
          <p:cNvPr id="10" name="">
            <a:extLst xmlns:a="http://schemas.openxmlformats.org/drawingml/2006/main">
              <a:ext uri="{FF2B5EF4-FFF2-40B4-BE49-F238E27FC236}">
                <a16:creationId xmlns:a16="http://schemas.microsoft.com/office/drawing/2014/main" id="{E9C777D8-A370-468A-BE16-AF746FCD783E}"/>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workplace record preserves information so another authorised person can understand what occurred and act on it. Source data is directly observed or taken from an authorised document, such as a fictional count of 12 intact items.</a:t>
            </a:r>
          </a:p>
        </p:txBody>
      </p:sp>
      <p:sp>
        <p:nvSpPr>
          <p:cNvPr id="11" name="">
            <a:extLst xmlns:a="http://schemas.openxmlformats.org/drawingml/2006/main">
              <a:ext uri="{FF2B5EF4-FFF2-40B4-BE49-F238E27FC236}">
                <a16:creationId xmlns:a16="http://schemas.microsoft.com/office/drawing/2014/main" id="{2880AFE4-C892-4AA7-92A1-1A843981C600}"/>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70ABC347-EB9A-4629-9483-B02DE1CDDBBF}"/>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D61D7B89-DEB7-461D-8549-A5E096DB3E2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11282628"/>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17B426-9EBC-451C-BB8B-0E30D47E526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0EF0A4C4-EC95-4997-A62E-E3F0BA38FCD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7">
            <a:extLst xmlns:a="http://schemas.openxmlformats.org/drawingml/2006/main">
              <a:ext uri="{FF2B5EF4-FFF2-40B4-BE49-F238E27FC236}">
                <a16:creationId xmlns:a16="http://schemas.microsoft.com/office/drawing/2014/main" id="{9DEB62AC-6EF2-442C-963F-A2EF6CA11FB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Workplace records and routine calculations: decide from evidence</a:t>
            </a:r>
          </a:p>
        </p:txBody>
      </p:sp>
      <p:sp>
        <p:nvSpPr>
          <p:cNvPr id="4" name="">
            <a:extLst xmlns:a="http://schemas.openxmlformats.org/drawingml/2006/main">
              <a:ext uri="{FF2B5EF4-FFF2-40B4-BE49-F238E27FC236}">
                <a16:creationId xmlns:a16="http://schemas.microsoft.com/office/drawing/2014/main" id="{D315F0F9-FCC2-48FF-A215-66DDB815465C}"/>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D3E257CA-22B4-40B6-9820-E03ECB2C359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237FEEF0-C4E6-4E91-875E-4679FE898C6B}"/>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48BE0C1-B7A6-4DA2-91DF-EE6738CAF259}"/>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12B71B71-59F2-4286-92E2-1B6972DE0EC3}"/>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count sheet lists four bins with 18, 17, 20 and 19 sealed items, while the total box says 75.</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source entries add to 74, so either a bin count or the total is wrong.</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repeats the arithmetic and checks the original bin observations rather than changing a figure to make it balance.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correction is made through the authorised process with the source check visible.</a:t>
            </a:r>
          </a:p>
        </p:txBody>
      </p:sp>
      <p:sp>
        <p:nvSpPr>
          <p:cNvPr id="9" name="">
            <a:extLst xmlns:a="http://schemas.openxmlformats.org/drawingml/2006/main">
              <a:ext uri="{FF2B5EF4-FFF2-40B4-BE49-F238E27FC236}">
                <a16:creationId xmlns:a16="http://schemas.microsoft.com/office/drawing/2014/main" id="{3359DC38-98F8-4D2C-BE7D-C3F56A3F7A86}"/>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F4BFF45-5A79-4E29-A8AF-1B8379EF28D3}"/>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BAAEAEAC-F04F-4FF6-902C-19039D24D4BB}"/>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Four fictional groups contain 12, 15, 9 and 14 items. What total should be recorded?</a:t>
            </a:r>
          </a:p>
        </p:txBody>
      </p:sp>
      <p:sp>
        <p:nvSpPr>
          <p:cNvPr id="12" name="">
            <a:extLst xmlns:a="http://schemas.openxmlformats.org/drawingml/2006/main">
              <a:ext uri="{FF2B5EF4-FFF2-40B4-BE49-F238E27FC236}">
                <a16:creationId xmlns:a16="http://schemas.microsoft.com/office/drawing/2014/main" id="{3BCEED40-0A07-4836-BC8F-246B13D3EEC0}"/>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40 items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50 items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50 groups</a:t>
            </a:r>
          </a:p>
        </p:txBody>
      </p:sp>
      <p:sp>
        <p:nvSpPr>
          <p:cNvPr id="13" name="">
            <a:extLst xmlns:a="http://schemas.openxmlformats.org/drawingml/2006/main">
              <a:ext uri="{FF2B5EF4-FFF2-40B4-BE49-F238E27FC236}">
                <a16:creationId xmlns:a16="http://schemas.microsoft.com/office/drawing/2014/main" id="{FA40F36D-4A50-4511-9FEF-8E536A7B964C}"/>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Add the four values, then write the unit beside the answer.</a:t>
            </a:r>
          </a:p>
        </p:txBody>
      </p:sp>
    </p:spTree>
    <p:extLst>
      <p:ext uri="{BB962C8B-B14F-4D97-AF65-F5344CB8AC3E}">
        <p14:creationId xmlns:p14="http://schemas.microsoft.com/office/powerpoint/2010/main" val="1493307265"/>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B021EA-69F7-42B1-A293-B01EF87A7D60}"/>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3602D861-1ED2-40FE-A0F8-9BBF5F014DD8}"/>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8">
            <a:extLst xmlns:a="http://schemas.openxmlformats.org/drawingml/2006/main">
              <a:ext uri="{FF2B5EF4-FFF2-40B4-BE49-F238E27FC236}">
                <a16:creationId xmlns:a16="http://schemas.microsoft.com/office/drawing/2014/main" id="{C7B8E0DE-5AC7-4BA9-91C3-91B4551569F6}"/>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Teamwork, feedback and workplace issues</a:t>
            </a:r>
          </a:p>
        </p:txBody>
      </p:sp>
      <p:sp>
        <p:nvSpPr>
          <p:cNvPr id="4" name="">
            <a:extLst xmlns:a="http://schemas.openxmlformats.org/drawingml/2006/main">
              <a:ext uri="{FF2B5EF4-FFF2-40B4-BE49-F238E27FC236}">
                <a16:creationId xmlns:a16="http://schemas.microsoft.com/office/drawing/2014/main" id="{F4727860-E0FE-438A-ABAA-3BDB10330DE5}"/>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73C1862A-9F58-475D-A6D1-54881EC56C7F}"/>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713FA86B-C2A5-4210-89BC-C5268C4AAA41}"/>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3022d070457498d">
            <a:extLst>
              <a:ext uri="{96DAC541-7B7A-43D3-8B79-37D633B846F1}">
                <asvg:svgBlip xmlns:asvg="http://schemas.microsoft.com/office/drawing/2016/SVG/main" r:embed="Rde4fb95714514f57"/>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81121A4-8249-4B3D-8A9E-A1DA52F31A39}"/>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7734C46-7913-4332-A90F-04C696C5CC95}"/>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Productive teams share an outcome</a:t>
            </a:r>
          </a:p>
          <a:p xmlns:a="http://schemas.openxmlformats.org/drawingml/2006/main">
            <a:pPr algn="l">
              <a:defRPr sz="1725" b="1">
                <a:solidFill>
                  <a:srgbClr val="123E2A"/>
                </a:solidFill>
              </a:defRPr>
            </a:pPr>
            <a:r>
              <a:rPr sz="1725" b="1">
                <a:solidFill>
                  <a:srgbClr val="123E2A"/>
                </a:solidFill>
              </a:rPr>
              <a:t>• Respectful communication is observable</a:t>
            </a:r>
          </a:p>
        </p:txBody>
      </p:sp>
      <p:sp>
        <p:nvSpPr>
          <p:cNvPr id="10" name="">
            <a:extLst xmlns:a="http://schemas.openxmlformats.org/drawingml/2006/main">
              <a:ext uri="{FF2B5EF4-FFF2-40B4-BE49-F238E27FC236}">
                <a16:creationId xmlns:a16="http://schemas.microsoft.com/office/drawing/2014/main" id="{13A9ACAD-AA75-420D-AF42-35AD5A26656B}"/>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team is more than people working near one another. Respect is shown by using an appropriate tone, listening without interruption, acknowledging contributions and discussing the work rather than attacking the person.</a:t>
            </a:r>
          </a:p>
        </p:txBody>
      </p:sp>
      <p:sp>
        <p:nvSpPr>
          <p:cNvPr id="11" name="">
            <a:extLst xmlns:a="http://schemas.openxmlformats.org/drawingml/2006/main">
              <a:ext uri="{FF2B5EF4-FFF2-40B4-BE49-F238E27FC236}">
                <a16:creationId xmlns:a16="http://schemas.microsoft.com/office/drawing/2014/main" id="{093C085A-77E2-4726-B1E0-8BAA47F2C0D7}"/>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AAEA2B4B-C857-48A0-A645-76037F6A41C7}"/>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8308C83C-38E6-4526-A12A-9FD36B44A7C5}"/>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449206831"/>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DABC17-6AA3-4087-B3B1-531ABBA690B0}"/>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E902371A-2435-4062-A427-84179E8BBF4D}"/>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02  •  PRIMARY INDUSTRIES</a:t>
            </a:r>
          </a:p>
        </p:txBody>
      </p:sp>
      <p:sp>
        <p:nvSpPr>
          <p:cNvPr id="3" name="title-9">
            <a:extLst xmlns:a="http://schemas.openxmlformats.org/drawingml/2006/main">
              <a:ext uri="{FF2B5EF4-FFF2-40B4-BE49-F238E27FC236}">
                <a16:creationId xmlns:a16="http://schemas.microsoft.com/office/drawing/2014/main" id="{F0A4A968-443C-4501-BD98-878124F68FB6}"/>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Teamwork, feedback and workplace issues: decide from evidence</a:t>
            </a:r>
          </a:p>
        </p:txBody>
      </p:sp>
      <p:sp>
        <p:nvSpPr>
          <p:cNvPr id="4" name="">
            <a:extLst xmlns:a="http://schemas.openxmlformats.org/drawingml/2006/main">
              <a:ext uri="{FF2B5EF4-FFF2-40B4-BE49-F238E27FC236}">
                <a16:creationId xmlns:a16="http://schemas.microsoft.com/office/drawing/2014/main" id="{9EEDFE83-F8B7-4D2F-9D67-9CEFFB11923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2</a:t>
            </a:r>
          </a:p>
        </p:txBody>
      </p:sp>
      <p:sp>
        <p:nvSpPr>
          <p:cNvPr id="5" name="">
            <a:extLst xmlns:a="http://schemas.openxmlformats.org/drawingml/2006/main">
              <a:ext uri="{FF2B5EF4-FFF2-40B4-BE49-F238E27FC236}">
                <a16:creationId xmlns:a16="http://schemas.microsoft.com/office/drawing/2014/main" id="{E6B148D3-C87D-452B-AA46-83F47492D35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8A3A3C7A-E639-476B-AC73-27F4A0DDBE53}"/>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E9CA382-1928-4962-B449-FB6DBC219DF5}"/>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3CCE695C-4B9C-48BE-9279-2C0C79353D98}"/>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produce store, Sam expects Jo to enter the final count while Jo believes Sam owns that step, so the record remains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issue is an unclear handover, not proof that either person is lazy.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Sam states the shared deadline, shows the blank field and asks to confirm responsibility.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Both confirm completion through the normal channel and note the clearer handover for next time.</a:t>
            </a:r>
          </a:p>
        </p:txBody>
      </p:sp>
      <p:sp>
        <p:nvSpPr>
          <p:cNvPr id="9" name="">
            <a:extLst xmlns:a="http://schemas.openxmlformats.org/drawingml/2006/main">
              <a:ext uri="{FF2B5EF4-FFF2-40B4-BE49-F238E27FC236}">
                <a16:creationId xmlns:a16="http://schemas.microsoft.com/office/drawing/2014/main" id="{0C5C7DBA-7422-4AD9-A7C6-B0D858DA49EF}"/>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5E74F48-1663-4654-A66A-D9188D19A8B6}"/>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C41F1585-5578-4B72-B0E6-CE9BD6533DFA}"/>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kind of workplace feedback is most useful for improving work?</a:t>
            </a:r>
          </a:p>
        </p:txBody>
      </p:sp>
      <p:sp>
        <p:nvSpPr>
          <p:cNvPr id="12" name="">
            <a:extLst xmlns:a="http://schemas.openxmlformats.org/drawingml/2006/main">
              <a:ext uri="{FF2B5EF4-FFF2-40B4-BE49-F238E27FC236}">
                <a16:creationId xmlns:a16="http://schemas.microsoft.com/office/drawing/2014/main" id="{5973D858-ED1C-40D1-98CC-EE369704A15B}"/>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You're always careless with records.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final count field was blank at handover; please complete it and ask me to verify the total before 2 pm.</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Try to do a better job next time.</a:t>
            </a:r>
          </a:p>
        </p:txBody>
      </p:sp>
      <p:sp>
        <p:nvSpPr>
          <p:cNvPr id="13" name="">
            <a:extLst xmlns:a="http://schemas.openxmlformats.org/drawingml/2006/main">
              <a:ext uri="{FF2B5EF4-FFF2-40B4-BE49-F238E27FC236}">
                <a16:creationId xmlns:a16="http://schemas.microsoft.com/office/drawing/2014/main" id="{8C951DFA-727A-402E-9CE1-54B2261FC498}"/>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Use: I observed; this affects; please do or confirm.</a:t>
            </a:r>
          </a:p>
        </p:txBody>
      </p:sp>
    </p:spTree>
    <p:extLst>
      <p:ext uri="{BB962C8B-B14F-4D97-AF65-F5344CB8AC3E}">
        <p14:creationId xmlns:p14="http://schemas.microsoft.com/office/powerpoint/2010/main" val="1485832367"/>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3143EC-770D-4C23-830D-348D01685302}"/>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205FB4A9-7C2B-4E03-ABBB-DB5E49C7B026}"/>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FAA90064-A2AD-49B5-8DA9-5E44812155C5}"/>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Roles, instructions and scope of authority</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Work plans, priorities and time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Workplace records and routine calculations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Teamwork, feedback and workplace issues</a:t>
            </a:r>
          </a:p>
        </p:txBody>
      </p:sp>
      <p:sp>
        <p:nvSpPr>
          <p:cNvPr id="4" name="">
            <a:extLst xmlns:a="http://schemas.openxmlformats.org/drawingml/2006/main">
              <a:ext uri="{FF2B5EF4-FFF2-40B4-BE49-F238E27FC236}">
                <a16:creationId xmlns:a16="http://schemas.microsoft.com/office/drawing/2014/main" id="{1A1265B7-30E7-4E44-B3F3-02A8E2F1AFCB}"/>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Rehearse a clarification handover</a:t>
            </a:r>
          </a:p>
          <a:p xmlns:a="http://schemas.openxmlformats.org/drawingml/2006/main">
            <a:pPr algn="l">
              <a:defRPr sz="1350" b="0">
                <a:solidFill>
                  <a:srgbClr val="FFFFFF"/>
                </a:solidFill>
              </a:defRPr>
            </a:pPr>
            <a:r>
              <a:rPr sz="1350" b="0">
                <a:solidFill>
                  <a:srgbClr val="FFFFFF"/>
                </a:solidFill>
              </a:rPr>
              <a:t>Use a fictional teacher-provided instruction.</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Plan a fictional 70-minute job</a:t>
            </a:r>
          </a:p>
          <a:p xmlns:a="http://schemas.openxmlformats.org/drawingml/2006/main">
            <a:pPr algn="l">
              <a:defRPr sz="1350" b="0">
                <a:solidFill>
                  <a:srgbClr val="FFFFFF"/>
                </a:solidFill>
              </a:defRPr>
            </a:pPr>
            <a:r>
              <a:rPr sz="1350" b="0">
                <a:solidFill>
                  <a:srgbClr val="FFFFFF"/>
                </a:solidFill>
              </a:rPr>
              <a:t>Turn a teacher-provided routine work brief into a one-page plan with tasks, time windows, roles and hold points.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work record</a:t>
            </a:r>
          </a:p>
          <a:p xmlns:a="http://schemas.openxmlformats.org/drawingml/2006/main">
            <a:pPr algn="l">
              <a:defRPr sz="1350" b="0">
                <a:solidFill>
                  <a:srgbClr val="FFFFFF"/>
                </a:solidFill>
              </a:defRPr>
            </a:pPr>
            <a:r>
              <a:rPr sz="1350" b="0">
                <a:solidFill>
                  <a:srgbClr val="FFFFFF"/>
                </a:solidFill>
              </a:rPr>
              <a:t>Check a teacher-provided fictional record for one arithmetic error, one unit error and one unclear comment.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Run a fictional handover huddle</a:t>
            </a:r>
          </a:p>
          <a:p xmlns:a="http://schemas.openxmlformats.org/drawingml/2006/main">
            <a:pPr algn="l">
              <a:defRPr sz="1350" b="0">
                <a:solidFill>
                  <a:srgbClr val="FFFFFF"/>
                </a:solidFill>
              </a:defRPr>
            </a:pPr>
            <a:r>
              <a:rPr sz="1350" b="0">
                <a:solidFill>
                  <a:srgbClr val="FFFFFF"/>
                </a:solidFill>
              </a:rPr>
              <a:t>In a small group, use fictional roles to identify one handover gap, give evidence-based feedback and record an action, owner, timing and check.</a:t>
            </a:r>
          </a:p>
        </p:txBody>
      </p:sp>
      <p:sp>
        <p:nvSpPr>
          <p:cNvPr id="5" name="">
            <a:extLst xmlns:a="http://schemas.openxmlformats.org/drawingml/2006/main">
              <a:ext uri="{FF2B5EF4-FFF2-40B4-BE49-F238E27FC236}">
                <a16:creationId xmlns:a16="http://schemas.microsoft.com/office/drawing/2014/main" id="{9683B45E-0408-4A46-82FE-6B960E7A2E2F}"/>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CE4F9E4C-2CE2-4FEF-BB19-9179F46D1C0F}"/>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770519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2026-08-21T10:03:23.6250000Z</dcterms:created>
  <dcterms:modified xsi:type="dcterms:W3CDTF">2026-08-21T10:03:23.6250000Z</dcterms:modified>
</coreProperties>
</file>