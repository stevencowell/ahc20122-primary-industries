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a5b603c71e47c2" /><Relationship Type="http://schemas.openxmlformats.org/officeDocument/2006/relationships/extended-properties" Target="/docProps/app.xml" Id="R9f8db68548b14fce" /><Relationship Type="http://schemas.openxmlformats.org/officeDocument/2006/relationships/officeDocument" Target="/ppt/presentation.xml" Id="R02311b6add0144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f86f4863b748c6"/>
  </p:sldMasterIdLst>
  <p:notesMasterIdLst>
    <p:notesMasterId xmlns:r="http://schemas.openxmlformats.org/officeDocument/2006/relationships" r:id="Ra8a3e0ae260c4e2b"/>
  </p:notesMasterIdLst>
  <p:sldIdLst>
    <p:sldId xmlns:r="http://schemas.openxmlformats.org/officeDocument/2006/relationships" id="256" r:id="Rb3e9e9ec0cc64fe6"/>
    <p:sldId xmlns:r="http://schemas.openxmlformats.org/officeDocument/2006/relationships" id="257" r:id="R578b6b07da1f4f53"/>
    <p:sldId xmlns:r="http://schemas.openxmlformats.org/officeDocument/2006/relationships" id="258" r:id="R7459da221a7549a7"/>
    <p:sldId xmlns:r="http://schemas.openxmlformats.org/officeDocument/2006/relationships" id="259" r:id="R68b35b9dd9554e1d"/>
    <p:sldId xmlns:r="http://schemas.openxmlformats.org/officeDocument/2006/relationships" id="260" r:id="Rbe82f9429c234016"/>
    <p:sldId xmlns:r="http://schemas.openxmlformats.org/officeDocument/2006/relationships" id="261" r:id="Rbf62fd9c292843db"/>
    <p:sldId xmlns:r="http://schemas.openxmlformats.org/officeDocument/2006/relationships" id="262" r:id="R1f1e07d6c2ce4211"/>
    <p:sldId xmlns:r="http://schemas.openxmlformats.org/officeDocument/2006/relationships" id="263" r:id="Rbb2254a8f3c54784"/>
    <p:sldId xmlns:r="http://schemas.openxmlformats.org/officeDocument/2006/relationships" id="264" r:id="R66e692a9b60e49d8"/>
    <p:sldId xmlns:r="http://schemas.openxmlformats.org/officeDocument/2006/relationships" id="265" r:id="R7673d703b0924a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4a63ed3a09472b" /><Relationship Type="http://schemas.openxmlformats.org/officeDocument/2006/relationships/slideMaster" Target="/ppt/slideMasters/slideMaster1.xml" Id="R6ff86f4863b748c6" /><Relationship Type="http://schemas.openxmlformats.org/officeDocument/2006/relationships/notesMaster" Target="/ppt/notesMasters/notesMaster1.xml" Id="Ra8a3e0ae260c4e2b" /><Relationship Type="http://schemas.openxmlformats.org/officeDocument/2006/relationships/presProps" Target="/ppt/presProps.xml" Id="R93860583e6f84156" /><Relationship Type="http://schemas.openxmlformats.org/officeDocument/2006/relationships/tableStyles" Target="/ppt/tableStyles.xml" Id="R79d665e9d578462c" /><Relationship Type="http://schemas.openxmlformats.org/officeDocument/2006/relationships/slide" Target="/ppt/slides/slide1.xml" Id="Rb3e9e9ec0cc64fe6" /><Relationship Type="http://schemas.openxmlformats.org/officeDocument/2006/relationships/slide" Target="/ppt/slides/slide2.xml" Id="R578b6b07da1f4f53" /><Relationship Type="http://schemas.openxmlformats.org/officeDocument/2006/relationships/slide" Target="/ppt/slides/slide3.xml" Id="R7459da221a7549a7" /><Relationship Type="http://schemas.openxmlformats.org/officeDocument/2006/relationships/slide" Target="/ppt/slides/slide4.xml" Id="R68b35b9dd9554e1d" /><Relationship Type="http://schemas.openxmlformats.org/officeDocument/2006/relationships/slide" Target="/ppt/slides/slide5.xml" Id="Rbe82f9429c234016" /><Relationship Type="http://schemas.openxmlformats.org/officeDocument/2006/relationships/slide" Target="/ppt/slides/slide6.xml" Id="Rbf62fd9c292843db" /><Relationship Type="http://schemas.openxmlformats.org/officeDocument/2006/relationships/slide" Target="/ppt/slides/slide7.xml" Id="R1f1e07d6c2ce4211" /><Relationship Type="http://schemas.openxmlformats.org/officeDocument/2006/relationships/slide" Target="/ppt/slides/slide8.xml" Id="Rbb2254a8f3c54784" /><Relationship Type="http://schemas.openxmlformats.org/officeDocument/2006/relationships/slide" Target="/ppt/slides/slide9.xml" Id="R66e692a9b60e49d8" /><Relationship Type="http://schemas.openxmlformats.org/officeDocument/2006/relationships/slide" Target="/ppt/slides/slide10.xml" Id="R7673d703b0924a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813a9f0a274f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55e798e1f44852" /><Relationship Type="http://schemas.openxmlformats.org/officeDocument/2006/relationships/notesMaster" Target="/ppt/notesMasters/notesMaster1.xml" Id="R7e494260418840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d15f42912445b4" /><Relationship Type="http://schemas.openxmlformats.org/officeDocument/2006/relationships/notesMaster" Target="/ppt/notesMasters/notesMaster1.xml" Id="R0ed4f059654449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729c0fd00548ba" /><Relationship Type="http://schemas.openxmlformats.org/officeDocument/2006/relationships/notesMaster" Target="/ppt/notesMasters/notesMaster1.xml" Id="Ra8a6bd8743454d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0819e299c14a48" /><Relationship Type="http://schemas.openxmlformats.org/officeDocument/2006/relationships/notesMaster" Target="/ppt/notesMasters/notesMaster1.xml" Id="R0c6a6b1c98ef48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13952a7eb34124" /><Relationship Type="http://schemas.openxmlformats.org/officeDocument/2006/relationships/notesMaster" Target="/ppt/notesMasters/notesMaster1.xml" Id="R08560255d09241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e76d2d329c4d16" /><Relationship Type="http://schemas.openxmlformats.org/officeDocument/2006/relationships/notesMaster" Target="/ppt/notesMasters/notesMaster1.xml" Id="R00698cef7d7741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d93ab382f54b4a" /><Relationship Type="http://schemas.openxmlformats.org/officeDocument/2006/relationships/notesMaster" Target="/ppt/notesMasters/notesMaster1.xml" Id="R8a923c40e4ec4a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79d5131f084d39" /><Relationship Type="http://schemas.openxmlformats.org/officeDocument/2006/relationships/notesMaster" Target="/ppt/notesMasters/notesMaster1.xml" Id="Re3e91899f2384b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b83f6147314dcb" /><Relationship Type="http://schemas.openxmlformats.org/officeDocument/2006/relationships/notesMaster" Target="/ppt/notesMasters/notesMaster1.xml" Id="R7c890ce2bede4e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3a821b2b4d4ec4" /><Relationship Type="http://schemas.openxmlformats.org/officeDocument/2006/relationships/notesMaster" Target="/ppt/notesMasters/notesMaster1.xml" Id="R3279549227e04c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the task purpose to the four-module route. Ask students which module most clearly prepares them to notice evidence, make a source-led decision and report through authority.</a:t>
            </a:r>
          </a:p>
          <a:p xmlns:a="http://schemas.openxmlformats.org/drawingml/2006/main">
            <a:r>
              <a:t>Boundary: Supplementary learning is grounded in AHCINF206 Release 1 and controlled student-package titles recorded in the source manifest. The site teaches fictional brief and specification reading, resource-list checking, hazard and authority planning, observable quality reasoning, inspection records and handover only. Site services, practical resources, plant, stored-energy work, construction, repair and acceptance criteria require the current authorised plan, local procedures, manufacturer information, teacher demonstration and direct supervision.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Supplementary learning is grounded in AHCINF206 Release 1 and controlled student-package titles recorded in the source manifest. The site teaches fictional brief and specification reading, resource-list checking, hazard and authority planning, observable quality reasoning, inspection records and handover only. Site services, practical resources, plant, stored-energy work, construction, repair and acceptance criteria require the current authorised plan, local procedures, manufacturer information, teacher demonstration and direct supervision. Site responses are formative and do not demonstrate competency.</a:t>
            </a:r>
          </a:p>
          <a:p xmlns:a="http://schemas.openxmlformats.org/drawingml/2006/main">
            <a:r>
              <a:t>- Course hero: Generated for this course using OpenAI ImageGen on 21 August 2026.</a:t>
            </a:r>
          </a:p>
          <a:p xmlns:a="http://schemas.openxmlformats.org/drawingml/2006/main">
            <a:r>
              <a:t>- Course data: work/pi/site-data/course.json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(theory and visual): Use the module visual and the fictional worked example to move students from observation to a source-led decision. Ask students to name the evidence, the authority gap and the next safe communication step.</a:t>
            </a:r>
          </a:p>
          <a:p xmlns:a="http://schemas.openxmlformats.org/drawingml/2006/main">
            <a:r>
              <a:t>Misconception and help: When drawings disagree, identify both versions and refer the design decision. Plan identity and currency come before site action.</a:t>
            </a:r>
          </a:p>
          <a:p xmlns:a="http://schemas.openxmlformats.org/drawingml/2006/main">
            <a:r>
              <a:t>Applied action: Mark up a fictional fencing brief. Annotate the supplied privacy-safe brief and drawing with source identity, dimension totals, material categories, constraints and supervisor questions. Do not produce a method or alter the design.</a:t>
            </a:r>
          </a:p>
          <a:p xmlns:a="http://schemas.openxmlformats.org/drawingml/2006/main">
            <a:r>
              <a:t>Boundary: Supplementary learning is grounded in AHCINF206 Release 1 and controlled student-package titles recorded in the source manifest. The site teaches fictional brief and specification reading, resource-list checking, hazard and authority planning, observable quality reasoning, inspection records and handover only. Site services, practical resources, plant, stored-energy work, construction, repair and acceptance criteria require the current authorised plan, local procedures, manufacturer information, teacher demonstration and direct supervision.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basis: AHCINF206 Release 1 requirements to confirm work instructions and prepare for supervised fencing work. The current local plan, site verification, student package and teacher direction control every real design and practical decision.</a:t>
            </a:r>
          </a:p>
          <a:p xmlns:a="http://schemas.openxmlformats.org/drawingml/2006/main">
            <a:r>
              <a:t>- Visual visual-task-12-01: Generated locally from accepted Stage 05 module headings; no external image copied.</a:t>
            </a:r>
          </a:p>
          <a:p xmlns:a="http://schemas.openxmlformats.org/drawingml/2006/main">
            <a:r>
              <a:t>- Course visual manifest: work/pi/visuals/visual-manifest.json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(worked example and formative check): Use the module visual and the fictional worked example to move students from observation to a source-led decision. Ask students to name the evidence, the authority gap and the next safe communication step.
Misconception and help: When drawings disagree, identify both versions and refer the design decision. Plan identity and currency come before site action.
Applied action: Mark up a fictional fencing brief. Annotate the supplied privacy-safe brief and drawing with source identity, dimension totals, material categories, constraints and supervisor questions. Do not produce a method or alter the design.
Boundary: Supplementary learning is grounded in AHCINF206 Release 1 and controlled student-package titles recorded in the source manifest. The site teaches fictional brief and specification reading, resource-list checking, hazard and authority planning, observable quality reasoning, inspection records and handover only. Site services, practical resources, plant, stored-energy work, construction, repair and acceptance criteria require the current authorised plan, local procedures, manufacturer information, teacher demonstration and direct supervision. Site responses are formative and do not demonstrate competency.
[Sources]
- Source basis: AHCINF206 Release 1 requirements to confirm work instructions and prepare for supervised fencing work. The current local plan, site verification, student package and teacher direction control every real design and practical decision.
- Visual visual-task-12-01: Generated locally from accepted Stage 05 module headings; no external image copied.
- Course visual manifest: work/pi/visuals/visual-manifest.json</a:t>
            </a:r>
          </a:p>
          <a:p xmlns:a="http://schemas.openxmlformats.org/drawingml/2006/main">
            <a:r>
              <a:t>Formative check answer: Record the conflict and ask the supervisor which identified plan is current.</a:t>
            </a:r>
          </a:p>
          <a:p xmlns:a="http://schemas.openxmlformats.org/drawingml/2006/main">
            <a:r>
              <a:t>Correct feedback: You used document control rather than convenience to resolve the conflict.</a:t>
            </a:r>
          </a:p>
          <a:p xmlns:a="http://schemas.openxmlformats.org/drawingml/2006/main">
            <a:r>
              <a:t>Corrective feedback: When drawings disagree, identify both versions and refer the design decision.</a:t>
            </a:r>
          </a:p>
          <a:p xmlns:a="http://schemas.openxmlformats.org/drawingml/2006/main">
            <a:r>
              <a:t>Full contextual example: Observed evidence: A fictional brief dated 7 August 2027 states an overall fence line of 230 m, while the current sketch lists segments of 80 m, 75 m and 70 m, totalling 225 m. A second undated sketch shows a different gate position. Decision and reason: Lewis cannot decide which dimension or gate position is intended because the document set conflicts. Safe action: He preserves both sketches, shows the 5 m difference and asks the supervisor to confirm the current plan. Result: The supervisor withdraws the undated sketch and issues a corrected authorised drawing. Next check or record: Lewis records the drawing identifier, confirmed overall length and unresolved site-verification hold point without creating a construction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(theory and visual): Use the module visual and the fictional worked example to move students from observation to a source-led decision. Ask students to name the evidence, the authority gap and the next safe communication step.</a:t>
            </a:r>
          </a:p>
          <a:p xmlns:a="http://schemas.openxmlformats.org/drawingml/2006/main">
            <a:r>
              <a:t>Misconception and help: Record conflict and prevent the plan relying on an unverified resource. Unknown status is not ready status.</a:t>
            </a:r>
          </a:p>
          <a:p xmlns:a="http://schemas.openxmlformats.org/drawingml/2006/main">
            <a:r>
              <a:t>Applied action: Audit a fictional resource-and-risk board. Match supplied identifiers to the brief, mark status conflicts, place hazard-category cards beside planning stages and draft the supervisor questions. Do not inspect or direct practical resources.</a:t>
            </a:r>
          </a:p>
          <a:p xmlns:a="http://schemas.openxmlformats.org/drawingml/2006/main">
            <a:r>
              <a:t>Boundary: Supplementary learning is grounded in AHCINF206 Release 1 and controlled student-package titles recorded in the source manifest. The site teaches fictional brief and specification reading, resource-list checking, hazard and authority planning, observable quality reasoning, inspection records and handover only. Site services, practical resources, plant, stored-energy work, construction, repair and acceptance criteria require the current authorised plan, local procedures, manufacturer information, teacher demonstration and direct supervision.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basis: AHCINF206 Release 1 preparation, hazard reporting, resource and faulty-item concepts. The current local risk process, manufacturer information, practical demonstration and supervisor control every real resource and work decision.</a:t>
            </a:r>
          </a:p>
          <a:p xmlns:a="http://schemas.openxmlformats.org/drawingml/2006/main">
            <a:r>
              <a:t>- Visual visual-task-12-02: Generated locally from accepted Stage 05 module headings; no external image copied.</a:t>
            </a:r>
          </a:p>
          <a:p xmlns:a="http://schemas.openxmlformats.org/drawingml/2006/main">
            <a:r>
              <a:t>- Course visual manifest: work/pi/visuals/visual-manifest.json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(worked example and formative check): Use the module visual and the fictional worked example to move students from observation to a source-led decision. Ask students to name the evidence, the authority gap and the next safe communication step.
Misconception and help: Record conflict and prevent the plan relying on an unverified resource. Unknown status is not ready status.
Applied action: Audit a fictional resource-and-risk board. Match supplied identifiers to the brief, mark status conflicts, place hazard-category cards beside planning stages and draft the supervisor questions. Do not inspect or direct practical resources.
Boundary: Supplementary learning is grounded in AHCINF206 Release 1 and controlled student-package titles recorded in the source manifest. The site teaches fictional brief and specification reading, resource-list checking, hazard and authority planning, observable quality reasoning, inspection records and handover only. Site services, practical resources, plant, stored-energy work, construction, repair and acceptance criteria require the current authorised plan, local procedures, manufacturer information, teacher demonstration and direct supervision. Site responses are formative and do not demonstrate competency.
[Sources]
- Source basis: AHCINF206 Release 1 preparation, hazard reporting, resource and faulty-item concepts. The current local risk process, manufacturer information, practical demonstration and supervisor control every real resource and work decision.
- Visual visual-task-12-02: Generated locally from accepted Stage 05 module headings; no external image copied.
- Course visual manifest: work/pi/visuals/visual-manifest.json</a:t>
            </a:r>
          </a:p>
          <a:p xmlns:a="http://schemas.openxmlformats.org/drawingml/2006/main">
            <a:r>
              <a:t>Formative check answer: Mark it unavailable, preserve both entries and refer the conflict.</a:t>
            </a:r>
          </a:p>
          <a:p xmlns:a="http://schemas.openxmlformats.org/drawingml/2006/main">
            <a:r>
              <a:t>Correct feedback: You treated conflicting status as a genuine hold point.</a:t>
            </a:r>
          </a:p>
          <a:p xmlns:a="http://schemas.openxmlformats.org/drawingml/2006/main">
            <a:r>
              <a:t>Corrective feedback: Record conflict and prevent the plan relying on an unverified resource.</a:t>
            </a:r>
          </a:p>
          <a:p xmlns:a="http://schemas.openxmlformats.org/drawingml/2006/main">
            <a:r>
              <a:t>Full contextual example: Observed evidence: A fictional resource schedule dated 11 August 2027 lists twelve material bundles and five equipment identifiers. Identifier EQ-04 appears as verified on the issue list but status unknown on the current condition register. Decision and reason: Taylor does not resolve the conflict by looking at the item or substituting EQ-05, because suitability and substitution remain authorised decisions. Safe action: Taylor marks EQ-04 unavailable for planning and reports both record entries to the supervisor. Result: The supervisor corrects the issue list and revises the fictional schedule. Next check or record: Taylor records the confirmed status and updated document version without providing equipment-check or use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(theory and visual): Use the module visual and the fictional worked example to move students from observation to a source-led decision. Ask students to name the evidence, the authority gap and the next safe communication step.</a:t>
            </a:r>
          </a:p>
          <a:p xmlns:a="http://schemas.openxmlformats.org/drawingml/2006/main">
            <a:r>
              <a:t>Misconception and help: Identify the earliest stage where the unresolved fact would be relied on. Stop before commitment, not after.</a:t>
            </a:r>
          </a:p>
          <a:p xmlns:a="http://schemas.openxmlformats.org/drawingml/2006/main">
            <a:r>
              <a:t>Applied action: Arrange a fencing decision sequence. Order teacher-supplied decision cards from brief to close-out, insert hold points and attach each quality check to its source. Exclude all practical-method cards.</a:t>
            </a:r>
          </a:p>
          <a:p xmlns:a="http://schemas.openxmlformats.org/drawingml/2006/main">
            <a:r>
              <a:t>Boundary: Supplementary learning is grounded in AHCINF206 Release 1 and controlled student-package titles recorded in the source manifest. The site teaches fictional brief and specification reading, resource-list checking, hazard and authority planning, observable quality reasoning, inspection records and handover only. Site services, practical resources, plant, stored-energy work, construction, repair and acceptance criteria require the current authorised plan, local procedures, manufacturer information, teacher demonstration and direct supervision.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basis: AHCINF206 Release 1 work-instruction, reporting and work-outcome concepts. The authorised plan, local procedures, supervised demonstration and assessor-controlled requirements define every practical stage and acceptance decision.</a:t>
            </a:r>
          </a:p>
          <a:p xmlns:a="http://schemas.openxmlformats.org/drawingml/2006/main">
            <a:r>
              <a:t>- Visual visual-task-12-03: Generated locally from accepted Stage 05 module headings; no external image copied.</a:t>
            </a:r>
          </a:p>
          <a:p xmlns:a="http://schemas.openxmlformats.org/drawingml/2006/main">
            <a:r>
              <a:t>- Course visual manifest: work/pi/visuals/visual-manifest.json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(worked example and formative check): Use the module visual and the fictional worked example to move students from observation to a source-led decision. Ask students to name the evidence, the authority gap and the next safe communication step.
Misconception and help: Identify the earliest stage where the unresolved fact would be relied on. Stop before commitment, not after.
Applied action: Arrange a fencing decision sequence. Order teacher-supplied decision cards from brief to close-out, insert hold points and attach each quality check to its source. Exclude all practical-method cards.
Boundary: Supplementary learning is grounded in AHCINF206 Release 1 and controlled student-package titles recorded in the source manifest. The site teaches fictional brief and specification reading, resource-list checking, hazard and authority planning, observable quality reasoning, inspection records and handover only. Site services, practical resources, plant, stored-energy work, construction, repair and acceptance criteria require the current authorised plan, local procedures, manufacturer information, teacher demonstration and direct supervision. Site responses are formative and do not demonstrate competency.
[Sources]
- Source basis: AHCINF206 Release 1 work-instruction, reporting and work-outcome concepts. The authorised plan, local procedures, supervised demonstration and assessor-controlled requirements define every practical stage and acceptance decision.
- Visual visual-task-12-03: Generated locally from accepted Stage 05 module headings; no external image copied.
- Course visual manifest: work/pi/visuals/visual-manifest.json</a:t>
            </a:r>
          </a:p>
          <a:p xmlns:a="http://schemas.openxmlformats.org/drawingml/2006/main">
            <a:r>
              <a:t>Formative check answer: Before work relies on an unresolved source, site condition or specification decision.</a:t>
            </a:r>
          </a:p>
          <a:p xmlns:a="http://schemas.openxmlformats.org/drawingml/2006/main">
            <a:r>
              <a:t>Correct feedback: You placed the decision gate before the uncertainty affects the work.</a:t>
            </a:r>
          </a:p>
          <a:p xmlns:a="http://schemas.openxmlformats.org/drawingml/2006/main">
            <a:r>
              <a:t>Corrective feedback: Identify the earliest stage where the unresolved fact would be relied on.</a:t>
            </a:r>
          </a:p>
          <a:p xmlns:a="http://schemas.openxmlformats.org/drawingml/2006/main">
            <a:r>
              <a:t>Full contextual example: Observed evidence: In a fictional planning rehearsal dated 15 August 2027, the current drawing places a corner reference at Point C, but the supplied site photograph shows a newly marked protected zone overlapping that point. Decision and reason: Ava does not move Point C or write a new sequence because the design and site authority must be reviewed together. Safe action: She marks a hold point before practical work and reports the drawing reference, photograph date and overlap. Result: The supervisor issues a revised fictional drawing and communicates the new identifier to the team. Next check or record: Ava checks that every planning card names the revised drawing before sequencing later quality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(theory and visual): Use the module visual and the fictional worked example to move students from observation to a source-led decision. Ask students to name the evidence, the authority gap and the next safe communication step.</a:t>
            </a:r>
          </a:p>
          <a:p xmlns:a="http://schemas.openxmlformats.org/drawingml/2006/main">
            <a:r>
              <a:t>Misconception and help: Add segment, observable condition, comparison source and review owner. Where, what seen, compared with what, who reviews.</a:t>
            </a:r>
          </a:p>
          <a:p xmlns:a="http://schemas.openxmlformats.org/drawingml/2006/main">
            <a:r>
              <a:t>Applied action: Write a fictional condition handover. Review supplied privacy-safe images and plan extract. Complete observation, source comparison, evidence-limit and handover fields. Do not propose a repair technique or enter a real fence area.</a:t>
            </a:r>
          </a:p>
          <a:p xmlns:a="http://schemas.openxmlformats.org/drawingml/2006/main">
            <a:r>
              <a:t>Boundary: Supplementary learning is grounded in AHCINF206 Release 1 and controlled student-package titles recorded in the source manifest. The site teaches fictional brief and specification reading, resource-list checking, hazard and authority planning, observable quality reasoning, inspection records and handover only. Site services, practical resources, plant, stored-energy work, construction, repair and acceptance criteria require the current authorised plan, local procedures, manufacturer information, teacher demonstration and direct supervision.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basis: AHCINF206 Release 1 fault, maintenance, completion and reporting concepts. Current local access, inspection, repair, close-out and acceptance processes remain controlled by the authorised plan, teacher and workplace.</a:t>
            </a:r>
          </a:p>
          <a:p xmlns:a="http://schemas.openxmlformats.org/drawingml/2006/main">
            <a:r>
              <a:t>- Visual visual-task-12-04: Generated locally from accepted Stage 05 module headings; no external image copied.</a:t>
            </a:r>
          </a:p>
          <a:p xmlns:a="http://schemas.openxmlformats.org/drawingml/2006/main">
            <a:r>
              <a:t>- Course visual manifest: work/pi/visuals/visual-manifest.json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move (worked example and formative check): Use the module visual and the fictional worked example to move students from observation to a source-led decision. Ask students to name the evidence, the authority gap and the next safe communication step.
Misconception and help: Add segment, observable condition, comparison source and review owner. Where, what seen, compared with what, who reviews.
Applied action: Write a fictional condition handover. Review supplied privacy-safe images and plan extract. Complete observation, source comparison, evidence-limit and handover fields. Do not propose a repair technique or enter a real fence area.
Boundary: Supplementary learning is grounded in AHCINF206 Release 1 and controlled student-package titles recorded in the source manifest. The site teaches fictional brief and specification reading, resource-list checking, hazard and authority planning, observable quality reasoning, inspection records and handover only. Site services, practical resources, plant, stored-energy work, construction, repair and acceptance criteria require the current authorised plan, local procedures, manufacturer information, teacher demonstration and direct supervision. Site responses are formative and do not demonstrate competency.
[Sources]
- Source basis: AHCINF206 Release 1 fault, maintenance, completion and reporting concepts. Current local access, inspection, repair, close-out and acceptance processes remain controlled by the authorised plan, teacher and workplace.
- Visual visual-task-12-04: Generated locally from accepted Stage 05 module headings; no external image copied.
- Course visual manifest: work/pi/visuals/visual-manifest.json</a:t>
            </a:r>
          </a:p>
          <a:p xmlns:a="http://schemas.openxmlformats.org/drawingml/2006/main">
            <a:r>
              <a:t>Formative check answer: Segment F-03 appears misaligned relative to drawing reference D-07 in image IMG-14; supervisor review required.</a:t>
            </a:r>
          </a:p>
          <a:p xmlns:a="http://schemas.openxmlformats.org/drawingml/2006/main">
            <a:r>
              <a:t>Correct feedback: You selected a traceable observation without unsupported diagnosis.</a:t>
            </a:r>
          </a:p>
          <a:p xmlns:a="http://schemas.openxmlformats.org/drawingml/2006/main">
            <a:r>
              <a:t>Corrective feedback: Add segment, observable condition, comparison source and review owner.</a:t>
            </a:r>
          </a:p>
          <a:p xmlns:a="http://schemas.openxmlformats.org/drawingml/2006/main">
            <a:r>
              <a:t>Full contextual example: Observed evidence: On 21 August 2027, a fictional inspection image set shows Segment F-03 with one support leaning relative to the plan reference and a gate identifier that cannot be read. No close access or physical check is authorised. Decision and reason: Omar records two observable issues but does not diagnose structural cause or prescribe repair. Safe action: He marks F-03 for supervisor review, gives the image identifiers and notes that asset identity remains uncertain. Result: The supervisor applies the local access and inspection process and confirms the correct segment record. Next check or record: Omar updates the report with confirmed identity, current status and next authorised owner, leaving the repair field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one retrieval question from each module, then direct students to the teacher-nominated learning action. Re-state that site work is formative and that current workplace and RTO processes control real practice and assessment.</a:t>
            </a:r>
          </a:p>
          <a:p xmlns:a="http://schemas.openxmlformats.org/drawingml/2006/main">
            <a:r>
              <a:t>Boundary: Supplementary learning is grounded in AHCINF206 Release 1 and controlled student-package titles recorded in the source manifest. The site teaches fictional brief and specification reading, resource-list checking, hazard and authority planning, observable quality reasoning, inspection records and handover only. Site services, practical resources, plant, stored-energy work, construction, repair and acceptance criteria require the current authorised plan, local procedures, manufacturer information, teacher demonstration and direct supervision. Site responses are formative and do not demonstrate competency.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basis: AHCINF206 Release 1 requirements to confirm work instructions and prepare for supervised fencing work. The current local plan, site verification, student package and teacher direction control every real design and practical decision.</a:t>
            </a:r>
          </a:p>
          <a:p xmlns:a="http://schemas.openxmlformats.org/drawingml/2006/main">
            <a:r>
              <a:t>- Source basis: AHCINF206 Release 1 preparation, hazard reporting, resource and faulty-item concepts. The current local risk process, manufacturer information, practical demonstration and supervisor control every real resource and work decision.</a:t>
            </a:r>
          </a:p>
          <a:p xmlns:a="http://schemas.openxmlformats.org/drawingml/2006/main">
            <a:r>
              <a:t>- Source basis: AHCINF206 Release 1 work-instruction, reporting and work-outcome concepts. The authorised plan, local procedures, supervised demonstration and assessor-controlled requirements define every practical stage and acceptance decision.</a:t>
            </a:r>
          </a:p>
          <a:p xmlns:a="http://schemas.openxmlformats.org/drawingml/2006/main">
            <a:r>
              <a:t>- Source basis: AHCINF206 Release 1 fault, maintenance, completion and reporting concepts. Current local access, inspection, repair, close-out and acceptance processes remain controlled by the authorised plan, teacher and workplace.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dccaa14714a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cae09d58fa495c" /><Relationship Type="http://schemas.openxmlformats.org/officeDocument/2006/relationships/slideLayout" Target="/ppt/slideLayouts/slideLayout1.xml" Id="Re0a5e3cfb8954f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a5e3cfb8954f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49f8fd66d4bea" /><Relationship Type="http://schemas.openxmlformats.org/officeDocument/2006/relationships/image" Target="/ppt/media/image.png" Id="Re21b08ffa58044e6" /><Relationship Type="http://schemas.openxmlformats.org/officeDocument/2006/relationships/notesSlide" Target="/ppt/notesSlides/notesSlide1.xml" Id="R0673f6276a4b40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2ef2eaf0a41a3" /><Relationship Type="http://schemas.openxmlformats.org/officeDocument/2006/relationships/image" Target="/ppt/media/image2.png" Id="R7043e8db1f514108" /><Relationship Type="http://schemas.openxmlformats.org/officeDocument/2006/relationships/image" Target="/ppt/media/image.svg" Id="Rc2c92480726144bc" /><Relationship Type="http://schemas.openxmlformats.org/officeDocument/2006/relationships/notesSlide" Target="/ppt/notesSlides/notesSlide2.xml" Id="R0d27ecf8305840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3213914624a8a" /><Relationship Type="http://schemas.openxmlformats.org/officeDocument/2006/relationships/notesSlide" Target="/ppt/notesSlides/notesSlide3.xml" Id="R2bdf19e1932f40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273c98ff44fb5" /><Relationship Type="http://schemas.openxmlformats.org/officeDocument/2006/relationships/image" Target="/ppt/media/image3.png" Id="Rb076dd680a3d487d" /><Relationship Type="http://schemas.openxmlformats.org/officeDocument/2006/relationships/image" Target="/ppt/media/image2.svg" Id="Rb38604f6f2c24222" /><Relationship Type="http://schemas.openxmlformats.org/officeDocument/2006/relationships/notesSlide" Target="/ppt/notesSlides/notesSlide4.xml" Id="R069cb815ec0949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d8a10ba524af2" /><Relationship Type="http://schemas.openxmlformats.org/officeDocument/2006/relationships/notesSlide" Target="/ppt/notesSlides/notesSlide5.xml" Id="Rcf848e4dba7d47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04ce29adc4906" /><Relationship Type="http://schemas.openxmlformats.org/officeDocument/2006/relationships/image" Target="/ppt/media/image4.png" Id="R684937595aa14a51" /><Relationship Type="http://schemas.openxmlformats.org/officeDocument/2006/relationships/image" Target="/ppt/media/image3.svg" Id="Rfe03cdd7bf87478b" /><Relationship Type="http://schemas.openxmlformats.org/officeDocument/2006/relationships/notesSlide" Target="/ppt/notesSlides/notesSlide6.xml" Id="Rab80e426f6644a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a7b5b29dc4492" /><Relationship Type="http://schemas.openxmlformats.org/officeDocument/2006/relationships/notesSlide" Target="/ppt/notesSlides/notesSlide7.xml" Id="R37bb49669cb44f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ea1b46394408d" /><Relationship Type="http://schemas.openxmlformats.org/officeDocument/2006/relationships/image" Target="/ppt/media/image5.png" Id="R8f199769d8804a8f" /><Relationship Type="http://schemas.openxmlformats.org/officeDocument/2006/relationships/image" Target="/ppt/media/image4.svg" Id="R05f3c44221e348aa" /><Relationship Type="http://schemas.openxmlformats.org/officeDocument/2006/relationships/notesSlide" Target="/ppt/notesSlides/notesSlide8.xml" Id="Rdabd8d660c9745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52b3bb53745ee" /><Relationship Type="http://schemas.openxmlformats.org/officeDocument/2006/relationships/notesSlide" Target="/ppt/notesSlides/notesSlide9.xml" Id="R6b6d42f9cb7644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c4a4e10774328" /><Relationship Type="http://schemas.openxmlformats.org/officeDocument/2006/relationships/notesSlide" Target="/ppt/notesSlides/notesSlide10.xml" Id="Rb66a1c3c17ed4e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b08ffa58044e6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61388-298B-43F8-AA52-3205200F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72C64-1B6D-4C54-83BB-FEDE5F31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62A"/>
                </a:solidFill>
              </a:defRPr>
            </a:pPr>
            <a:r>
              <a:rPr sz="1200" b="1">
                <a:solidFill>
                  <a:srgbClr val="D4A62A"/>
                </a:solidFill>
              </a:rPr>
              <a:t>AHC20122 • CERTIFICATE II IN AGRICULTURE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C843D6BA-59A6-489F-807B-333D276C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857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Task 12 · Farm fencing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AC6AC-0F5B-4F8C-B328-4C0DF4DA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EEDF"/>
                </a:solidFill>
              </a:defRPr>
            </a:pPr>
            <a:r>
              <a:rPr sz="1650" b="0">
                <a:solidFill>
                  <a:srgbClr val="F3EEDF"/>
                </a:solidFill>
              </a:rPr>
              <a:t>Read a fencing brief, plan resources and sequence, recognise hazards, and evaluate work against specifications.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59C3C-43C4-49D9-A826-8B56F3D3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LEARNING 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515BE-F091-42CB-8CAC-A72F8A55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4762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01  Fence purpose, specifications and site constraints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02  Materials, tools and risk planning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03  Work sequence, communication and quality checks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04  Inspection, maintenance report and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D479E-11F0-48AC-B539-1B843DAE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72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BD6D0"/>
                </a:solidFill>
              </a:defRPr>
            </a:pPr>
            <a:r>
              <a:rPr sz="1050" b="0">
                <a:solidFill>
                  <a:srgbClr val="BBD6D0"/>
                </a:solidFill>
              </a:rPr>
              <a:t>Supplementary learning • current local sources and supervision control real work</a:t>
            </a:r>
          </a:p>
        </p:txBody>
      </p:sp>
    </p:spTree>
    <p:extLst>
      <p:ext uri="{BB962C8B-B14F-4D97-AF65-F5344CB8AC3E}">
        <p14:creationId xmlns:p14="http://schemas.microsoft.com/office/powerpoint/2010/main" val="1451470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EA415-69FA-464A-B1EE-E82B6C0B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59740EFC-0925-484E-A50E-2C7472F1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12  •  PRIMARY INDUSTRIES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F78DD30B-7773-4B77-A9F5-BF418450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Fence purpose, specifications and site constraints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13652-3A1E-4292-B03A-57B98AB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B900D-87DB-43B7-86DE-9FBFEDC6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2/10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868A3-CCD2-4527-9F2B-27DCC615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6096000" cy="4667250"/>
          </a:xfrm>
          <a:prstGeom xmlns:a="http://schemas.openxmlformats.org/drawingml/2006/main" prst="roundRect">
            <a:avLst>
              <a:gd name="adj" fmla="val 3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3e8db1f514108">
            <a:extLst>
              <a:ext uri="{96DAC541-7B7A-43D3-8B79-37D633B846F1}">
                <asvg:svgBlip xmlns:asvg="http://schemas.microsoft.com/office/drawing/2016/SVG/main" r:embed="Rc2c92480726144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" y="1066800"/>
            <a:ext cx="59055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50C5E-E386-49D9-A34F-E9A8362B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668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ABA33-7377-4E70-93AC-DCFB9411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2875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Purpose determines the performance question</a:t>
            </a:r>
          </a:p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Read the whole document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6449E-CB36-4919-A21F-65D67A5F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38400"/>
            <a:ext cx="4838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28"/>
                </a:solidFill>
              </a:defRPr>
            </a:pPr>
            <a:r>
              <a:rPr sz="1500" b="0">
                <a:solidFill>
                  <a:srgbClr val="173128"/>
                </a:solidFill>
              </a:rPr>
              <a:t>A fencing brief begins with what the boundary or enclosure must achieve, such as separating stock groups, defining access, protecting an area or marking a property division. A job may be described across a brief, plan, site map, material schedule, risk documentation and manufacturer information.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CA1C2-B40E-4944-9CF1-8B67DAD5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48387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EDF"/>
          </a:solidFill>
          <a:ln xmlns:a="http://schemas.openxmlformats.org/drawingml/2006/main" w="9525">
            <a:solidFill>
              <a:srgbClr val="D4A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39004-57B4-47CC-83E5-E21ABE9F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LOOK FOR</a:t>
            </a:r>
          </a:p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Connect the module's first four teaching ideas before students apply them to a fictional agricultural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F01DD-2C3D-452E-890B-08642718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E65"/>
                </a:solidFill>
              </a:defRPr>
            </a:pPr>
            <a:r>
              <a:rPr sz="1125" b="0">
                <a:solidFill>
                  <a:srgbClr val="5B6E65"/>
                </a:solidFill>
              </a:rPr>
              <a:t>Use the map to connect the lesson ideas, then confirm any real procedure or decision through the current authorised source.</a:t>
            </a:r>
          </a:p>
        </p:txBody>
      </p:sp>
    </p:spTree>
    <p:extLst>
      <p:ext uri="{BB962C8B-B14F-4D97-AF65-F5344CB8AC3E}">
        <p14:creationId xmlns:p14="http://schemas.microsoft.com/office/powerpoint/2010/main" val="730885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2489E-5497-4D15-8552-68D30480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95AB7891-5CFF-4737-A667-C9C9D4C7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12  •  PRIMARY INDUSTRIES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32F0D2F5-24C3-4C8A-A688-67C267BA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Fence purpose, specifications and site constraints: decide from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B4035-09C0-4961-A4E4-1AAE0E7B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EF57B-F9E5-49DD-835A-2C5668DE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3/10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D909D-B05D-4C26-9A2D-A5C8997F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6800850" cy="5010150"/>
          </a:xfrm>
          <a:prstGeom xmlns:a="http://schemas.openxmlformats.org/drawingml/2006/main" prst="roundRect">
            <a:avLst>
              <a:gd name="adj" fmla="val 3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A1EB0-DE22-4F22-AD64-A1682230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FICTIONAL WORKPLACE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8C787-9666-4347-86CA-33FBAD5D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619125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OBSERVE  A fictional brief dated 7 August 2027 states an overall fence line of 230 m, while the current sketch lists segments of 80 m, 75 m and 70 m, totalling 225 m. A second undated sketch shows a…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DECIDE   Lewis cannot decide which dimension or gate position is intended because the document set conflicts.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ACT      He preserves both sketches, shows the 5 m difference and asks the supervisor to confirm the current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RECORD   Lewis records the drawing identifier, confirmed overall length and unresolved site-verification hold point without creating a construction method.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23B00-BFCB-4833-90DD-1CCEA583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4019550" cy="50101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CF9CA-E56B-4877-99B6-9BC02C6F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CHECK YOUR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37A1A-52B3-474A-B56F-23D5B9C7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Two fencing plans show different gate positions. What is the strongest response?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DFB0D-7B8B-4CBB-BCC2-AD696677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4290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A  Choose the position that appears easiest to reach.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B  Record the conflict and ask the supervisor which identified plan is current.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C  Average the two positions and mark a new one between them.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BFABE-50FB-4864-99C3-A9C1A42C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D6D0"/>
                </a:solidFill>
              </a:defRPr>
            </a:pPr>
            <a:r>
              <a:rPr sz="1200" b="1">
                <a:solidFill>
                  <a:srgbClr val="BBD6D0"/>
                </a:solidFill>
              </a:rPr>
              <a:t>HELP  Plan identity and currency come before site action.</a:t>
            </a:r>
          </a:p>
        </p:txBody>
      </p:sp>
    </p:spTree>
    <p:extLst>
      <p:ext uri="{BB962C8B-B14F-4D97-AF65-F5344CB8AC3E}">
        <p14:creationId xmlns:p14="http://schemas.microsoft.com/office/powerpoint/2010/main" val="592952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E7E41-713C-43C5-BDF0-39E7EF3D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AFB79A19-5743-410B-840F-2228593B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12  •  PRIMARY INDUSTRIES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5579695D-C601-49C1-85C7-6758AD78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Materials, tools and risk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ED061-FA24-440D-9124-CF925164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36665-7C87-47FD-95F2-13945F09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4/10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A8234-8C75-4CC3-99FE-2CC5EDCB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71550"/>
            <a:ext cx="6096000" cy="4667250"/>
          </a:xfrm>
          <a:prstGeom xmlns:a="http://schemas.openxmlformats.org/drawingml/2006/main" prst="roundRect">
            <a:avLst>
              <a:gd name="adj" fmla="val 3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6dd680a3d487d">
            <a:extLst>
              <a:ext uri="{96DAC541-7B7A-43D3-8B79-37D633B846F1}">
                <asvg:svgBlip xmlns:asvg="http://schemas.microsoft.com/office/drawing/2016/SVG/main" r:embed="Rb38604f6f2c242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72150" y="1066800"/>
            <a:ext cx="59055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6504F-9665-41BB-8C3F-BD4C7034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8749E-0B8F-4162-9A07-C8626F53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Use the authorised resource schedule</a:t>
            </a:r>
          </a:p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Connect each resource to a documented 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F5C7A-35BD-476C-BCC1-D9F101F9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4838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28"/>
                </a:solidFill>
              </a:defRPr>
            </a:pPr>
            <a:r>
              <a:rPr sz="1500" b="0">
                <a:solidFill>
                  <a:srgbClr val="173128"/>
                </a:solidFill>
              </a:rPr>
              <a:t>A resource schedule identifies the materials, equipment categories, quantities and document references approved for the job. Every listed resource should have a traceable relationship to a specified part of the job.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5A88F-850F-4B39-A580-6EAF7A3C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48387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EDF"/>
          </a:solidFill>
          <a:ln xmlns:a="http://schemas.openxmlformats.org/drawingml/2006/main" w="9525">
            <a:solidFill>
              <a:srgbClr val="D4A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F20AA-33ED-4BDB-8CE5-EC19C50B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LOOK FOR</a:t>
            </a:r>
          </a:p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Connect the module's first four teaching ideas before students apply them to a fictional agricultural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F2C12-9BC7-4B75-A055-B0AF5F86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E65"/>
                </a:solidFill>
              </a:defRPr>
            </a:pPr>
            <a:r>
              <a:rPr sz="1125" b="0">
                <a:solidFill>
                  <a:srgbClr val="5B6E65"/>
                </a:solidFill>
              </a:rPr>
              <a:t>Use the map to connect the lesson ideas, then confirm any real procedure or decision through the current authorised source.</a:t>
            </a:r>
          </a:p>
        </p:txBody>
      </p:sp>
    </p:spTree>
    <p:extLst>
      <p:ext uri="{BB962C8B-B14F-4D97-AF65-F5344CB8AC3E}">
        <p14:creationId xmlns:p14="http://schemas.microsoft.com/office/powerpoint/2010/main" val="1406683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84546-0F2F-4456-9BBC-C1345B48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D3073318-586E-44B9-9F06-D0005B88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12  •  PRIMARY INDUSTRIES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B27FD9FA-AA78-4650-8A8B-9330AD39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Materials, tools and risk planning: decide from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C0DC7-EAF4-468C-8C30-80864AD7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4CB4B-A63E-43BB-A132-5E36210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5/10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CEDFF-18BC-4506-A279-8ADB688A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6800850" cy="5010150"/>
          </a:xfrm>
          <a:prstGeom xmlns:a="http://schemas.openxmlformats.org/drawingml/2006/main" prst="roundRect">
            <a:avLst>
              <a:gd name="adj" fmla="val 3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8B98A-7A8A-4A21-8B1D-A1ACD261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FICTIONAL WORKPLACE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6F786-8AD6-4AB5-9ED7-A723D3FF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619125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OBSERVE  A fictional resource schedule dated 11 August 2027 lists twelve material bundles and five equipment identifiers. Identifier EQ-04 appears as verified on the issue list but status unknown on the current condition register.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DECIDE   Taylor does not resolve the conflict by looking at the item or substituting EQ-05, because suitability and substitution remain authorised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ACT      Taylor marks EQ-04 unavailable for planning and reports both record entries to the supervisor.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RECORD   Taylor records the confirmed status and updated document version without providing equipment-check or use instructions.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BA466-4C38-4783-9C57-CD205585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4019550" cy="50101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16407-1C2C-4B4B-920E-2BAA6C8D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CHECK YOUR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C5D38-B5AD-4CCF-B8B1-90EABE97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 resource status differs between two current-looking records. What is the strongest planning response?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B66D4-45D6-4555-9A98-74CD5BA0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4290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A  Use the item if it appears undamaged.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B  Mark it unavailable, preserve both entries and refer the conflict.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C  Substitute the nearest identifier without changing the plan.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9CDA0-A18F-42F7-8BF7-CCA31DA2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D6D0"/>
                </a:solidFill>
              </a:defRPr>
            </a:pPr>
            <a:r>
              <a:rPr sz="1200" b="1">
                <a:solidFill>
                  <a:srgbClr val="BBD6D0"/>
                </a:solidFill>
              </a:rPr>
              <a:t>HELP  Unknown status is not ready status.</a:t>
            </a:r>
          </a:p>
        </p:txBody>
      </p:sp>
    </p:spTree>
    <p:extLst>
      <p:ext uri="{BB962C8B-B14F-4D97-AF65-F5344CB8AC3E}">
        <p14:creationId xmlns:p14="http://schemas.microsoft.com/office/powerpoint/2010/main" val="1486799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64680-84F3-4113-8E3A-A59099EA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01CE7791-79CE-412F-9285-820CB65D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12  •  PRIMARY INDUSTRIES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33108FB3-A0C3-49C4-B970-4B0D0A1E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Work sequence, communication and quality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2041C-F4D5-4DE2-9128-22BBDE08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D3AAE-65D0-4651-A8C9-549F458B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6/10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0E486-8BDD-4B76-8238-EF51BE69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6096000" cy="4667250"/>
          </a:xfrm>
          <a:prstGeom xmlns:a="http://schemas.openxmlformats.org/drawingml/2006/main" prst="roundRect">
            <a:avLst>
              <a:gd name="adj" fmla="val 3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937595aa14a51">
            <a:extLst>
              <a:ext uri="{96DAC541-7B7A-43D3-8B79-37D633B846F1}">
                <asvg:svgBlip xmlns:asvg="http://schemas.microsoft.com/office/drawing/2016/SVG/main" r:embed="Rfe03cdd7bf8747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" y="1066800"/>
            <a:ext cx="59055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F744E-525A-41F1-A6F0-EB424201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668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BE214-B4AE-4E7D-9EB3-B4508386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2875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Sequence decisions, not physical technique</a:t>
            </a:r>
          </a:p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Place hold points before irreversible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76F0F-DF91-4543-96CA-F39DA048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38400"/>
            <a:ext cx="4838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28"/>
                </a:solidFill>
              </a:defRPr>
            </a:pPr>
            <a:r>
              <a:rPr sz="1500" b="0">
                <a:solidFill>
                  <a:srgbClr val="173128"/>
                </a:solidFill>
              </a:rPr>
              <a:t>A safe planning sequence moves through confirm brief, verify current site information, reconcile resources, review hazards and roles, obtain supervisor release, complete supervised work stages, check specifications and close records. A hold point requires confirmation before the job crosses a significant boundary, such as relying on an unverified line, entering a changed area, accepting a substituted material or…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42BF9-6FA2-4391-B927-34724BE0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48387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EDF"/>
          </a:solidFill>
          <a:ln xmlns:a="http://schemas.openxmlformats.org/drawingml/2006/main" w="9525">
            <a:solidFill>
              <a:srgbClr val="D4A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D2F69-41DB-4FEB-89B8-D1A42CE0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LOOK FOR</a:t>
            </a:r>
          </a:p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Connect the module's first four teaching ideas before students apply them to a fictional agricultural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7EF4B-B4C7-4A2A-9990-4C1637CB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E65"/>
                </a:solidFill>
              </a:defRPr>
            </a:pPr>
            <a:r>
              <a:rPr sz="1125" b="0">
                <a:solidFill>
                  <a:srgbClr val="5B6E65"/>
                </a:solidFill>
              </a:rPr>
              <a:t>Use the map to connect the lesson ideas, then confirm any real procedure or decision through the current authorised source.</a:t>
            </a:r>
          </a:p>
        </p:txBody>
      </p:sp>
    </p:spTree>
    <p:extLst>
      <p:ext uri="{BB962C8B-B14F-4D97-AF65-F5344CB8AC3E}">
        <p14:creationId xmlns:p14="http://schemas.microsoft.com/office/powerpoint/2010/main" val="848763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08F54-3488-4AF3-827A-A26ACC6D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262142C6-A777-482C-9DF8-758E33F1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12  •  PRIMARY INDUSTRIES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EC0946EA-51B3-4878-8533-10A1553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Work sequence, communication and quality checks: decide from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59672-D8BF-4F25-A066-E9CF28E1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9A4DA-11E7-4254-851A-2A499ACF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7/10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939B2-1B10-43F1-B723-ADD2DB79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6800850" cy="5010150"/>
          </a:xfrm>
          <a:prstGeom xmlns:a="http://schemas.openxmlformats.org/drawingml/2006/main" prst="roundRect">
            <a:avLst>
              <a:gd name="adj" fmla="val 3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C28E5-ABCA-4F03-B081-769C64AA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FICTIONAL WORKPLACE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E4B7A-5C79-44D9-861D-FC9FBF57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619125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OBSERVE  In a fictional planning rehearsal dated 15 August 2027, the current drawing places a corner reference at Point C, but the supplied site photograph shows a newly marked protected zone overlapping that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DECIDE   Ava does not move Point C or write a new sequence because the design and site authority must be reviewed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ACT      She marks a hold point before practical work and reports the drawing reference, photograph date and overlap.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RECORD   Ava checks that every planning card names the revised drawing before sequencing later quality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A431D-4E7F-4070-9A7C-8115A835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4019550" cy="50101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91AD6-9DD0-4A4C-8873-75C5838F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CHECK YOUR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E8856-EB7A-4B45-A926-F306DBEA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Where should a hold point be placed?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5588C-53F8-4A02-B066-75467EDE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4290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A  Before work relies on an unresolved source, site condition or specification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B  Only after all work is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C  Wherever it makes the diagram look balanced.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95081-BA43-4F46-9083-A0BA9339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D6D0"/>
                </a:solidFill>
              </a:defRPr>
            </a:pPr>
            <a:r>
              <a:rPr sz="1200" b="1">
                <a:solidFill>
                  <a:srgbClr val="BBD6D0"/>
                </a:solidFill>
              </a:rPr>
              <a:t>HELP  Stop before commitment, not after.</a:t>
            </a:r>
          </a:p>
        </p:txBody>
      </p:sp>
    </p:spTree>
    <p:extLst>
      <p:ext uri="{BB962C8B-B14F-4D97-AF65-F5344CB8AC3E}">
        <p14:creationId xmlns:p14="http://schemas.microsoft.com/office/powerpoint/2010/main" val="576960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0730D-7A40-41F9-9F52-BC4A26B3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8">
            <a:extLst xmlns:a="http://schemas.openxmlformats.org/drawingml/2006/main">
              <a:ext uri="{FF2B5EF4-FFF2-40B4-BE49-F238E27FC236}">
                <a16:creationId xmlns:a16="http://schemas.microsoft.com/office/drawing/2014/main" id="{E2B46560-7B98-4891-A324-E359E42A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12  •  PRIMARY INDUSTRIES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905AADE2-5EF2-40B4-A137-C6C67E68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Inspection, maintenance report and handover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1011B-F637-48D3-A265-6331C63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75D7-8C4A-46A0-95C0-34FD4501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8/10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785D9-B73E-4FCB-895E-903AEF71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71550"/>
            <a:ext cx="6096000" cy="4667250"/>
          </a:xfrm>
          <a:prstGeom xmlns:a="http://schemas.openxmlformats.org/drawingml/2006/main" prst="roundRect">
            <a:avLst>
              <a:gd name="adj" fmla="val 3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99769d8804a8f">
            <a:extLst>
              <a:ext uri="{96DAC541-7B7A-43D3-8B79-37D633B846F1}">
                <asvg:svgBlip xmlns:asvg="http://schemas.microsoft.com/office/drawing/2016/SVG/main" r:embed="R05f3c44221e348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72150" y="1066800"/>
            <a:ext cx="59055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0BF6A-C7CA-494A-AB00-2F3DED1A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2377B-998A-493D-BD17-252FE0A5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Inspection records observable condition</a:t>
            </a:r>
          </a:p>
          <a:p xmlns:a="http://schemas.openxmlformats.org/drawingml/2006/main">
            <a:pPr algn="l">
              <a:defRPr sz="1725" b="1">
                <a:solidFill>
                  <a:srgbClr val="123E2A"/>
                </a:solidFill>
              </a:defRPr>
            </a:pPr>
            <a:r>
              <a:rPr sz="1725" b="1">
                <a:solidFill>
                  <a:srgbClr val="123E2A"/>
                </a:solidFill>
              </a:rPr>
              <a:t>• Describe location precisely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9AF59-8DD3-4628-97ED-59441717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4838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28"/>
                </a:solidFill>
              </a:defRPr>
            </a:pPr>
            <a:r>
              <a:rPr sz="1500" b="0">
                <a:solidFill>
                  <a:srgbClr val="173128"/>
                </a:solidFill>
              </a:rPr>
              <a:t>An inspection compares visible condition and documented status with the current purpose and specification. A defect report needs a consistent location reference such as fictional segment, post reference, gate identifier or map zone.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CBFBC-02E5-4021-B3F7-45504BDA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48387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EDF"/>
          </a:solidFill>
          <a:ln xmlns:a="http://schemas.openxmlformats.org/drawingml/2006/main" w="9525">
            <a:solidFill>
              <a:srgbClr val="D4A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E5341-608A-42E0-B5A2-C7160418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LOOK FOR</a:t>
            </a:r>
          </a:p>
          <a:p xmlns:a="http://schemas.openxmlformats.org/drawingml/2006/main">
            <a:pPr algn="l">
              <a:defRPr sz="1350" b="1">
                <a:solidFill>
                  <a:srgbClr val="123E2A"/>
                </a:solidFill>
              </a:defRPr>
            </a:pPr>
            <a:r>
              <a:rPr sz="1350" b="1">
                <a:solidFill>
                  <a:srgbClr val="123E2A"/>
                </a:solidFill>
              </a:rPr>
              <a:t>Connect the module's first four teaching ideas before students apply them to a fictional agricultural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EFA70-5FE0-443F-A3DE-BC52597A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E65"/>
                </a:solidFill>
              </a:defRPr>
            </a:pPr>
            <a:r>
              <a:rPr sz="1125" b="0">
                <a:solidFill>
                  <a:srgbClr val="5B6E65"/>
                </a:solidFill>
              </a:rPr>
              <a:t>Use the map to connect the lesson ideas, then confirm any real procedure or decision through the current authorised source.</a:t>
            </a:r>
          </a:p>
        </p:txBody>
      </p:sp>
    </p:spTree>
    <p:extLst>
      <p:ext uri="{BB962C8B-B14F-4D97-AF65-F5344CB8AC3E}">
        <p14:creationId xmlns:p14="http://schemas.microsoft.com/office/powerpoint/2010/main" val="20802574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D539C-F958-453F-B03E-907BDD51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</p:sp>
      <p:sp>
        <p:nvSpPr>
          <p:cNvPr id="2" name="eyebrow-9">
            <a:extLst xmlns:a="http://schemas.openxmlformats.org/drawingml/2006/main">
              <a:ext uri="{FF2B5EF4-FFF2-40B4-BE49-F238E27FC236}">
                <a16:creationId xmlns:a16="http://schemas.microsoft.com/office/drawing/2014/main" id="{269466F0-3901-40E9-A228-889BA5C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TASK 12  •  PRIMARY INDUSTRIES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42A9AFE9-0AB4-43E0-9B6E-16B1CA8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Inspection, maintenance report and handover: decide from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2D4DA-8D7E-44B8-B7AE-5EB55E1A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65"/>
                </a:solidFill>
              </a:defRPr>
            </a:pPr>
            <a:r>
              <a:rPr sz="900" b="0">
                <a:solidFill>
                  <a:srgbClr val="5B6E65"/>
                </a:solidFill>
              </a:rPr>
              <a:t>AHC20122 PRIMARY INDUSTRIES  •  TASK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D9FA2-A018-4993-B5FD-219FC1B6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E65"/>
                </a:solidFill>
              </a:defRPr>
            </a:pPr>
            <a:r>
              <a:rPr sz="900" b="1">
                <a:solidFill>
                  <a:srgbClr val="5B6E65"/>
                </a:solidFill>
              </a:rPr>
              <a:t>9/10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C0F5B-1838-4389-9E40-1E84A301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6800850" cy="5010150"/>
          </a:xfrm>
          <a:prstGeom xmlns:a="http://schemas.openxmlformats.org/drawingml/2006/main" prst="roundRect">
            <a:avLst>
              <a:gd name="adj" fmla="val 3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07ED4-091A-4A56-AF38-883F4B1A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F3E"/>
                </a:solidFill>
              </a:defRPr>
            </a:pPr>
            <a:r>
              <a:rPr sz="1125" b="1">
                <a:solidFill>
                  <a:srgbClr val="B45F3E"/>
                </a:solidFill>
              </a:rPr>
              <a:t>FICTIONAL WORKPLACE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DA12C-7A67-45F8-BA69-74274E2B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619125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OBSERVE  On 21 August 2027, a fictional inspection image set shows Segment F-03 with one support leaning relative to the plan reference and a gate identifier that cannot be read. No close access or physical check is authorised.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DECIDE   Omar records two observable issues but does not diagnose structural cause or prescribe repair.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ACT      He marks F-03 for supervisor review, gives the image identifiers and notes that asset identity remains uncertain.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3128"/>
                </a:solidFill>
              </a:defRPr>
            </a:pPr>
            <a:r>
              <a:rPr sz="1425" b="0">
                <a:solidFill>
                  <a:srgbClr val="173128"/>
                </a:solidFill>
              </a:rPr>
              <a:t>RECORD   Omar updates the report with confirmed identity, current status and next authorised owner, leaving the repair field controlled.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87D13-7944-4AB7-A13B-C8FE0F20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4019550" cy="50101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23E2A"/>
          </a:solidFill>
          <a:ln xmlns:a="http://schemas.openxmlformats.org/drawingml/2006/main" w="0">
            <a:solidFill>
              <a:srgbClr val="123E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EEE91-AEA8-4594-A332-C2B3B0E7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A62A"/>
                </a:solidFill>
              </a:defRPr>
            </a:pPr>
            <a:r>
              <a:rPr sz="1125" b="1">
                <a:solidFill>
                  <a:srgbClr val="D4A62A"/>
                </a:solidFill>
              </a:rPr>
              <a:t>CHECK YOUR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07E33-0E9E-496A-B39F-313DA386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Which fictional fence defect description is the strongest?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5D47B-A4A2-4122-B1B5-4DE7E733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4290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A  Fence is bad near the 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B  Segment F-03 appears misaligned relative to drawing reference D-07 in image IMG-14; supervisor review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EEDF"/>
                </a:solidFill>
              </a:defRPr>
            </a:pPr>
            <a:r>
              <a:rPr sz="1350" b="0">
                <a:solidFill>
                  <a:srgbClr val="F3EEDF"/>
                </a:solidFill>
              </a:rPr>
              <a:t>C  The entire fence needs replacement.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7E4B8-BB74-4EBD-975A-B2D099B2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D6D0"/>
                </a:solidFill>
              </a:defRPr>
            </a:pPr>
            <a:r>
              <a:rPr sz="1200" b="1">
                <a:solidFill>
                  <a:srgbClr val="BBD6D0"/>
                </a:solidFill>
              </a:rPr>
              <a:t>HELP  Where, what seen, compared with what, who reviews.</a:t>
            </a:r>
          </a:p>
        </p:txBody>
      </p:sp>
    </p:spTree>
    <p:extLst>
      <p:ext uri="{BB962C8B-B14F-4D97-AF65-F5344CB8AC3E}">
        <p14:creationId xmlns:p14="http://schemas.microsoft.com/office/powerpoint/2010/main" val="18129322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998C8-E6A5-4511-9BAE-9D5BD5BC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62A"/>
                </a:solidFill>
              </a:defRPr>
            </a:pPr>
            <a:r>
              <a:rPr sz="1200" b="1">
                <a:solidFill>
                  <a:srgbClr val="D4A62A"/>
                </a:solidFill>
              </a:rPr>
              <a:t>CLOSE THE LOOP WITH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7A0A0-17CB-43ED-B0BA-C192003B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Apply the task route — then check the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15A0B-C774-4B30-AC4B-CA58D0C6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095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EEDF"/>
                </a:solidFill>
              </a:defRPr>
            </a:pPr>
            <a:r>
              <a:rPr sz="1650" b="1">
                <a:solidFill>
                  <a:srgbClr val="F3EEDF"/>
                </a:solidFill>
              </a:rPr>
              <a:t>01  Fence purpose, specifications and site 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3EEDF"/>
                </a:solidFill>
              </a:defRPr>
            </a:pPr>
            <a:r>
              <a:rPr sz="1650" b="1">
                <a:solidFill>
                  <a:srgbClr val="F3EEDF"/>
                </a:solidFill>
              </a:rPr>
              <a:t>02  Materials, tools and risk planning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3EEDF"/>
                </a:solidFill>
              </a:defRPr>
            </a:pPr>
            <a:r>
              <a:rPr sz="1650" b="1">
                <a:solidFill>
                  <a:srgbClr val="F3EEDF"/>
                </a:solidFill>
              </a:rPr>
              <a:t>03  Work sequence, communication and quality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3EEDF"/>
                </a:solidFill>
              </a:defRPr>
            </a:pPr>
            <a:r>
              <a:rPr sz="1650" b="1">
                <a:solidFill>
                  <a:srgbClr val="F3EEDF"/>
                </a:solidFill>
              </a:rPr>
              <a:t>04  Inspection, maintenance report and handover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39FC0-A126-4D9F-94A4-037E5149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Mark up a fictional fencing brief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Annotate the supplied privacy-safe brief and drawing with source identity, dimension totals, material categories, constraints and supervisor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Audit a fictional resource-and-risk board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Match supplied identifiers to the brief, mark status conflicts, place hazard-category cards beside planning stages and draft the supervisor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Arrange a fencing decision sequence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Order teacher-supplied decision cards from brief to close-out, insert hold points and attach each quality check to its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Write a fictional condition handover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Review supplied privacy-safe images and plan extract.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03250-58CA-4F6F-85B2-55D3AF29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0763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3EEDF"/>
          </a:solidFill>
          <a:ln xmlns:a="http://schemas.openxmlformats.org/drawingml/2006/main" w="9525">
            <a:solidFill>
              <a:srgbClr val="D4A6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EF6B5-7262-4835-9151-C2C815ED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032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E2A"/>
                </a:solidFill>
              </a:defRPr>
            </a:pPr>
            <a:r>
              <a:rPr sz="1425" b="1">
                <a:solidFill>
                  <a:srgbClr val="123E2A"/>
                </a:solidFill>
              </a:rPr>
              <a:t>NEXT STEP  Complete the teacher-nominated learning action. Use current local sources and supervision before any real practical decision. Website responses remain formative.</a:t>
            </a:r>
          </a:p>
        </p:txBody>
      </p:sp>
    </p:spTree>
    <p:extLst>
      <p:ext uri="{BB962C8B-B14F-4D97-AF65-F5344CB8AC3E}">
        <p14:creationId xmlns:p14="http://schemas.microsoft.com/office/powerpoint/2010/main" val="76967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2026-08-21T09:51:28.7830000Z</dcterms:created>
  <dcterms:modified xsi:type="dcterms:W3CDTF">2026-08-21T09:51:28.7830000Z</dcterms:modified>
</coreProperties>
</file>