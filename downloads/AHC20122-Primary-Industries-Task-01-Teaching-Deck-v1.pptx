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d7e08b58b04fca" /><Relationship Type="http://schemas.openxmlformats.org/officeDocument/2006/relationships/extended-properties" Target="/docProps/app.xml" Id="R8216ded143154fcb" /><Relationship Type="http://schemas.openxmlformats.org/officeDocument/2006/relationships/officeDocument" Target="/ppt/presentation.xml" Id="Rdf9d90eda9ee4b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601794605e48ba"/>
  </p:sldMasterIdLst>
  <p:notesMasterIdLst>
    <p:notesMasterId xmlns:r="http://schemas.openxmlformats.org/officeDocument/2006/relationships" r:id="R16e7d8b0b6a24e08"/>
  </p:notesMasterIdLst>
  <p:sldIdLst>
    <p:sldId xmlns:r="http://schemas.openxmlformats.org/officeDocument/2006/relationships" id="256" r:id="R884038bc3bfb4954"/>
    <p:sldId xmlns:r="http://schemas.openxmlformats.org/officeDocument/2006/relationships" id="257" r:id="R3100c7b4549a4c9d"/>
    <p:sldId xmlns:r="http://schemas.openxmlformats.org/officeDocument/2006/relationships" id="258" r:id="R6b606e7e7f5f4616"/>
    <p:sldId xmlns:r="http://schemas.openxmlformats.org/officeDocument/2006/relationships" id="259" r:id="Rf81053f5eca04ab8"/>
    <p:sldId xmlns:r="http://schemas.openxmlformats.org/officeDocument/2006/relationships" id="260" r:id="R2c6258a9281441cf"/>
    <p:sldId xmlns:r="http://schemas.openxmlformats.org/officeDocument/2006/relationships" id="261" r:id="R87765a88c1cb4310"/>
    <p:sldId xmlns:r="http://schemas.openxmlformats.org/officeDocument/2006/relationships" id="262" r:id="Rc2fd30908fd54262"/>
    <p:sldId xmlns:r="http://schemas.openxmlformats.org/officeDocument/2006/relationships" id="263" r:id="R3a61ea71c3ab4edb"/>
    <p:sldId xmlns:r="http://schemas.openxmlformats.org/officeDocument/2006/relationships" id="264" r:id="R900a53deac844f93"/>
    <p:sldId xmlns:r="http://schemas.openxmlformats.org/officeDocument/2006/relationships" id="265" r:id="Rb364a29b99ff4d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68810d9d7f46d5" /><Relationship Type="http://schemas.openxmlformats.org/officeDocument/2006/relationships/slideMaster" Target="/ppt/slideMasters/slideMaster1.xml" Id="Rfa601794605e48ba" /><Relationship Type="http://schemas.openxmlformats.org/officeDocument/2006/relationships/notesMaster" Target="/ppt/notesMasters/notesMaster1.xml" Id="R16e7d8b0b6a24e08" /><Relationship Type="http://schemas.openxmlformats.org/officeDocument/2006/relationships/presProps" Target="/ppt/presProps.xml" Id="Rd37e337b69e34c2d" /><Relationship Type="http://schemas.openxmlformats.org/officeDocument/2006/relationships/tableStyles" Target="/ppt/tableStyles.xml" Id="R5da0010b9c934a47" /><Relationship Type="http://schemas.openxmlformats.org/officeDocument/2006/relationships/slide" Target="/ppt/slides/slide1.xml" Id="R884038bc3bfb4954" /><Relationship Type="http://schemas.openxmlformats.org/officeDocument/2006/relationships/slide" Target="/ppt/slides/slide2.xml" Id="R3100c7b4549a4c9d" /><Relationship Type="http://schemas.openxmlformats.org/officeDocument/2006/relationships/slide" Target="/ppt/slides/slide3.xml" Id="R6b606e7e7f5f4616" /><Relationship Type="http://schemas.openxmlformats.org/officeDocument/2006/relationships/slide" Target="/ppt/slides/slide4.xml" Id="Rf81053f5eca04ab8" /><Relationship Type="http://schemas.openxmlformats.org/officeDocument/2006/relationships/slide" Target="/ppt/slides/slide5.xml" Id="R2c6258a9281441cf" /><Relationship Type="http://schemas.openxmlformats.org/officeDocument/2006/relationships/slide" Target="/ppt/slides/slide6.xml" Id="R87765a88c1cb4310" /><Relationship Type="http://schemas.openxmlformats.org/officeDocument/2006/relationships/slide" Target="/ppt/slides/slide7.xml" Id="Rc2fd30908fd54262" /><Relationship Type="http://schemas.openxmlformats.org/officeDocument/2006/relationships/slide" Target="/ppt/slides/slide8.xml" Id="R3a61ea71c3ab4edb" /><Relationship Type="http://schemas.openxmlformats.org/officeDocument/2006/relationships/slide" Target="/ppt/slides/slide9.xml" Id="R900a53deac844f93" /><Relationship Type="http://schemas.openxmlformats.org/officeDocument/2006/relationships/slide" Target="/ppt/slides/slide10.xml" Id="Rb364a29b99ff4d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f9fff206034f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11636274b741a4" /><Relationship Type="http://schemas.openxmlformats.org/officeDocument/2006/relationships/notesMaster" Target="/ppt/notesMasters/notesMaster1.xml" Id="R63cd1552210c40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bf357d485b49ba" /><Relationship Type="http://schemas.openxmlformats.org/officeDocument/2006/relationships/notesMaster" Target="/ppt/notesMasters/notesMaster1.xml" Id="R5e4f13f1e71248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16afdcb4aa4765" /><Relationship Type="http://schemas.openxmlformats.org/officeDocument/2006/relationships/notesMaster" Target="/ppt/notesMasters/notesMaster1.xml" Id="R5bf014eae9244e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0c2ab080504488" /><Relationship Type="http://schemas.openxmlformats.org/officeDocument/2006/relationships/notesMaster" Target="/ppt/notesMasters/notesMaster1.xml" Id="R167d31db79f944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c0dd4089b14718" /><Relationship Type="http://schemas.openxmlformats.org/officeDocument/2006/relationships/notesMaster" Target="/ppt/notesMasters/notesMaster1.xml" Id="Rf800ff8d75c041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921075cb32402f" /><Relationship Type="http://schemas.openxmlformats.org/officeDocument/2006/relationships/notesMaster" Target="/ppt/notesMasters/notesMaster1.xml" Id="R893dde626eb54e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1a5fa81bf34756" /><Relationship Type="http://schemas.openxmlformats.org/officeDocument/2006/relationships/notesMaster" Target="/ppt/notesMasters/notesMaster1.xml" Id="R0a6f2e778d7c41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ff84185d2f4519" /><Relationship Type="http://schemas.openxmlformats.org/officeDocument/2006/relationships/notesMaster" Target="/ppt/notesMasters/notesMaster1.xml" Id="Rfbd07a13b94545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bf666dff004032" /><Relationship Type="http://schemas.openxmlformats.org/officeDocument/2006/relationships/notesMaster" Target="/ppt/notesMasters/notesMaster1.xml" Id="R758966e50a034b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164e9dc72f4fc2" /><Relationship Type="http://schemas.openxmlformats.org/officeDocument/2006/relationships/notesMaster" Target="/ppt/notesMasters/notesMaster1.xml" Id="Radd0505f450a41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connecting the task purpose to the four-module route. Ask students which module most clearly prepares them to notice evidence, make a source-led decision and report through authority.</a:t>
            </a:r>
          </a:p>
          <a:p xmlns:a="http://schemas.openxmlformats.org/drawingml/2006/main">
            <a:r>
              <a:t>Boundary: Supplementary learning is grounded in AHCWHS202 Release 1, current SafeWork NSW farming guidance and the authorised teacher-posted safety notes. The current workplace induction, risk process, emergency plan, supervisor directions and RTO assessment package remain controlling. Site responses are formative and do not demonstrate competency.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Supplementary learning is grounded in AHCWHS202 Release 1, current SafeWork NSW farming guidance and the authorised teacher-posted safety notes. The current workplace induction, risk process, emergency plan, supervisor directions and RTO assessment package remain controlling. Site responses are formative and do not demonstrate competency.</a:t>
            </a:r>
          </a:p>
          <a:p xmlns:a="http://schemas.openxmlformats.org/drawingml/2006/main">
            <a:r>
              <a:t>- Course hero: Generated for this course using OpenAI ImageGen on 21 August 2026.</a:t>
            </a:r>
          </a:p>
          <a:p xmlns:a="http://schemas.openxmlformats.org/drawingml/2006/main">
            <a:r>
              <a:t>- Course data: work/pi/site-data/course.json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move (theory and visual): Use the module visual and the fictional worked example to move students from observation to a source-led decision. Ask students to name the evidence, the authority gap and the next safe communication step.</a:t>
            </a:r>
          </a:p>
          <a:p xmlns:a="http://schemas.openxmlformats.org/drawingml/2006/main">
            <a:r>
              <a:t>Misconception and help: Look for the response that identifies and closes the authority gap before work begins. Ask: What is unclear, and who is authorised to confirm it?</a:t>
            </a:r>
          </a:p>
          <a:p xmlns:a="http://schemas.openxmlformats.org/drawingml/2006/main">
            <a:r>
              <a:t>Applied action: Build an authority map. For a teacher-nominated fictional farm task, list the learner's role, the supervisor's role, one clarification point and one reportable change. Do not copy a local form or describe emergency steps.</a:t>
            </a:r>
          </a:p>
          <a:p xmlns:a="http://schemas.openxmlformats.org/drawingml/2006/main">
            <a:r>
              <a:t>Boundary: Supplementary learning is grounded in AHCWHS202 Release 1, current SafeWork NSW farming guidance and the authorised teacher-posted safety notes. The current workplace induction, risk process, emergency plan, supervisor directions and RTO assessment package remain controlling. Site responses are formative and do not demonstrate competency.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 basis: AHCWHS202 Release 1, SafeWork NSW First Steps to Farm Safety guidance on consultation, induction, worker responsibilities and records, plus authorised teacher-posted safety notes. Current local procedures and the RTO assessment package control real work.</a:t>
            </a:r>
          </a:p>
          <a:p xmlns:a="http://schemas.openxmlformats.org/drawingml/2006/main">
            <a:r>
              <a:t>- Visual visual-task-01-01: Generated locally from accepted Stage 05 module headings; no external image copied.</a:t>
            </a:r>
          </a:p>
          <a:p xmlns:a="http://schemas.openxmlformats.org/drawingml/2006/main">
            <a:r>
              <a:t>- Course visual manifest: work/pi/visuals/visual-manifest.json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move (worked example and formative check): Use the module visual and the fictional worked example to move students from observation to a source-led decision. Ask students to name the evidence, the authority gap and the next safe communication step.
Misconception and help: Look for the response that identifies and closes the authority gap before work begins. Ask: What is unclear, and who is authorised to confirm it?
Applied action: Build an authority map. For a teacher-nominated fictional farm task, list the learner's role, the supervisor's role, one clarification point and one reportable change. Do not copy a local form or describe emergency steps.
Boundary: Supplementary learning is grounded in AHCWHS202 Release 1, current SafeWork NSW farming guidance and the authorised teacher-posted safety notes. The current workplace induction, risk process, emergency plan, supervisor directions and RTO assessment package remain controlling. Site responses are formative and do not demonstrate competency.
[Sources]
- Source basis: AHCWHS202 Release 1, SafeWork NSW First Steps to Farm Safety guidance on consultation, induction, worker responsibilities and records, plus authorised teacher-posted safety notes. Current local procedures and the RTO assessment package control real work.
- Visual visual-task-01-01: Generated locally from accepted Stage 05 module headings; no external image copied.
- Course visual manifest: work/pi/visuals/visual-manifest.json</a:t>
            </a:r>
          </a:p>
          <a:p xmlns:a="http://schemas.openxmlformats.org/drawingml/2006/main">
            <a:r>
              <a:t>Formative check answer: Pause and ask the designated supervisor who controls the access decision.</a:t>
            </a:r>
          </a:p>
          <a:p xmlns:a="http://schemas.openxmlformats.org/drawingml/2006/main">
            <a:r>
              <a:t>Correct feedback: You kept the decision with the person authorised to control local access.</a:t>
            </a:r>
          </a:p>
          <a:p xmlns:a="http://schemas.openxmlformats.org/drawingml/2006/main">
            <a:r>
              <a:t>Corrective feedback: Look for the response that identifies and closes the authority gap before work begins.</a:t>
            </a:r>
          </a:p>
          <a:p xmlns:a="http://schemas.openxmlformats.org/drawingml/2006/main">
            <a:r>
              <a:t>Full contextual example: Observed evidence: On a fictional training farm, Lee is asked to move supplies to a shed but sees a new washout across the usual track. Decision and reason: Lee does not choose another route independently because property access is locally controlled. Safe action: Lee pauses and tells the supervisor the exact location and visible condition. Result: The supervisor confirms a different authorised route and updates the team. Next check or record: Lee checks that the changed direction is understood and notes the hazard through the workplace's current reporting process.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move (theory and visual): Use the module visual and the fictional worked example to move students from observation to a source-led decision. Ask students to name the evidence, the authority gap and the next safe communication step.</a:t>
            </a:r>
          </a:p>
          <a:p xmlns:a="http://schemas.openxmlformats.org/drawingml/2006/main">
            <a:r>
              <a:t>Misconception and help: Separate the source of potential harm from the chance and seriousness of exposure. Hazard equals potential source; risk equals possible harm in context.</a:t>
            </a:r>
          </a:p>
          <a:p xmlns:a="http://schemas.openxmlformats.org/drawingml/2006/main">
            <a:r>
              <a:t>Applied action: Write a four-part hazard story. Use a teacher-provided photograph or fictional scene. Record the hazard, exposure, possible harm and changed condition, then name the person or process that would confirm the next action.</a:t>
            </a:r>
          </a:p>
          <a:p xmlns:a="http://schemas.openxmlformats.org/drawingml/2006/main">
            <a:r>
              <a:t>Boundary: Supplementary learning is grounded in AHCWHS202 Release 1, current SafeWork NSW farming guidance and the authorised teacher-posted safety notes. The current workplace induction, risk process, emergency plan, supervisor directions and RTO assessment package remain controlling. Site responses are formative and do not demonstrate competency.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 basis: AHCWHS202 Release 1 and SafeWork NSW First Steps to Farm Safety guidance on identifying hazards, assessing likelihood and severity, monitoring changing farm conditions and reporting. The local risk matrix controls real ratings.</a:t>
            </a:r>
          </a:p>
          <a:p xmlns:a="http://schemas.openxmlformats.org/drawingml/2006/main">
            <a:r>
              <a:t>- Visual visual-task-01-02: Generated locally from accepted Stage 05 module headings; no external image copied.</a:t>
            </a:r>
          </a:p>
          <a:p xmlns:a="http://schemas.openxmlformats.org/drawingml/2006/main">
            <a:r>
              <a:t>- Course visual manifest: work/pi/visuals/visual-manifest.json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move (worked example and formative check): Use the module visual and the fictional worked example to move students from observation to a source-led decision. Ask students to name the evidence, the authority gap and the next safe communication step.
Misconception and help: Separate the source of potential harm from the chance and seriousness of exposure. Hazard equals potential source; risk equals possible harm in context.
Applied action: Write a four-part hazard story. Use a teacher-provided photograph or fictional scene. Record the hazard, exposure, possible harm and changed condition, then name the person or process that would confirm the next action.
Boundary: Supplementary learning is grounded in AHCWHS202 Release 1, current SafeWork NSW farming guidance and the authorised teacher-posted safety notes. The current workplace induction, risk process, emergency plan, supervisor directions and RTO assessment package remain controlling. Site responses are formative and do not demonstrate competency.
[Sources]
- Source basis: AHCWHS202 Release 1 and SafeWork NSW First Steps to Farm Safety guidance on identifying hazards, assessing likelihood and severity, monitoring changing farm conditions and reporting. The local risk matrix controls real ratings.
- Visual visual-task-01-02: Generated locally from accepted Stage 05 module headings; no external image copied.
- Course visual manifest: work/pi/visuals/visual-manifest.json</a:t>
            </a:r>
          </a:p>
          <a:p xmlns:a="http://schemas.openxmlformats.org/drawingml/2006/main">
            <a:r>
              <a:t>Formative check answer: A moving vehicle is a hazard; the chance and seriousness of a collision depend on the people, route and conditions.</a:t>
            </a:r>
          </a:p>
          <a:p xmlns:a="http://schemas.openxmlformats.org/drawingml/2006/main">
            <a:r>
              <a:t>Correct feedback: You identified the hazard and then considered how context shapes risk.</a:t>
            </a:r>
          </a:p>
          <a:p xmlns:a="http://schemas.openxmlformats.org/drawingml/2006/main">
            <a:r>
              <a:t>Corrective feedback: Separate the source of potential harm from the chance and seriousness of exposure.</a:t>
            </a:r>
          </a:p>
          <a:p xmlns:a="http://schemas.openxmlformats.org/drawingml/2006/main">
            <a:r>
              <a:t>Full contextual example: Observed evidence: A fictional team planned to carry empty crates along a firm lane, but rain has made a section muddy and a delivery vehicle is now reversing nearby. Decision and reason: The original exposure has changed because footing and vehicle movement now overlap. Safe action: The learner pauses outside the affected area and reports both observations. Result: The supervisor reviews the route and timing using the local risk process. Next check or record: The learner records the changed conditions and the confirmed direction, without inventing a risk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move (theory and visual): Use the module visual and the fictional worked example to move students from observation to a source-led decision. Ask students to name the evidence, the authority gap and the next safe communication step.</a:t>
            </a:r>
          </a:p>
          <a:p xmlns:a="http://schemas.openxmlformats.org/drawingml/2006/main">
            <a:r>
              <a:t>Misconception and help: Consider what PPE changes and what hazard remains around the wearer. Ask whether the option removes the hazard or mainly protects one person.</a:t>
            </a:r>
          </a:p>
          <a:p xmlns:a="http://schemas.openxmlformats.org/drawingml/2006/main">
            <a:r>
              <a:t>Applied action: Build a control comparison. For a fictional teacher-provided hazard, compare one higher-level and one lower-level control. Explain the intended effect and one sign that review is needed. Do not prescribe local PPE or alter equipment.</a:t>
            </a:r>
          </a:p>
          <a:p xmlns:a="http://schemas.openxmlformats.org/drawingml/2006/main">
            <a:r>
              <a:t>Boundary: Supplementary learning is grounded in AHCWHS202 Release 1, current SafeWork NSW farming guidance and the authorised teacher-posted safety notes. The current workplace induction, risk process, emergency plan, supervisor directions and RTO assessment package remain controlling. Site responses are formative and do not demonstrate competency.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 basis: AHCWHS202 Release 1 and SafeWork NSW First Steps to Farm Safety hierarchy-of-control and review guidance. The workplace risk process, procedures and supervisor approve real controls and PPE.</a:t>
            </a:r>
          </a:p>
          <a:p xmlns:a="http://schemas.openxmlformats.org/drawingml/2006/main">
            <a:r>
              <a:t>- Visual visual-task-01-03: Generated locally from accepted Stage 05 module headings; no external image copied.</a:t>
            </a:r>
          </a:p>
          <a:p xmlns:a="http://schemas.openxmlformats.org/drawingml/2006/main">
            <a:r>
              <a:t>- Course visual manifest: work/pi/visuals/visual-manifest.json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move (worked example and formative check): Use the module visual and the fictional worked example to move students from observation to a source-led decision. Ask students to name the evidence, the authority gap and the next safe communication step.
Misconception and help: Consider what PPE changes and what hazard remains around the wearer. Ask whether the option removes the hazard or mainly protects one person.
Applied action: Build a control comparison. For a fictional teacher-provided hazard, compare one higher-level and one lower-level control. Explain the intended effect and one sign that review is needed. Do not prescribe local PPE or alter equipment.
Boundary: Supplementary learning is grounded in AHCWHS202 Release 1, current SafeWork NSW farming guidance and the authorised teacher-posted safety notes. The current workplace induction, risk process, emergency plan, supervisor directions and RTO assessment package remain controlling. Site responses are formative and do not demonstrate competency.
[Sources]
- Source basis: AHCWHS202 Release 1 and SafeWork NSW First Steps to Farm Safety hierarchy-of-control and review guidance. The workplace risk process, procedures and supervisor approve real controls and PPE.
- Visual visual-task-01-03: Generated locally from accepted Stage 05 module headings; no external image copied.
- Course visual manifest: work/pi/visuals/visual-manifest.json</a:t>
            </a:r>
          </a:p>
          <a:p xmlns:a="http://schemas.openxmlformats.org/drawingml/2006/main">
            <a:r>
              <a:t>Formative check answer: PPE relies on the individual and does not remove the hazard from the work environment.</a:t>
            </a:r>
          </a:p>
          <a:p xmlns:a="http://schemas.openxmlformats.org/drawingml/2006/main">
            <a:r>
              <a:t>Correct feedback: You identified why PPE belongs within a wider hierarchy of control.</a:t>
            </a:r>
          </a:p>
          <a:p xmlns:a="http://schemas.openxmlformats.org/drawingml/2006/main">
            <a:r>
              <a:t>Corrective feedback: Consider what PPE changes and what hazard remains around the wearer.</a:t>
            </a:r>
          </a:p>
          <a:p xmlns:a="http://schemas.openxmlformats.org/drawingml/2006/main">
            <a:r>
              <a:t>Full contextual example: Observed evidence: A fictional store entrance opens directly into a shared vehicle area. Decision and reason: A reminder sign alone still depends on every person seeing and following it. Safe action: The learner reports the interaction and compares higher-level separation with administrative reminders for the supervisor's review. Result: The workplace selects an authorised combination that changes access and communication. Next check or record: The learner observes whether people and vehicles remain separated and reports any control failure.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move (theory and visual): Use the module visual and the fictional worked example to move students from observation to a source-led decision. Ask students to name the evidence, the authority gap and the next safe communication step.</a:t>
            </a:r>
          </a:p>
          <a:p xmlns:a="http://schemas.openxmlformats.org/drawingml/2006/main">
            <a:r>
              <a:t>Misconception and help: Focus on what the event reveals about exposure and control reliability. No injury does not mean no learning.</a:t>
            </a:r>
          </a:p>
          <a:p xmlns:a="http://schemas.openxmlformats.org/drawingml/2006/main">
            <a:r>
              <a:t>Applied action: Rehearse a near-miss brief. Use a fictional teacher-nominated event. Prepare a 30-second factual verbal brief and a five-field written note. Do not enter real names, medical details or local emergency instructions.</a:t>
            </a:r>
          </a:p>
          <a:p xmlns:a="http://schemas.openxmlformats.org/drawingml/2006/main">
            <a:r>
              <a:t>Boundary: Supplementary learning is grounded in AHCWHS202 Release 1, current SafeWork NSW farming guidance and the authorised teacher-posted safety notes. The current workplace induction, risk process, emergency plan, supervisor directions and RTO assessment package remain controlling. Site responses are formative and do not demonstrate competency.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 basis: AHCWHS202 Release 1 and SafeWork NSW farm-safety guidance on reporting hazards, incidents and near misses, consultation, record keeping and reviewing controls. The current workplace process controls emergency, investigation and notification actions.</a:t>
            </a:r>
          </a:p>
          <a:p xmlns:a="http://schemas.openxmlformats.org/drawingml/2006/main">
            <a:r>
              <a:t>- Visual visual-task-01-04: Generated locally from accepted Stage 05 module headings; no external image copied.</a:t>
            </a:r>
          </a:p>
          <a:p xmlns:a="http://schemas.openxmlformats.org/drawingml/2006/main">
            <a:r>
              <a:t>- Course visual manifest: work/pi/visuals/visual-manifest.json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move (worked example and formative check): Use the module visual and the fictional worked example to move students from observation to a source-led decision. Ask students to name the evidence, the authority gap and the next safe communication step.
Misconception and help: Focus on what the event reveals about exposure and control reliability. No injury does not mean no learning.
Applied action: Rehearse a near-miss brief. Use a fictional teacher-nominated event. Prepare a 30-second factual verbal brief and a five-field written note. Do not enter real names, medical details or local emergency instructions.
Boundary: Supplementary learning is grounded in AHCWHS202 Release 1, current SafeWork NSW farming guidance and the authorised teacher-posted safety notes. The current workplace induction, risk process, emergency plan, supervisor directions and RTO assessment package remain controlling. Site responses are formative and do not demonstrate competency.
[Sources]
- Source basis: AHCWHS202 Release 1 and SafeWork NSW farm-safety guidance on reporting hazards, incidents and near misses, consultation, record keeping and reviewing controls. The current workplace process controls emergency, investigation and notification actions.
- Visual visual-task-01-04: Generated locally from accepted Stage 05 module headings; no external image copied.
- Course visual manifest: work/pi/visuals/visual-manifest.json</a:t>
            </a:r>
          </a:p>
          <a:p xmlns:a="http://schemas.openxmlformats.org/drawingml/2006/main">
            <a:r>
              <a:t>Formative check answer: It may reveal a failed control and an exposure that could cause harm next time.</a:t>
            </a:r>
          </a:p>
          <a:p xmlns:a="http://schemas.openxmlformats.org/drawingml/2006/main">
            <a:r>
              <a:t>Correct feedback: You recognised the preventive value of near-miss reporting.</a:t>
            </a:r>
          </a:p>
          <a:p xmlns:a="http://schemas.openxmlformats.org/drawingml/2006/main">
            <a:r>
              <a:t>Corrective feedback: Focus on what the event reveals about exposure and control reliability.</a:t>
            </a:r>
          </a:p>
          <a:p xmlns:a="http://schemas.openxmlformats.org/drawingml/2006/main">
            <a:r>
              <a:t>Full contextual example: Observed evidence: In a fictional storage area, a light crate slides from a low stack and lands beside a worker without contact. Decision and reason: No injury occurred, but the event shows that the storage control may not be reliable. Safe action: The learner keeps outside the affected space and reports the time, location and observed movement through the current workplace channel. Result: The supervisor reviews the area and gives an authorised direction. Next check or record: The learner completes the requested factual note and checks the confirmed control before the next similar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one retrieval question from each module, then direct students to the teacher-nominated learning action. Re-state that site work is formative and that current workplace and RTO processes control real practice and assessment.</a:t>
            </a:r>
          </a:p>
          <a:p xmlns:a="http://schemas.openxmlformats.org/drawingml/2006/main">
            <a:r>
              <a:t>Boundary: Supplementary learning is grounded in AHCWHS202 Release 1, current SafeWork NSW farming guidance and the authorised teacher-posted safety notes. The current workplace induction, risk process, emergency plan, supervisor directions and RTO assessment package remain controlling. Site responses are formative and do not demonstrate competency.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 basis: AHCWHS202 Release 1, SafeWork NSW First Steps to Farm Safety guidance on consultation, induction, worker responsibilities and records, plus authorised teacher-posted safety notes. Current local procedures and the RTO assessment package control real work.</a:t>
            </a:r>
          </a:p>
          <a:p xmlns:a="http://schemas.openxmlformats.org/drawingml/2006/main">
            <a:r>
              <a:t>- Source basis: AHCWHS202 Release 1 and SafeWork NSW First Steps to Farm Safety guidance on identifying hazards, assessing likelihood and severity, monitoring changing farm conditions and reporting. The local risk matrix controls real ratings.</a:t>
            </a:r>
          </a:p>
          <a:p xmlns:a="http://schemas.openxmlformats.org/drawingml/2006/main">
            <a:r>
              <a:t>- Source basis: AHCWHS202 Release 1 and SafeWork NSW First Steps to Farm Safety hierarchy-of-control and review guidance. The workplace risk process, procedures and supervisor approve real controls and PPE.</a:t>
            </a:r>
          </a:p>
          <a:p xmlns:a="http://schemas.openxmlformats.org/drawingml/2006/main">
            <a:r>
              <a:t>- Source basis: AHCWHS202 Release 1 and SafeWork NSW farm-safety guidance on reporting hazards, incidents and near misses, consultation, record keeping and reviewing controls. The current workplace process controls emergency, investigation and notification actions.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c2eeab858849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f8b7beda12433a" /><Relationship Type="http://schemas.openxmlformats.org/officeDocument/2006/relationships/slideLayout" Target="/ppt/slideLayouts/slideLayout1.xml" Id="Rab08a183653e44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08a183653e44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ce59ffd2346fc" /><Relationship Type="http://schemas.openxmlformats.org/officeDocument/2006/relationships/image" Target="/ppt/media/image.png" Id="Re2114d19c0634679" /><Relationship Type="http://schemas.openxmlformats.org/officeDocument/2006/relationships/notesSlide" Target="/ppt/notesSlides/notesSlide1.xml" Id="Rc80fe264e3cd4b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88fc003bd4572" /><Relationship Type="http://schemas.openxmlformats.org/officeDocument/2006/relationships/image" Target="/ppt/media/image2.png" Id="Rfb3fb17045ed49fe" /><Relationship Type="http://schemas.openxmlformats.org/officeDocument/2006/relationships/image" Target="/ppt/media/image.svg" Id="Rb7624e34388743ae" /><Relationship Type="http://schemas.openxmlformats.org/officeDocument/2006/relationships/notesSlide" Target="/ppt/notesSlides/notesSlide2.xml" Id="R4e1943cc4b3447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a08d6acd34faf" /><Relationship Type="http://schemas.openxmlformats.org/officeDocument/2006/relationships/notesSlide" Target="/ppt/notesSlides/notesSlide3.xml" Id="R55a98c38694642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6bb1144194754" /><Relationship Type="http://schemas.openxmlformats.org/officeDocument/2006/relationships/image" Target="/ppt/media/image3.png" Id="Rb8dbc702da884806" /><Relationship Type="http://schemas.openxmlformats.org/officeDocument/2006/relationships/image" Target="/ppt/media/image2.svg" Id="R3e7d8ab81a314735" /><Relationship Type="http://schemas.openxmlformats.org/officeDocument/2006/relationships/notesSlide" Target="/ppt/notesSlides/notesSlide4.xml" Id="R209e3cef150f47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8bd37b88746fb" /><Relationship Type="http://schemas.openxmlformats.org/officeDocument/2006/relationships/notesSlide" Target="/ppt/notesSlides/notesSlide5.xml" Id="R132304c380f947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2540e955048df" /><Relationship Type="http://schemas.openxmlformats.org/officeDocument/2006/relationships/image" Target="/ppt/media/image4.png" Id="R7de7a69afee7430f" /><Relationship Type="http://schemas.openxmlformats.org/officeDocument/2006/relationships/image" Target="/ppt/media/image3.svg" Id="Rc731b3a77bde47f4" /><Relationship Type="http://schemas.openxmlformats.org/officeDocument/2006/relationships/notesSlide" Target="/ppt/notesSlides/notesSlide6.xml" Id="Rbc93790d524748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63983bfda4750" /><Relationship Type="http://schemas.openxmlformats.org/officeDocument/2006/relationships/notesSlide" Target="/ppt/notesSlides/notesSlide7.xml" Id="R63e4617d2fb941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552aef5f440f2" /><Relationship Type="http://schemas.openxmlformats.org/officeDocument/2006/relationships/image" Target="/ppt/media/image5.png" Id="R10e0693ab87c4b79" /><Relationship Type="http://schemas.openxmlformats.org/officeDocument/2006/relationships/image" Target="/ppt/media/image4.svg" Id="R2aea7864c3a849da" /><Relationship Type="http://schemas.openxmlformats.org/officeDocument/2006/relationships/notesSlide" Target="/ppt/notesSlides/notesSlide8.xml" Id="Re3207f7ace6c43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18ca5354944f5" /><Relationship Type="http://schemas.openxmlformats.org/officeDocument/2006/relationships/notesSlide" Target="/ppt/notesSlides/notesSlide9.xml" Id="R01af361728fc41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e1ed3ee5f407f" /><Relationship Type="http://schemas.openxmlformats.org/officeDocument/2006/relationships/notesSlide" Target="/ppt/notesSlides/notesSlide10.xml" Id="R5bf1d5b6735149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E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14d19c0634679"/>
          <a:srcRect xmlns:a="http://schemas.openxmlformats.org/drawingml/2006/main" l="21860" t="0" r="218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0"/>
            <a:ext cx="6858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564D7-D1B7-4A2C-9C87-40383AC1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2A"/>
          </a:solidFill>
          <a:ln xmlns:a="http://schemas.openxmlformats.org/drawingml/2006/main" w="0">
            <a:solidFill>
              <a:srgbClr val="123E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E52EF-3E0F-4C43-A0B8-CAD2AF58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4A62A"/>
                </a:solidFill>
              </a:defRPr>
            </a:pPr>
            <a:r>
              <a:rPr sz="1200" b="1">
                <a:solidFill>
                  <a:srgbClr val="D4A62A"/>
                </a:solidFill>
              </a:rPr>
              <a:t>AHC20122 • CERTIFICATE II IN AGRICULTURE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3E26DDAB-F9FE-4FD8-B56B-233E6A8E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4857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Task 1 · WHS and farm readiness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5E74F-5218-49CF-B745-82D3905F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4667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3EEDF"/>
                </a:solidFill>
              </a:defRPr>
            </a:pPr>
            <a:r>
              <a:rPr sz="1650" b="0">
                <a:solidFill>
                  <a:srgbClr val="F3EEDF"/>
                </a:solidFill>
              </a:rPr>
              <a:t>Recognise farm hazards, reason about risk, choose controls within authority and communicate safety concerns before work begins.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DBA87-206E-40C4-8994-603E4E9A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A62A"/>
                </a:solidFill>
              </a:defRPr>
            </a:pPr>
            <a:r>
              <a:rPr sz="1125" b="1">
                <a:solidFill>
                  <a:srgbClr val="D4A62A"/>
                </a:solidFill>
              </a:rPr>
              <a:t>LEARNING ROUTE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381ED-5F4B-4626-B9D0-0E6DC4A6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86200"/>
            <a:ext cx="47625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01  Farm safety roles and authority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02  Hazards, risks and changing conditions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03  Controls, PPE and residual risk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04  Consult, report and learn from incidents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8CD8E-946A-47A4-96E4-70926041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722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BD6D0"/>
                </a:solidFill>
              </a:defRPr>
            </a:pPr>
            <a:r>
              <a:rPr sz="1050" b="0">
                <a:solidFill>
                  <a:srgbClr val="BBD6D0"/>
                </a:solidFill>
              </a:rPr>
              <a:t>Supplementary learning • current local sources and supervision control real work</a:t>
            </a:r>
          </a:p>
        </p:txBody>
      </p:sp>
    </p:spTree>
    <p:extLst>
      <p:ext uri="{BB962C8B-B14F-4D97-AF65-F5344CB8AC3E}">
        <p14:creationId xmlns:p14="http://schemas.microsoft.com/office/powerpoint/2010/main" val="1142551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6439A3-BECE-4880-9ECE-5F02D332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2A"/>
          </a:solidFill>
          <a:ln xmlns:a="http://schemas.openxmlformats.org/drawingml/2006/main" w="0">
            <a:solidFill>
              <a:srgbClr val="123E2A"/>
            </a:solidFill>
            <a:prstDash val="solid"/>
          </a:ln>
        </p:spPr>
      </p:sp>
      <p:sp>
        <p:nvSpPr>
          <p:cNvPr id="2" name="eyebrow-2">
            <a:extLst xmlns:a="http://schemas.openxmlformats.org/drawingml/2006/main">
              <a:ext uri="{FF2B5EF4-FFF2-40B4-BE49-F238E27FC236}">
                <a16:creationId xmlns:a16="http://schemas.microsoft.com/office/drawing/2014/main" id="{96C52D35-07B1-4D5A-938C-0F5DF552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A62A"/>
                </a:solidFill>
              </a:defRPr>
            </a:pPr>
            <a:r>
              <a:rPr sz="1125" b="1">
                <a:solidFill>
                  <a:srgbClr val="D4A62A"/>
                </a:solidFill>
              </a:rPr>
              <a:t>TASK 01  •  PRIMARY INDUSTRIES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EFDCC884-0918-4F38-8B24-D9DA5F5B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Farm safety roles and authority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8D5EC-D8AD-4F87-9EF4-BC41611F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E65"/>
                </a:solidFill>
              </a:defRPr>
            </a:pPr>
            <a:r>
              <a:rPr sz="900" b="0">
                <a:solidFill>
                  <a:srgbClr val="5B6E65"/>
                </a:solidFill>
              </a:rPr>
              <a:t>AHC20122 PRIMARY INDUSTRIES  •  TASK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C982D-0D61-48F3-9461-349CD086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E65"/>
                </a:solidFill>
              </a:defRPr>
            </a:pPr>
            <a:r>
              <a:rPr sz="900" b="1">
                <a:solidFill>
                  <a:srgbClr val="5B6E65"/>
                </a:solidFill>
              </a:rPr>
              <a:t>2/10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57DCF-18D8-43AF-AE6E-C18DEAC5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6096000" cy="4667250"/>
          </a:xfrm>
          <a:prstGeom xmlns:a="http://schemas.openxmlformats.org/drawingml/2006/main" prst="roundRect">
            <a:avLst>
              <a:gd name="adj" fmla="val 36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3fb17045ed49fe">
            <a:extLst>
              <a:ext uri="{96DAC541-7B7A-43D3-8B79-37D633B846F1}">
                <asvg:svgBlip xmlns:asvg="http://schemas.microsoft.com/office/drawing/2016/SVG/main" r:embed="Rb7624e34388743a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4350" y="1066800"/>
            <a:ext cx="5905500" cy="4476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D4344-E2FC-4CFD-A02E-80A98B9B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06680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F3E"/>
                </a:solidFill>
              </a:defRPr>
            </a:pPr>
            <a:r>
              <a:rPr sz="1125" b="1">
                <a:solidFill>
                  <a:srgbClr val="B45F3E"/>
                </a:solidFill>
              </a:rPr>
              <a:t>NOTICE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91EA6-0697-42C1-A38B-81C12170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428750"/>
            <a:ext cx="4838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E2A"/>
                </a:solidFill>
              </a:defRPr>
            </a:pPr>
            <a:r>
              <a:rPr sz="1725" b="1">
                <a:solidFill>
                  <a:srgbClr val="123E2A"/>
                </a:solidFill>
              </a:rPr>
              <a:t>• Safety is shared, but authority is not equal</a:t>
            </a:r>
          </a:p>
          <a:p xmlns:a="http://schemas.openxmlformats.org/drawingml/2006/main">
            <a:pPr algn="l">
              <a:defRPr sz="1725" b="1">
                <a:solidFill>
                  <a:srgbClr val="123E2A"/>
                </a:solidFill>
              </a:defRPr>
            </a:pPr>
            <a:r>
              <a:rPr sz="1725" b="1">
                <a:solidFill>
                  <a:srgbClr val="123E2A"/>
                </a:solidFill>
              </a:rPr>
              <a:t>• Know what is expected before work begins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7554DF-B9C0-498F-A6E0-8B17AAAE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38400"/>
            <a:ext cx="48387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128"/>
                </a:solidFill>
              </a:defRPr>
            </a:pPr>
            <a:r>
              <a:rPr sz="1500" b="0">
                <a:solidFill>
                  <a:srgbClr val="173128"/>
                </a:solidFill>
              </a:rPr>
              <a:t>A safe farm depends on people at every level noticing hazards, communicating clearly and following agreed controls. An induction explains the rules and hazards of a particular property or work area.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F91278-FCD9-4E89-8DE2-E1056E6B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00550"/>
            <a:ext cx="483870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EEDF"/>
          </a:solidFill>
          <a:ln xmlns:a="http://schemas.openxmlformats.org/drawingml/2006/main" w="9525">
            <a:solidFill>
              <a:srgbClr val="D4A6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5F70E4-299D-4540-ACFC-CC541C1B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33900"/>
            <a:ext cx="4495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E2A"/>
                </a:solidFill>
              </a:defRPr>
            </a:pPr>
            <a:r>
              <a:rPr sz="1350" b="1">
                <a:solidFill>
                  <a:srgbClr val="123E2A"/>
                </a:solidFill>
              </a:rPr>
              <a:t>LOOK FOR</a:t>
            </a:r>
          </a:p>
          <a:p xmlns:a="http://schemas.openxmlformats.org/drawingml/2006/main">
            <a:pPr algn="l">
              <a:defRPr sz="1350" b="1">
                <a:solidFill>
                  <a:srgbClr val="123E2A"/>
                </a:solidFill>
              </a:defRPr>
            </a:pPr>
            <a:r>
              <a:rPr sz="1350" b="1">
                <a:solidFill>
                  <a:srgbClr val="123E2A"/>
                </a:solidFill>
              </a:rPr>
              <a:t>Connect the module's first four teaching ideas before students apply them to a fictional agricultural decision.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7C88A7-83C7-42F9-B001-0E4ACD5D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E65"/>
                </a:solidFill>
              </a:defRPr>
            </a:pPr>
            <a:r>
              <a:rPr sz="1125" b="0">
                <a:solidFill>
                  <a:srgbClr val="5B6E65"/>
                </a:solidFill>
              </a:rPr>
              <a:t>Use the map to connect the lesson ideas, then confirm any real procedure or decision through the current authorised source.</a:t>
            </a:r>
          </a:p>
        </p:txBody>
      </p:sp>
    </p:spTree>
    <p:extLst>
      <p:ext uri="{BB962C8B-B14F-4D97-AF65-F5344CB8AC3E}">
        <p14:creationId xmlns:p14="http://schemas.microsoft.com/office/powerpoint/2010/main" val="6618264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EE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6BCCBF-D1C3-4660-8A15-ECCE0401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2A"/>
          </a:solidFill>
          <a:ln xmlns:a="http://schemas.openxmlformats.org/drawingml/2006/main" w="0">
            <a:solidFill>
              <a:srgbClr val="123E2A"/>
            </a:solidFill>
            <a:prstDash val="solid"/>
          </a:ln>
        </p:spPr>
      </p:sp>
      <p:sp>
        <p:nvSpPr>
          <p:cNvPr id="2" name="eyebrow-3">
            <a:extLst xmlns:a="http://schemas.openxmlformats.org/drawingml/2006/main">
              <a:ext uri="{FF2B5EF4-FFF2-40B4-BE49-F238E27FC236}">
                <a16:creationId xmlns:a16="http://schemas.microsoft.com/office/drawing/2014/main" id="{83CBA039-B2D3-4B37-8CF3-B3E620E6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A62A"/>
                </a:solidFill>
              </a:defRPr>
            </a:pPr>
            <a:r>
              <a:rPr sz="1125" b="1">
                <a:solidFill>
                  <a:srgbClr val="D4A62A"/>
                </a:solidFill>
              </a:rPr>
              <a:t>TASK 01  •  PRIMARY INDUSTRIES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10464655-90CE-40B2-90EE-FD5B1DEA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Farm safety roles and authority: decide from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A812A-9E93-4F86-80BE-D3D917F8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E65"/>
                </a:solidFill>
              </a:defRPr>
            </a:pPr>
            <a:r>
              <a:rPr sz="900" b="0">
                <a:solidFill>
                  <a:srgbClr val="5B6E65"/>
                </a:solidFill>
              </a:rPr>
              <a:t>AHC20122 PRIMARY INDUSTRIES  •  TASK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BBBAE-7E9A-417A-83A8-6EEF07A5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E65"/>
                </a:solidFill>
              </a:defRPr>
            </a:pPr>
            <a:r>
              <a:rPr sz="900" b="1">
                <a:solidFill>
                  <a:srgbClr val="5B6E65"/>
                </a:solidFill>
              </a:rPr>
              <a:t>3/10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31773-04A7-4C23-B100-26BF751D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6800850" cy="5010150"/>
          </a:xfrm>
          <a:prstGeom xmlns:a="http://schemas.openxmlformats.org/drawingml/2006/main" prst="roundRect">
            <a:avLst>
              <a:gd name="adj" fmla="val 34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C9404-09F4-4841-AF53-8E0EBFAF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F3E"/>
                </a:solidFill>
              </a:defRPr>
            </a:pPr>
            <a:r>
              <a:rPr sz="1125" b="1">
                <a:solidFill>
                  <a:srgbClr val="B45F3E"/>
                </a:solidFill>
              </a:rPr>
              <a:t>FICTIONAL WORKPLACE EXAMPLE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04150-335E-4C1F-9D34-BC17025B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6191250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128"/>
                </a:solidFill>
              </a:defRPr>
            </a:pPr>
            <a:r>
              <a:rPr sz="1425" b="0">
                <a:solidFill>
                  <a:srgbClr val="173128"/>
                </a:solidFill>
              </a:rPr>
              <a:t>OBSERVE  On a fictional training farm, Lee is asked to move supplies to a shed but sees a new washout across the usual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3128"/>
                </a:solidFill>
              </a:defRPr>
            </a:pPr>
            <a:r>
              <a:rPr sz="1425" b="0">
                <a:solidFill>
                  <a:srgbClr val="173128"/>
                </a:solidFill>
              </a:rPr>
              <a:t>DECIDE   Lee does not choose another route independently because property access is locally controlled.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3128"/>
                </a:solidFill>
              </a:defRPr>
            </a:pPr>
            <a:r>
              <a:rPr sz="1425" b="0">
                <a:solidFill>
                  <a:srgbClr val="173128"/>
                </a:solidFill>
              </a:rPr>
              <a:t>ACT      Lee pauses and tells the supervisor the exact location and visible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3128"/>
                </a:solidFill>
              </a:defRPr>
            </a:pPr>
            <a:r>
              <a:rPr sz="1425" b="0">
                <a:solidFill>
                  <a:srgbClr val="173128"/>
                </a:solidFill>
              </a:rPr>
              <a:t>RECORD   Lee checks that the changed direction is understood and notes the hazard through the workplace's current reporting process.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70D55-A759-4E01-A631-CEC25D39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028700"/>
            <a:ext cx="4019550" cy="5010150"/>
          </a:xfrm>
          <a:prstGeom xmlns:a="http://schemas.openxmlformats.org/drawingml/2006/main" prst="roundRect">
            <a:avLst>
              <a:gd name="adj" fmla="val 4265"/>
            </a:avLst>
          </a:prstGeom>
          <a:solidFill xmlns:a="http://schemas.openxmlformats.org/drawingml/2006/main">
            <a:srgbClr val="123E2A"/>
          </a:solidFill>
          <a:ln xmlns:a="http://schemas.openxmlformats.org/drawingml/2006/main" w="0">
            <a:solidFill>
              <a:srgbClr val="123E2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958DD7-1108-4D0C-8886-D2B5D477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57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A62A"/>
                </a:solidFill>
              </a:defRPr>
            </a:pPr>
            <a:r>
              <a:rPr sz="1125" b="1">
                <a:solidFill>
                  <a:srgbClr val="D4A62A"/>
                </a:solidFill>
              </a:rPr>
              <a:t>CHECK YOUR 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EF69BF-750E-4F76-A624-5B8BF641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42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 learner understands the task but does not know who can approve a changed route. What is the strongest response?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98BD8B-EA81-4E1D-A4CC-17496269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95600"/>
            <a:ext cx="34290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3EEDF"/>
                </a:solidFill>
              </a:defRPr>
            </a:pPr>
            <a:r>
              <a:rPr sz="1350" b="0">
                <a:solidFill>
                  <a:srgbClr val="F3EEDF"/>
                </a:solidFill>
              </a:rPr>
              <a:t>A  Choose the route that looks shortest and mention it later.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3EEDF"/>
                </a:solidFill>
              </a:defRPr>
            </a:pPr>
            <a:r>
              <a:rPr sz="1350" b="0">
                <a:solidFill>
                  <a:srgbClr val="F3EEDF"/>
                </a:solidFill>
              </a:rPr>
              <a:t>B  Pause and ask the designated supervisor who controls the access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3EEDF"/>
                </a:solidFill>
              </a:defRPr>
            </a:pPr>
            <a:r>
              <a:rPr sz="1350" b="0">
                <a:solidFill>
                  <a:srgbClr val="F3EEDF"/>
                </a:solidFill>
              </a:rPr>
              <a:t>C  Wait silently until another worker takes the lead.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79931B-85AD-4D31-9245-18FE113C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BD6D0"/>
                </a:solidFill>
              </a:defRPr>
            </a:pPr>
            <a:r>
              <a:rPr sz="1200" b="1">
                <a:solidFill>
                  <a:srgbClr val="BBD6D0"/>
                </a:solidFill>
              </a:rPr>
              <a:t>HELP  Ask: What is unclear, and who is authorised to confirm it?</a:t>
            </a:r>
          </a:p>
        </p:txBody>
      </p:sp>
    </p:spTree>
    <p:extLst>
      <p:ext uri="{BB962C8B-B14F-4D97-AF65-F5344CB8AC3E}">
        <p14:creationId xmlns:p14="http://schemas.microsoft.com/office/powerpoint/2010/main" val="181284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9672E3-4220-47EA-9559-E1C1A23C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2A"/>
          </a:solidFill>
          <a:ln xmlns:a="http://schemas.openxmlformats.org/drawingml/2006/main" w="0">
            <a:solidFill>
              <a:srgbClr val="123E2A"/>
            </a:solidFill>
            <a:prstDash val="solid"/>
          </a:ln>
        </p:spPr>
      </p:sp>
      <p:sp>
        <p:nvSpPr>
          <p:cNvPr id="2" name="eyebrow-4">
            <a:extLst xmlns:a="http://schemas.openxmlformats.org/drawingml/2006/main">
              <a:ext uri="{FF2B5EF4-FFF2-40B4-BE49-F238E27FC236}">
                <a16:creationId xmlns:a16="http://schemas.microsoft.com/office/drawing/2014/main" id="{4CC9AECE-4C2E-4867-A3F6-B4AC33B8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A62A"/>
                </a:solidFill>
              </a:defRPr>
            </a:pPr>
            <a:r>
              <a:rPr sz="1125" b="1">
                <a:solidFill>
                  <a:srgbClr val="D4A62A"/>
                </a:solidFill>
              </a:rPr>
              <a:t>TASK 01  •  PRIMARY INDUSTRIES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D0C2DF8A-C252-4365-8953-02F2C205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Hazards, risks and changing conditions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C08416-2A5B-4250-B580-9C1EB5B3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E65"/>
                </a:solidFill>
              </a:defRPr>
            </a:pPr>
            <a:r>
              <a:rPr sz="900" b="0">
                <a:solidFill>
                  <a:srgbClr val="5B6E65"/>
                </a:solidFill>
              </a:rPr>
              <a:t>AHC20122 PRIMARY INDUSTRIES  •  TASK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84530-9703-42AA-A7B7-5B471D09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E65"/>
                </a:solidFill>
              </a:defRPr>
            </a:pPr>
            <a:r>
              <a:rPr sz="900" b="1">
                <a:solidFill>
                  <a:srgbClr val="5B6E65"/>
                </a:solidFill>
              </a:rPr>
              <a:t>4/10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789CE3-D523-4662-BDCC-35514A63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971550"/>
            <a:ext cx="6096000" cy="4667250"/>
          </a:xfrm>
          <a:prstGeom xmlns:a="http://schemas.openxmlformats.org/drawingml/2006/main" prst="roundRect">
            <a:avLst>
              <a:gd name="adj" fmla="val 36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dbc702da884806">
            <a:extLst>
              <a:ext uri="{96DAC541-7B7A-43D3-8B79-37D633B846F1}">
                <asvg:svgBlip xmlns:asvg="http://schemas.microsoft.com/office/drawing/2016/SVG/main" r:embed="R3e7d8ab81a31473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72150" y="1066800"/>
            <a:ext cx="5905500" cy="4476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92DF6-C9FF-4B5E-AB8E-737FD1E1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F3E"/>
                </a:solidFill>
              </a:defRPr>
            </a:pPr>
            <a:r>
              <a:rPr sz="1125" b="1">
                <a:solidFill>
                  <a:srgbClr val="B45F3E"/>
                </a:solidFill>
              </a:rPr>
              <a:t>NOTICE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2507C-0F27-444A-8166-3E3D3E82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4838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E2A"/>
                </a:solidFill>
              </a:defRPr>
            </a:pPr>
            <a:r>
              <a:rPr sz="1725" b="1">
                <a:solidFill>
                  <a:srgbClr val="123E2A"/>
                </a:solidFill>
              </a:rPr>
              <a:t>• A hazard is not the same as risk</a:t>
            </a:r>
          </a:p>
          <a:p xmlns:a="http://schemas.openxmlformats.org/drawingml/2006/main">
            <a:pPr algn="l">
              <a:defRPr sz="1725" b="1">
                <a:solidFill>
                  <a:srgbClr val="123E2A"/>
                </a:solidFill>
              </a:defRPr>
            </a:pPr>
            <a:r>
              <a:rPr sz="1725" b="1">
                <a:solidFill>
                  <a:srgbClr val="123E2A"/>
                </a:solidFill>
              </a:rPr>
              <a:t>• Start with observable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B9BF52-AD33-4E50-A6E7-BA5FC891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38400"/>
            <a:ext cx="48387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128"/>
                </a:solidFill>
              </a:defRPr>
            </a:pPr>
            <a:r>
              <a:rPr sz="1500" b="0">
                <a:solidFill>
                  <a:srgbClr val="173128"/>
                </a:solidFill>
              </a:rPr>
              <a:t>A hazard is a source or situation with the potential to cause harm. Strong hazard recognition describes what can be seen, heard, measured or reliably reported.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0A4DA5-4D49-4D83-B082-3612435F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483870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EEDF"/>
          </a:solidFill>
          <a:ln xmlns:a="http://schemas.openxmlformats.org/drawingml/2006/main" w="9525">
            <a:solidFill>
              <a:srgbClr val="D4A6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35E4FD-F6C0-47EB-A109-6E1724FB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4495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E2A"/>
                </a:solidFill>
              </a:defRPr>
            </a:pPr>
            <a:r>
              <a:rPr sz="1350" b="1">
                <a:solidFill>
                  <a:srgbClr val="123E2A"/>
                </a:solidFill>
              </a:rPr>
              <a:t>LOOK FOR</a:t>
            </a:r>
          </a:p>
          <a:p xmlns:a="http://schemas.openxmlformats.org/drawingml/2006/main">
            <a:pPr algn="l">
              <a:defRPr sz="1350" b="1">
                <a:solidFill>
                  <a:srgbClr val="123E2A"/>
                </a:solidFill>
              </a:defRPr>
            </a:pPr>
            <a:r>
              <a:rPr sz="1350" b="1">
                <a:solidFill>
                  <a:srgbClr val="123E2A"/>
                </a:solidFill>
              </a:rPr>
              <a:t>Connect the module's first four teaching ideas before students apply them to a fictional agricultural decision.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522D7-3E6D-4412-BA50-A88854E1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E65"/>
                </a:solidFill>
              </a:defRPr>
            </a:pPr>
            <a:r>
              <a:rPr sz="1125" b="0">
                <a:solidFill>
                  <a:srgbClr val="5B6E65"/>
                </a:solidFill>
              </a:rPr>
              <a:t>Use the map to connect the lesson ideas, then confirm any real procedure or decision through the current authorised source.</a:t>
            </a:r>
          </a:p>
        </p:txBody>
      </p:sp>
    </p:spTree>
    <p:extLst>
      <p:ext uri="{BB962C8B-B14F-4D97-AF65-F5344CB8AC3E}">
        <p14:creationId xmlns:p14="http://schemas.microsoft.com/office/powerpoint/2010/main" val="14458280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EE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35279-F1B2-45FF-9F88-574B8426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2A"/>
          </a:solidFill>
          <a:ln xmlns:a="http://schemas.openxmlformats.org/drawingml/2006/main" w="0">
            <a:solidFill>
              <a:srgbClr val="123E2A"/>
            </a:solidFill>
            <a:prstDash val="solid"/>
          </a:ln>
        </p:spPr>
      </p:sp>
      <p:sp>
        <p:nvSpPr>
          <p:cNvPr id="2" name="eyebrow-5">
            <a:extLst xmlns:a="http://schemas.openxmlformats.org/drawingml/2006/main">
              <a:ext uri="{FF2B5EF4-FFF2-40B4-BE49-F238E27FC236}">
                <a16:creationId xmlns:a16="http://schemas.microsoft.com/office/drawing/2014/main" id="{5F38B923-C78D-40F1-AF9F-8AE3F5C1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A62A"/>
                </a:solidFill>
              </a:defRPr>
            </a:pPr>
            <a:r>
              <a:rPr sz="1125" b="1">
                <a:solidFill>
                  <a:srgbClr val="D4A62A"/>
                </a:solidFill>
              </a:rPr>
              <a:t>TASK 01  •  PRIMARY INDUSTRIES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B5C758A7-FB35-42B2-A7CC-F395F24A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Hazards, risks and changing conditions: decide from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544B53-8959-474C-8D40-30C5F34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E65"/>
                </a:solidFill>
              </a:defRPr>
            </a:pPr>
            <a:r>
              <a:rPr sz="900" b="0">
                <a:solidFill>
                  <a:srgbClr val="5B6E65"/>
                </a:solidFill>
              </a:rPr>
              <a:t>AHC20122 PRIMARY INDUSTRIES  •  TASK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D41B1-E1DC-458F-B728-BBC549CA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E65"/>
                </a:solidFill>
              </a:defRPr>
            </a:pPr>
            <a:r>
              <a:rPr sz="900" b="1">
                <a:solidFill>
                  <a:srgbClr val="5B6E65"/>
                </a:solidFill>
              </a:rPr>
              <a:t>5/10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F7F5F2-B78F-4AD9-99FA-1C161C7A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6800850" cy="5010150"/>
          </a:xfrm>
          <a:prstGeom xmlns:a="http://schemas.openxmlformats.org/drawingml/2006/main" prst="roundRect">
            <a:avLst>
              <a:gd name="adj" fmla="val 34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D2060-D4DB-4D42-8CBE-0C7C270C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F3E"/>
                </a:solidFill>
              </a:defRPr>
            </a:pPr>
            <a:r>
              <a:rPr sz="1125" b="1">
                <a:solidFill>
                  <a:srgbClr val="B45F3E"/>
                </a:solidFill>
              </a:rPr>
              <a:t>FICTIONAL WORKPLACE EXAMPLE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AFD47-8736-4C66-A549-5F5EEC27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6191250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128"/>
                </a:solidFill>
              </a:defRPr>
            </a:pPr>
            <a:r>
              <a:rPr sz="1425" b="0">
                <a:solidFill>
                  <a:srgbClr val="173128"/>
                </a:solidFill>
              </a:rPr>
              <a:t>OBSERVE  A fictional team planned to carry empty crates along a firm lane, but rain has made a section muddy and a delivery vehicle is now reversing nearby.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3128"/>
                </a:solidFill>
              </a:defRPr>
            </a:pPr>
            <a:r>
              <a:rPr sz="1425" b="0">
                <a:solidFill>
                  <a:srgbClr val="173128"/>
                </a:solidFill>
              </a:rPr>
              <a:t>DECIDE   The original exposure has changed because footing and vehicle movement now overlap.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3128"/>
                </a:solidFill>
              </a:defRPr>
            </a:pPr>
            <a:r>
              <a:rPr sz="1425" b="0">
                <a:solidFill>
                  <a:srgbClr val="173128"/>
                </a:solidFill>
              </a:rPr>
              <a:t>ACT      The learner pauses outside the affected area and reports both observations.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3128"/>
                </a:solidFill>
              </a:defRPr>
            </a:pPr>
            <a:r>
              <a:rPr sz="1425" b="0">
                <a:solidFill>
                  <a:srgbClr val="173128"/>
                </a:solidFill>
              </a:rPr>
              <a:t>RECORD   The learner records the changed conditions and the confirmed direction, without inventing a risk score.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53308-2FF7-4648-B64F-2010D87A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028700"/>
            <a:ext cx="4019550" cy="5010150"/>
          </a:xfrm>
          <a:prstGeom xmlns:a="http://schemas.openxmlformats.org/drawingml/2006/main" prst="roundRect">
            <a:avLst>
              <a:gd name="adj" fmla="val 4265"/>
            </a:avLst>
          </a:prstGeom>
          <a:solidFill xmlns:a="http://schemas.openxmlformats.org/drawingml/2006/main">
            <a:srgbClr val="123E2A"/>
          </a:solidFill>
          <a:ln xmlns:a="http://schemas.openxmlformats.org/drawingml/2006/main" w="0">
            <a:solidFill>
              <a:srgbClr val="123E2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1F629-7BF2-4C08-9A38-43660002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57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A62A"/>
                </a:solidFill>
              </a:defRPr>
            </a:pPr>
            <a:r>
              <a:rPr sz="1125" b="1">
                <a:solidFill>
                  <a:srgbClr val="D4A62A"/>
                </a:solidFill>
              </a:rPr>
              <a:t>CHECK YOUR 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7E61E2-5C41-4FB4-A9DC-263EFEA1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42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Which statement correctly separates a hazard from risk?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66486E-E676-4B91-A82C-F13B219C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95600"/>
            <a:ext cx="34290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3EEDF"/>
                </a:solidFill>
              </a:defRPr>
            </a:pPr>
            <a:r>
              <a:rPr sz="1350" b="0">
                <a:solidFill>
                  <a:srgbClr val="F3EEDF"/>
                </a:solidFill>
              </a:rPr>
              <a:t>A  A moving vehicle is a hazard; the chance and seriousness of a collision depend on the people, route and conditions.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3EEDF"/>
                </a:solidFill>
              </a:defRPr>
            </a:pPr>
            <a:r>
              <a:rPr sz="1350" b="0">
                <a:solidFill>
                  <a:srgbClr val="F3EEDF"/>
                </a:solidFill>
              </a:rPr>
              <a:t>B  A hazard and a risk are two names for the same completed injury.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3EEDF"/>
                </a:solidFill>
              </a:defRPr>
            </a:pPr>
            <a:r>
              <a:rPr sz="1350" b="0">
                <a:solidFill>
                  <a:srgbClr val="F3EEDF"/>
                </a:solidFill>
              </a:rPr>
              <a:t>C  Risk means how much time a control will add to the job.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58BFFF-03C5-49F2-B1EF-48DBB965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BD6D0"/>
                </a:solidFill>
              </a:defRPr>
            </a:pPr>
            <a:r>
              <a:rPr sz="1200" b="1">
                <a:solidFill>
                  <a:srgbClr val="BBD6D0"/>
                </a:solidFill>
              </a:rPr>
              <a:t>HELP  Hazard equals potential source; risk equals possible harm in context.</a:t>
            </a:r>
          </a:p>
        </p:txBody>
      </p:sp>
    </p:spTree>
    <p:extLst>
      <p:ext uri="{BB962C8B-B14F-4D97-AF65-F5344CB8AC3E}">
        <p14:creationId xmlns:p14="http://schemas.microsoft.com/office/powerpoint/2010/main" val="3793908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746D49-B92E-4B20-A0C8-EAF916B6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2A"/>
          </a:solidFill>
          <a:ln xmlns:a="http://schemas.openxmlformats.org/drawingml/2006/main" w="0">
            <a:solidFill>
              <a:srgbClr val="123E2A"/>
            </a:solidFill>
            <a:prstDash val="solid"/>
          </a:ln>
        </p:spPr>
      </p:sp>
      <p:sp>
        <p:nvSpPr>
          <p:cNvPr id="2" name="eyebrow-6">
            <a:extLst xmlns:a="http://schemas.openxmlformats.org/drawingml/2006/main">
              <a:ext uri="{FF2B5EF4-FFF2-40B4-BE49-F238E27FC236}">
                <a16:creationId xmlns:a16="http://schemas.microsoft.com/office/drawing/2014/main" id="{F945E7FF-8494-4ECB-B368-D8EDADEA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A62A"/>
                </a:solidFill>
              </a:defRPr>
            </a:pPr>
            <a:r>
              <a:rPr sz="1125" b="1">
                <a:solidFill>
                  <a:srgbClr val="D4A62A"/>
                </a:solidFill>
              </a:rPr>
              <a:t>TASK 01  •  PRIMARY INDUSTRIES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93975320-E7B7-4F80-9AFD-7198ACC8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Controls, PPE and residual risk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44FB4-DA55-4867-8D2B-9C60D308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E65"/>
                </a:solidFill>
              </a:defRPr>
            </a:pPr>
            <a:r>
              <a:rPr sz="900" b="0">
                <a:solidFill>
                  <a:srgbClr val="5B6E65"/>
                </a:solidFill>
              </a:rPr>
              <a:t>AHC20122 PRIMARY INDUSTRIES  •  TASK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31862-E884-43BD-B91C-87F20BC3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E65"/>
                </a:solidFill>
              </a:defRPr>
            </a:pPr>
            <a:r>
              <a:rPr sz="900" b="1">
                <a:solidFill>
                  <a:srgbClr val="5B6E65"/>
                </a:solidFill>
              </a:rPr>
              <a:t>6/10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01331-A43A-4512-B2C2-8796BCDD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6096000" cy="4667250"/>
          </a:xfrm>
          <a:prstGeom xmlns:a="http://schemas.openxmlformats.org/drawingml/2006/main" prst="roundRect">
            <a:avLst>
              <a:gd name="adj" fmla="val 36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7a69afee7430f">
            <a:extLst>
              <a:ext uri="{96DAC541-7B7A-43D3-8B79-37D633B846F1}">
                <asvg:svgBlip xmlns:asvg="http://schemas.microsoft.com/office/drawing/2016/SVG/main" r:embed="Rc731b3a77bde47f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4350" y="1066800"/>
            <a:ext cx="5905500" cy="4476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B06DF-5878-4570-B2BE-ACA8F929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06680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F3E"/>
                </a:solidFill>
              </a:defRPr>
            </a:pPr>
            <a:r>
              <a:rPr sz="1125" b="1">
                <a:solidFill>
                  <a:srgbClr val="B45F3E"/>
                </a:solidFill>
              </a:rPr>
              <a:t>NOTICE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4BA281-8415-4AA3-84C2-FE4BEC40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428750"/>
            <a:ext cx="4838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E2A"/>
                </a:solidFill>
              </a:defRPr>
            </a:pPr>
            <a:r>
              <a:rPr sz="1725" b="1">
                <a:solidFill>
                  <a:srgbClr val="123E2A"/>
                </a:solidFill>
              </a:rPr>
              <a:t>• Controls change exposure</a:t>
            </a:r>
          </a:p>
          <a:p xmlns:a="http://schemas.openxmlformats.org/drawingml/2006/main">
            <a:pPr algn="l">
              <a:defRPr sz="1725" b="1">
                <a:solidFill>
                  <a:srgbClr val="123E2A"/>
                </a:solidFill>
              </a:defRPr>
            </a:pPr>
            <a:r>
              <a:rPr sz="1725" b="1">
                <a:solidFill>
                  <a:srgbClr val="123E2A"/>
                </a:solidFill>
              </a:rPr>
              <a:t>• Begin at the top of the hierarchy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885AC3-D334-4493-AB5C-969E0DF5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38400"/>
            <a:ext cx="48387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128"/>
                </a:solidFill>
              </a:defRPr>
            </a:pPr>
            <a:r>
              <a:rPr sz="1500" b="0">
                <a:solidFill>
                  <a:srgbClr val="173128"/>
                </a:solidFill>
              </a:rPr>
              <a:t>A control is an action or condition intended to eliminate a hazard or reduce the chance or consequence of harm. Elimination removes the hazard from the task.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D24F8A-E958-410C-A657-F0EBD06D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00550"/>
            <a:ext cx="483870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EEDF"/>
          </a:solidFill>
          <a:ln xmlns:a="http://schemas.openxmlformats.org/drawingml/2006/main" w="9525">
            <a:solidFill>
              <a:srgbClr val="D4A6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23299-3A72-4B98-A2D3-BBEB4599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33900"/>
            <a:ext cx="4495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E2A"/>
                </a:solidFill>
              </a:defRPr>
            </a:pPr>
            <a:r>
              <a:rPr sz="1350" b="1">
                <a:solidFill>
                  <a:srgbClr val="123E2A"/>
                </a:solidFill>
              </a:rPr>
              <a:t>LOOK FOR</a:t>
            </a:r>
          </a:p>
          <a:p xmlns:a="http://schemas.openxmlformats.org/drawingml/2006/main">
            <a:pPr algn="l">
              <a:defRPr sz="1350" b="1">
                <a:solidFill>
                  <a:srgbClr val="123E2A"/>
                </a:solidFill>
              </a:defRPr>
            </a:pPr>
            <a:r>
              <a:rPr sz="1350" b="1">
                <a:solidFill>
                  <a:srgbClr val="123E2A"/>
                </a:solidFill>
              </a:rPr>
              <a:t>Connect the module's first four teaching ideas before students apply them to a fictional agricultural decision.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440A21-E49E-45A6-8827-1E32BDA9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E65"/>
                </a:solidFill>
              </a:defRPr>
            </a:pPr>
            <a:r>
              <a:rPr sz="1125" b="0">
                <a:solidFill>
                  <a:srgbClr val="5B6E65"/>
                </a:solidFill>
              </a:rPr>
              <a:t>Use the map to connect the lesson ideas, then confirm any real procedure or decision through the current authorised source.</a:t>
            </a:r>
          </a:p>
        </p:txBody>
      </p:sp>
    </p:spTree>
    <p:extLst>
      <p:ext uri="{BB962C8B-B14F-4D97-AF65-F5344CB8AC3E}">
        <p14:creationId xmlns:p14="http://schemas.microsoft.com/office/powerpoint/2010/main" val="20284560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EE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14DB39-83A6-4576-B5B7-07F77B45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2A"/>
          </a:solidFill>
          <a:ln xmlns:a="http://schemas.openxmlformats.org/drawingml/2006/main" w="0">
            <a:solidFill>
              <a:srgbClr val="123E2A"/>
            </a:solidFill>
            <a:prstDash val="solid"/>
          </a:ln>
        </p:spPr>
      </p:sp>
      <p:sp>
        <p:nvSpPr>
          <p:cNvPr id="2" name="eyebrow-7">
            <a:extLst xmlns:a="http://schemas.openxmlformats.org/drawingml/2006/main">
              <a:ext uri="{FF2B5EF4-FFF2-40B4-BE49-F238E27FC236}">
                <a16:creationId xmlns:a16="http://schemas.microsoft.com/office/drawing/2014/main" id="{7BFD5BED-A05D-45EB-B6A4-A2868663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A62A"/>
                </a:solidFill>
              </a:defRPr>
            </a:pPr>
            <a:r>
              <a:rPr sz="1125" b="1">
                <a:solidFill>
                  <a:srgbClr val="D4A62A"/>
                </a:solidFill>
              </a:rPr>
              <a:t>TASK 01  •  PRIMARY INDUSTRIES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0C8EEDCD-1344-4FA0-85B4-D6C66023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Controls, PPE and residual risk: decide from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059F7D-840F-4E80-88D7-B9CFE70E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E65"/>
                </a:solidFill>
              </a:defRPr>
            </a:pPr>
            <a:r>
              <a:rPr sz="900" b="0">
                <a:solidFill>
                  <a:srgbClr val="5B6E65"/>
                </a:solidFill>
              </a:rPr>
              <a:t>AHC20122 PRIMARY INDUSTRIES  •  TASK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FBEE9-7976-4E0C-8433-E3A1A1F8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E65"/>
                </a:solidFill>
              </a:defRPr>
            </a:pPr>
            <a:r>
              <a:rPr sz="900" b="1">
                <a:solidFill>
                  <a:srgbClr val="5B6E65"/>
                </a:solidFill>
              </a:rPr>
              <a:t>7/10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99DA18-0551-4480-9E07-ABA5842F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6800850" cy="5010150"/>
          </a:xfrm>
          <a:prstGeom xmlns:a="http://schemas.openxmlformats.org/drawingml/2006/main" prst="roundRect">
            <a:avLst>
              <a:gd name="adj" fmla="val 34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C6C966-2F8B-45A7-8A86-CC635970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F3E"/>
                </a:solidFill>
              </a:defRPr>
            </a:pPr>
            <a:r>
              <a:rPr sz="1125" b="1">
                <a:solidFill>
                  <a:srgbClr val="B45F3E"/>
                </a:solidFill>
              </a:rPr>
              <a:t>FICTIONAL WORKPLACE EXAMPLE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2A542-81FD-48BA-BD07-8570D1D9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6191250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128"/>
                </a:solidFill>
              </a:defRPr>
            </a:pPr>
            <a:r>
              <a:rPr sz="1425" b="0">
                <a:solidFill>
                  <a:srgbClr val="173128"/>
                </a:solidFill>
              </a:rPr>
              <a:t>OBSERVE  A fictional store entrance opens directly into a shared vehicle area.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3128"/>
                </a:solidFill>
              </a:defRPr>
            </a:pPr>
            <a:r>
              <a:rPr sz="1425" b="0">
                <a:solidFill>
                  <a:srgbClr val="173128"/>
                </a:solidFill>
              </a:rPr>
              <a:t>DECIDE   A reminder sign alone still depends on every person seeing and following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3128"/>
                </a:solidFill>
              </a:defRPr>
            </a:pPr>
            <a:r>
              <a:rPr sz="1425" b="0">
                <a:solidFill>
                  <a:srgbClr val="173128"/>
                </a:solidFill>
              </a:rPr>
              <a:t>ACT      The learner reports the interaction and compares higher-level separation with administrative reminders for the supervisor's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3128"/>
                </a:solidFill>
              </a:defRPr>
            </a:pPr>
            <a:r>
              <a:rPr sz="1425" b="0">
                <a:solidFill>
                  <a:srgbClr val="173128"/>
                </a:solidFill>
              </a:rPr>
              <a:t>RECORD   The learner observes whether people and vehicles remain separated and reports any control failure.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4C5992-F396-4059-B2AF-428A06FD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028700"/>
            <a:ext cx="4019550" cy="5010150"/>
          </a:xfrm>
          <a:prstGeom xmlns:a="http://schemas.openxmlformats.org/drawingml/2006/main" prst="roundRect">
            <a:avLst>
              <a:gd name="adj" fmla="val 4265"/>
            </a:avLst>
          </a:prstGeom>
          <a:solidFill xmlns:a="http://schemas.openxmlformats.org/drawingml/2006/main">
            <a:srgbClr val="123E2A"/>
          </a:solidFill>
          <a:ln xmlns:a="http://schemas.openxmlformats.org/drawingml/2006/main" w="0">
            <a:solidFill>
              <a:srgbClr val="123E2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202AB1-A710-42DA-9239-0B4D13E7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57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A62A"/>
                </a:solidFill>
              </a:defRPr>
            </a:pPr>
            <a:r>
              <a:rPr sz="1125" b="1">
                <a:solidFill>
                  <a:srgbClr val="D4A62A"/>
                </a:solidFill>
              </a:rPr>
              <a:t>CHECK YOUR 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B2C350-C632-4B71-8CCC-A8592975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42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Why is PPE usually not the first or only control considered?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A8CFEA-6278-4225-9F52-8BA02618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95600"/>
            <a:ext cx="34290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3EEDF"/>
                </a:solidFill>
              </a:defRPr>
            </a:pPr>
            <a:r>
              <a:rPr sz="1350" b="0">
                <a:solidFill>
                  <a:srgbClr val="F3EEDF"/>
                </a:solidFill>
              </a:rPr>
              <a:t>A  PPE is never useful on farms.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3EEDF"/>
                </a:solidFill>
              </a:defRPr>
            </a:pPr>
            <a:r>
              <a:rPr sz="1350" b="0">
                <a:solidFill>
                  <a:srgbClr val="F3EEDF"/>
                </a:solidFill>
              </a:rPr>
              <a:t>B  PPE relies on the individual and does not remove the hazard from the work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3EEDF"/>
                </a:solidFill>
              </a:defRPr>
            </a:pPr>
            <a:r>
              <a:rPr sz="1350" b="0">
                <a:solidFill>
                  <a:srgbClr val="F3EEDF"/>
                </a:solidFill>
              </a:rPr>
              <a:t>C  PPE is only allowed after an incident.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E5D094-0791-43C7-838F-123DEBA7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BD6D0"/>
                </a:solidFill>
              </a:defRPr>
            </a:pPr>
            <a:r>
              <a:rPr sz="1200" b="1">
                <a:solidFill>
                  <a:srgbClr val="BBD6D0"/>
                </a:solidFill>
              </a:rPr>
              <a:t>HELP  Ask whether the option removes the hazard or mainly protects one person.</a:t>
            </a:r>
          </a:p>
        </p:txBody>
      </p:sp>
    </p:spTree>
    <p:extLst>
      <p:ext uri="{BB962C8B-B14F-4D97-AF65-F5344CB8AC3E}">
        <p14:creationId xmlns:p14="http://schemas.microsoft.com/office/powerpoint/2010/main" val="17286441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272EEE-FCA2-48A9-B1E3-48A7A323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2A"/>
          </a:solidFill>
          <a:ln xmlns:a="http://schemas.openxmlformats.org/drawingml/2006/main" w="0">
            <a:solidFill>
              <a:srgbClr val="123E2A"/>
            </a:solidFill>
            <a:prstDash val="solid"/>
          </a:ln>
        </p:spPr>
      </p:sp>
      <p:sp>
        <p:nvSpPr>
          <p:cNvPr id="2" name="eyebrow-8">
            <a:extLst xmlns:a="http://schemas.openxmlformats.org/drawingml/2006/main">
              <a:ext uri="{FF2B5EF4-FFF2-40B4-BE49-F238E27FC236}">
                <a16:creationId xmlns:a16="http://schemas.microsoft.com/office/drawing/2014/main" id="{E1970E86-5197-48AB-B69F-C1ED203D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A62A"/>
                </a:solidFill>
              </a:defRPr>
            </a:pPr>
            <a:r>
              <a:rPr sz="1125" b="1">
                <a:solidFill>
                  <a:srgbClr val="D4A62A"/>
                </a:solidFill>
              </a:rPr>
              <a:t>TASK 01  •  PRIMARY INDUSTRIES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DA4879A4-178B-4903-8D35-62E3C03A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Consult, report and learn from incidents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68F55C-1062-4838-BFC7-C53B29F6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E65"/>
                </a:solidFill>
              </a:defRPr>
            </a:pPr>
            <a:r>
              <a:rPr sz="900" b="0">
                <a:solidFill>
                  <a:srgbClr val="5B6E65"/>
                </a:solidFill>
              </a:rPr>
              <a:t>AHC20122 PRIMARY INDUSTRIES  •  TASK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1D447-728D-46C5-BEAB-27FC1BDC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E65"/>
                </a:solidFill>
              </a:defRPr>
            </a:pPr>
            <a:r>
              <a:rPr sz="900" b="1">
                <a:solidFill>
                  <a:srgbClr val="5B6E65"/>
                </a:solidFill>
              </a:rPr>
              <a:t>8/10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270A6-B8FE-47A7-AC51-352141F8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971550"/>
            <a:ext cx="6096000" cy="4667250"/>
          </a:xfrm>
          <a:prstGeom xmlns:a="http://schemas.openxmlformats.org/drawingml/2006/main" prst="roundRect">
            <a:avLst>
              <a:gd name="adj" fmla="val 36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e0693ab87c4b79">
            <a:extLst>
              <a:ext uri="{96DAC541-7B7A-43D3-8B79-37D633B846F1}">
                <asvg:svgBlip xmlns:asvg="http://schemas.microsoft.com/office/drawing/2016/SVG/main" r:embed="R2aea7864c3a849d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72150" y="1066800"/>
            <a:ext cx="5905500" cy="4476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89CBB-E547-4ACF-B4BF-CB0EDF67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F3E"/>
                </a:solidFill>
              </a:defRPr>
            </a:pPr>
            <a:r>
              <a:rPr sz="1125" b="1">
                <a:solidFill>
                  <a:srgbClr val="B45F3E"/>
                </a:solidFill>
              </a:rPr>
              <a:t>NOTICE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0CDFA-5596-43FA-A26C-1E3C60BB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4838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E2A"/>
                </a:solidFill>
              </a:defRPr>
            </a:pPr>
            <a:r>
              <a:rPr sz="1725" b="1">
                <a:solidFill>
                  <a:srgbClr val="123E2A"/>
                </a:solidFill>
              </a:rPr>
              <a:t>• Report hazards, near misses and incidents</a:t>
            </a:r>
          </a:p>
          <a:p xmlns:a="http://schemas.openxmlformats.org/drawingml/2006/main">
            <a:pPr algn="l">
              <a:defRPr sz="1725" b="1">
                <a:solidFill>
                  <a:srgbClr val="123E2A"/>
                </a:solidFill>
              </a:defRPr>
            </a:pPr>
            <a:r>
              <a:rPr sz="1725" b="1">
                <a:solidFill>
                  <a:srgbClr val="123E2A"/>
                </a:solidFill>
              </a:rPr>
              <a:t>• Give the first report useful facts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766307-2A2B-48C8-BB4C-823FEB7F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38400"/>
            <a:ext cx="48387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128"/>
                </a:solidFill>
              </a:defRPr>
            </a:pPr>
            <a:r>
              <a:rPr sz="1500" b="0">
                <a:solidFill>
                  <a:srgbClr val="173128"/>
                </a:solidFill>
              </a:rPr>
              <a:t>A hazard is a potential source of harm, a near miss is an event that could have caused harm, and an incident is an event that caused or had the potential to cause harm or loss. A first report should be prompt, concise and factual.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31510C-8A7C-451C-AA4E-6C652723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483870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EEDF"/>
          </a:solidFill>
          <a:ln xmlns:a="http://schemas.openxmlformats.org/drawingml/2006/main" w="9525">
            <a:solidFill>
              <a:srgbClr val="D4A6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F5B6C-BFBB-4116-A53E-E6DDC629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4495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E2A"/>
                </a:solidFill>
              </a:defRPr>
            </a:pPr>
            <a:r>
              <a:rPr sz="1350" b="1">
                <a:solidFill>
                  <a:srgbClr val="123E2A"/>
                </a:solidFill>
              </a:rPr>
              <a:t>LOOK FOR</a:t>
            </a:r>
          </a:p>
          <a:p xmlns:a="http://schemas.openxmlformats.org/drawingml/2006/main">
            <a:pPr algn="l">
              <a:defRPr sz="1350" b="1">
                <a:solidFill>
                  <a:srgbClr val="123E2A"/>
                </a:solidFill>
              </a:defRPr>
            </a:pPr>
            <a:r>
              <a:rPr sz="1350" b="1">
                <a:solidFill>
                  <a:srgbClr val="123E2A"/>
                </a:solidFill>
              </a:rPr>
              <a:t>Connect the module's first four teaching ideas before students apply them to a fictional agricultural decision.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EEC4B0-220C-4BC7-83BE-3C4855DE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E65"/>
                </a:solidFill>
              </a:defRPr>
            </a:pPr>
            <a:r>
              <a:rPr sz="1125" b="0">
                <a:solidFill>
                  <a:srgbClr val="5B6E65"/>
                </a:solidFill>
              </a:rPr>
              <a:t>Use the map to connect the lesson ideas, then confirm any real procedure or decision through the current authorised source.</a:t>
            </a:r>
          </a:p>
        </p:txBody>
      </p:sp>
    </p:spTree>
    <p:extLst>
      <p:ext uri="{BB962C8B-B14F-4D97-AF65-F5344CB8AC3E}">
        <p14:creationId xmlns:p14="http://schemas.microsoft.com/office/powerpoint/2010/main" val="11325293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EE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0D06D0-F7EE-4F23-A8E9-B10AD6D0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2A"/>
          </a:solidFill>
          <a:ln xmlns:a="http://schemas.openxmlformats.org/drawingml/2006/main" w="0">
            <a:solidFill>
              <a:srgbClr val="123E2A"/>
            </a:solidFill>
            <a:prstDash val="solid"/>
          </a:ln>
        </p:spPr>
      </p:sp>
      <p:sp>
        <p:nvSpPr>
          <p:cNvPr id="2" name="eyebrow-9">
            <a:extLst xmlns:a="http://schemas.openxmlformats.org/drawingml/2006/main">
              <a:ext uri="{FF2B5EF4-FFF2-40B4-BE49-F238E27FC236}">
                <a16:creationId xmlns:a16="http://schemas.microsoft.com/office/drawing/2014/main" id="{208A349C-6875-40C4-B31C-A68CBB87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A62A"/>
                </a:solidFill>
              </a:defRPr>
            </a:pPr>
            <a:r>
              <a:rPr sz="1125" b="1">
                <a:solidFill>
                  <a:srgbClr val="D4A62A"/>
                </a:solidFill>
              </a:rPr>
              <a:t>TASK 01  •  PRIMARY INDUSTRIES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04F33DDA-72FE-4E9C-B1A5-DD55A5BC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Consult, report and learn from incidents: decide from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49963-DBA0-47FB-92A8-2D356651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E65"/>
                </a:solidFill>
              </a:defRPr>
            </a:pPr>
            <a:r>
              <a:rPr sz="900" b="0">
                <a:solidFill>
                  <a:srgbClr val="5B6E65"/>
                </a:solidFill>
              </a:rPr>
              <a:t>AHC20122 PRIMARY INDUSTRIES  •  TASK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314A1-BF29-4C9C-998E-157D5A20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E65"/>
                </a:solidFill>
              </a:defRPr>
            </a:pPr>
            <a:r>
              <a:rPr sz="900" b="1">
                <a:solidFill>
                  <a:srgbClr val="5B6E65"/>
                </a:solidFill>
              </a:rPr>
              <a:t>9/10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A0BD6-1B2C-441C-B7DA-C9ACE34A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6800850" cy="5010150"/>
          </a:xfrm>
          <a:prstGeom xmlns:a="http://schemas.openxmlformats.org/drawingml/2006/main" prst="roundRect">
            <a:avLst>
              <a:gd name="adj" fmla="val 34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9EE03-AAA9-4D6E-BC88-5D639CD4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F3E"/>
                </a:solidFill>
              </a:defRPr>
            </a:pPr>
            <a:r>
              <a:rPr sz="1125" b="1">
                <a:solidFill>
                  <a:srgbClr val="B45F3E"/>
                </a:solidFill>
              </a:rPr>
              <a:t>FICTIONAL WORKPLACE EXAMPLE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1EF0A-9DAF-4C14-BF75-0519318A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6191250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128"/>
                </a:solidFill>
              </a:defRPr>
            </a:pPr>
            <a:r>
              <a:rPr sz="1425" b="0">
                <a:solidFill>
                  <a:srgbClr val="173128"/>
                </a:solidFill>
              </a:rPr>
              <a:t>OBSERVE  In a fictional storage area, a light crate slides from a low stack and lands beside a worker without contact.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3128"/>
                </a:solidFill>
              </a:defRPr>
            </a:pPr>
            <a:r>
              <a:rPr sz="1425" b="0">
                <a:solidFill>
                  <a:srgbClr val="173128"/>
                </a:solidFill>
              </a:rPr>
              <a:t>DECIDE   No injury occurred, but the event shows that the storage control may not be reliable.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3128"/>
                </a:solidFill>
              </a:defRPr>
            </a:pPr>
            <a:r>
              <a:rPr sz="1425" b="0">
                <a:solidFill>
                  <a:srgbClr val="173128"/>
                </a:solidFill>
              </a:rPr>
              <a:t>ACT      The learner keeps outside the affected space and reports the time, location and observed movement through the current workplace channel.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3128"/>
                </a:solidFill>
              </a:defRPr>
            </a:pPr>
            <a:r>
              <a:rPr sz="1425" b="0">
                <a:solidFill>
                  <a:srgbClr val="173128"/>
                </a:solidFill>
              </a:rPr>
              <a:t>RECORD   The learner completes the requested factual note and checks the confirmed control before the next similar task.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41EF92-CFA2-4661-9D41-CF6C7D2E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028700"/>
            <a:ext cx="4019550" cy="5010150"/>
          </a:xfrm>
          <a:prstGeom xmlns:a="http://schemas.openxmlformats.org/drawingml/2006/main" prst="roundRect">
            <a:avLst>
              <a:gd name="adj" fmla="val 4265"/>
            </a:avLst>
          </a:prstGeom>
          <a:solidFill xmlns:a="http://schemas.openxmlformats.org/drawingml/2006/main">
            <a:srgbClr val="123E2A"/>
          </a:solidFill>
          <a:ln xmlns:a="http://schemas.openxmlformats.org/drawingml/2006/main" w="0">
            <a:solidFill>
              <a:srgbClr val="123E2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7C25F7-5D77-4B63-9E5C-69F8978C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57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A62A"/>
                </a:solidFill>
              </a:defRPr>
            </a:pPr>
            <a:r>
              <a:rPr sz="1125" b="1">
                <a:solidFill>
                  <a:srgbClr val="D4A62A"/>
                </a:solidFill>
              </a:rPr>
              <a:t>CHECK YOUR 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C2323E-5049-405F-894E-EF28752D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42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 crate falls beside a worker but causes no injury. Why should it still be reported?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4F79D4-6879-4126-A017-098EAFCD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95600"/>
            <a:ext cx="34290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3EEDF"/>
                </a:solidFill>
              </a:defRPr>
            </a:pPr>
            <a:r>
              <a:rPr sz="1350" b="0">
                <a:solidFill>
                  <a:srgbClr val="F3EEDF"/>
                </a:solidFill>
              </a:rPr>
              <a:t>A  It may reveal a failed control and an exposure that could cause harm next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3EEDF"/>
                </a:solidFill>
              </a:defRPr>
            </a:pPr>
            <a:r>
              <a:rPr sz="1350" b="0">
                <a:solidFill>
                  <a:srgbClr val="F3EEDF"/>
                </a:solidFill>
              </a:rPr>
              <a:t>B  Every report automatically proves someone broke a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3EEDF"/>
                </a:solidFill>
              </a:defRPr>
            </a:pPr>
            <a:r>
              <a:rPr sz="1350" b="0">
                <a:solidFill>
                  <a:srgbClr val="F3EEDF"/>
                </a:solidFill>
              </a:rPr>
              <a:t>C  Only because the website requires a saved response.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1EA267-93BA-42D7-8811-956B861C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BD6D0"/>
                </a:solidFill>
              </a:defRPr>
            </a:pPr>
            <a:r>
              <a:rPr sz="1200" b="1">
                <a:solidFill>
                  <a:srgbClr val="BBD6D0"/>
                </a:solidFill>
              </a:rPr>
              <a:t>HELP  No injury does not mean no learning.</a:t>
            </a:r>
          </a:p>
        </p:txBody>
      </p:sp>
    </p:spTree>
    <p:extLst>
      <p:ext uri="{BB962C8B-B14F-4D97-AF65-F5344CB8AC3E}">
        <p14:creationId xmlns:p14="http://schemas.microsoft.com/office/powerpoint/2010/main" val="2912815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3E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7240A5-06B8-401A-BC3D-3FFAE78B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4A62A"/>
                </a:solidFill>
              </a:defRPr>
            </a:pPr>
            <a:r>
              <a:rPr sz="1200" b="1">
                <a:solidFill>
                  <a:srgbClr val="D4A62A"/>
                </a:solidFill>
              </a:rPr>
              <a:t>CLOSE THE LOOP WITH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B2340-ADE4-484C-980F-A75A44E5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Apply the task route — then check the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1FF3E-B95A-430D-A5A7-3495A063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4095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EEDF"/>
                </a:solidFill>
              </a:defRPr>
            </a:pPr>
            <a:r>
              <a:rPr sz="1650" b="1">
                <a:solidFill>
                  <a:srgbClr val="F3EEDF"/>
                </a:solidFill>
              </a:rPr>
              <a:t>01  Farm safety roles and authority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F3EEDF"/>
                </a:solidFill>
              </a:defRPr>
            </a:pPr>
            <a:r>
              <a:rPr sz="1650" b="1">
                <a:solidFill>
                  <a:srgbClr val="F3EEDF"/>
                </a:solidFill>
              </a:rPr>
              <a:t>02  Hazards, risks and changing conditions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F3EEDF"/>
                </a:solidFill>
              </a:defRPr>
            </a:pPr>
            <a:r>
              <a:rPr sz="1650" b="1">
                <a:solidFill>
                  <a:srgbClr val="F3EEDF"/>
                </a:solidFill>
              </a:rPr>
              <a:t>03  Controls, PPE and residual risk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F3EEDF"/>
                </a:solidFill>
              </a:defRPr>
            </a:pPr>
            <a:r>
              <a:rPr sz="1650" b="1">
                <a:solidFill>
                  <a:srgbClr val="F3EEDF"/>
                </a:solidFill>
              </a:rPr>
              <a:t>04  Consult, report and learn from incidents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F97B4-E120-494D-91CD-1DC182F3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097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Build an authority map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For a teacher-nominated fictional farm task, list the learner's role, the supervisor's role, one clarification point and one reportable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Write a four-part hazard story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Use a teacher-provided photograph or fictional scene.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Build a control comparison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For a fictional teacher-provided hazard, compare one higher-level and one lower-level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Rehearse a near-miss brief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Use a fictional teacher-nominated event.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27FC2-93F9-43B8-90C4-494621A7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91150"/>
            <a:ext cx="107632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3EEDF"/>
          </a:solidFill>
          <a:ln xmlns:a="http://schemas.openxmlformats.org/drawingml/2006/main" w="9525">
            <a:solidFill>
              <a:srgbClr val="D4A6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45157-E429-481B-B0CB-C6B499E0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00700"/>
            <a:ext cx="10325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E2A"/>
                </a:solidFill>
              </a:defRPr>
            </a:pPr>
            <a:r>
              <a:rPr sz="1425" b="1">
                <a:solidFill>
                  <a:srgbClr val="123E2A"/>
                </a:solidFill>
              </a:rPr>
              <a:t>NEXT STEP  Complete the teacher-nominated learning action. Use current local sources and supervision before any real practical decision. Website responses remain formative.</a:t>
            </a:r>
          </a:p>
        </p:txBody>
      </p:sp>
    </p:spTree>
    <p:extLst>
      <p:ext uri="{BB962C8B-B14F-4D97-AF65-F5344CB8AC3E}">
        <p14:creationId xmlns:p14="http://schemas.microsoft.com/office/powerpoint/2010/main" val="11964270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2026-08-21T09:50:54.6990000Z</dcterms:created>
  <dcterms:modified xsi:type="dcterms:W3CDTF">2026-08-21T09:50:54.6990000Z</dcterms:modified>
</coreProperties>
</file>