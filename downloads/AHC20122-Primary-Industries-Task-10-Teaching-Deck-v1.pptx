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bdc5d6726842cc" /><Relationship Type="http://schemas.openxmlformats.org/officeDocument/2006/relationships/extended-properties" Target="/docProps/app.xml" Id="Rcc81bf80e4584f74" /><Relationship Type="http://schemas.openxmlformats.org/officeDocument/2006/relationships/officeDocument" Target="/ppt/presentation.xml" Id="R9e22cbb701294d9b" /></Relationships>
</file>

<file path=ppt/presentation.xml><?xml version="1.0" encoding="utf-8"?>
<p:presentation xmlns:p="http://schemas.openxmlformats.org/presentationml/2006/main">
  <p:sldMasterIdLst>
    <p:sldMasterId xmlns:r="http://schemas.openxmlformats.org/officeDocument/2006/relationships" id="2147483648" r:id="R6a77de5ceb654227"/>
  </p:sldMasterIdLst>
  <p:notesMasterIdLst>
    <p:notesMasterId xmlns:r="http://schemas.openxmlformats.org/officeDocument/2006/relationships" r:id="R1c41ba7a06004a66"/>
  </p:notesMasterIdLst>
  <p:sldIdLst>
    <p:sldId xmlns:r="http://schemas.openxmlformats.org/officeDocument/2006/relationships" id="256" r:id="R7915f3c1bb4a42a8"/>
    <p:sldId xmlns:r="http://schemas.openxmlformats.org/officeDocument/2006/relationships" id="257" r:id="R6727b068abb54dd8"/>
    <p:sldId xmlns:r="http://schemas.openxmlformats.org/officeDocument/2006/relationships" id="258" r:id="R5baedc6a331343d0"/>
    <p:sldId xmlns:r="http://schemas.openxmlformats.org/officeDocument/2006/relationships" id="259" r:id="R5b0d7bb3822e41e2"/>
    <p:sldId xmlns:r="http://schemas.openxmlformats.org/officeDocument/2006/relationships" id="260" r:id="R8041e1858ab24114"/>
    <p:sldId xmlns:r="http://schemas.openxmlformats.org/officeDocument/2006/relationships" id="261" r:id="R876d62bfb55c4df0"/>
    <p:sldId xmlns:r="http://schemas.openxmlformats.org/officeDocument/2006/relationships" id="262" r:id="Ra7cdd89a13c845ce"/>
    <p:sldId xmlns:r="http://schemas.openxmlformats.org/officeDocument/2006/relationships" id="263" r:id="R545067f0e04747c7"/>
    <p:sldId xmlns:r="http://schemas.openxmlformats.org/officeDocument/2006/relationships" id="264" r:id="R964a3011408c4749"/>
    <p:sldId xmlns:r="http://schemas.openxmlformats.org/officeDocument/2006/relationships" id="265" r:id="R90a3cba8e4a643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fb8848c152420c" /><Relationship Type="http://schemas.openxmlformats.org/officeDocument/2006/relationships/slideMaster" Target="/ppt/slideMasters/slideMaster1.xml" Id="R6a77de5ceb654227" /><Relationship Type="http://schemas.openxmlformats.org/officeDocument/2006/relationships/notesMaster" Target="/ppt/notesMasters/notesMaster1.xml" Id="R1c41ba7a06004a66" /><Relationship Type="http://schemas.openxmlformats.org/officeDocument/2006/relationships/presProps" Target="/ppt/presProps.xml" Id="R156c33f486654e42" /><Relationship Type="http://schemas.openxmlformats.org/officeDocument/2006/relationships/tableStyles" Target="/ppt/tableStyles.xml" Id="R8ed7adf91f5f40d2" /><Relationship Type="http://schemas.openxmlformats.org/officeDocument/2006/relationships/slide" Target="/ppt/slides/slide1.xml" Id="R7915f3c1bb4a42a8" /><Relationship Type="http://schemas.openxmlformats.org/officeDocument/2006/relationships/slide" Target="/ppt/slides/slide2.xml" Id="R6727b068abb54dd8" /><Relationship Type="http://schemas.openxmlformats.org/officeDocument/2006/relationships/slide" Target="/ppt/slides/slide3.xml" Id="R5baedc6a331343d0" /><Relationship Type="http://schemas.openxmlformats.org/officeDocument/2006/relationships/slide" Target="/ppt/slides/slide4.xml" Id="R5b0d7bb3822e41e2" /><Relationship Type="http://schemas.openxmlformats.org/officeDocument/2006/relationships/slide" Target="/ppt/slides/slide5.xml" Id="R8041e1858ab24114" /><Relationship Type="http://schemas.openxmlformats.org/officeDocument/2006/relationships/slide" Target="/ppt/slides/slide6.xml" Id="R876d62bfb55c4df0" /><Relationship Type="http://schemas.openxmlformats.org/officeDocument/2006/relationships/slide" Target="/ppt/slides/slide7.xml" Id="Ra7cdd89a13c845ce" /><Relationship Type="http://schemas.openxmlformats.org/officeDocument/2006/relationships/slide" Target="/ppt/slides/slide8.xml" Id="R545067f0e04747c7" /><Relationship Type="http://schemas.openxmlformats.org/officeDocument/2006/relationships/slide" Target="/ppt/slides/slide9.xml" Id="R964a3011408c4749" /><Relationship Type="http://schemas.openxmlformats.org/officeDocument/2006/relationships/slide" Target="/ppt/slides/slide10.xml" Id="R90a3cba8e4a643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646b9881444a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0560fe36fb4b04" /><Relationship Type="http://schemas.openxmlformats.org/officeDocument/2006/relationships/notesMaster" Target="/ppt/notesMasters/notesMaster1.xml" Id="R0ea09b31906248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72366d622047a3" /><Relationship Type="http://schemas.openxmlformats.org/officeDocument/2006/relationships/notesMaster" Target="/ppt/notesMasters/notesMaster1.xml" Id="R50540849b33e4b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b3f496e8824cfd" /><Relationship Type="http://schemas.openxmlformats.org/officeDocument/2006/relationships/notesMaster" Target="/ppt/notesMasters/notesMaster1.xml" Id="R644bd9f243da4d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8179d5bc0c4325" /><Relationship Type="http://schemas.openxmlformats.org/officeDocument/2006/relationships/notesMaster" Target="/ppt/notesMasters/notesMaster1.xml" Id="Ra3e064fcbf644c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82741116a54ea9" /><Relationship Type="http://schemas.openxmlformats.org/officeDocument/2006/relationships/notesMaster" Target="/ppt/notesMasters/notesMaster1.xml" Id="R2896a61a1eff4a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59630d84514c26" /><Relationship Type="http://schemas.openxmlformats.org/officeDocument/2006/relationships/notesMaster" Target="/ppt/notesMasters/notesMaster1.xml" Id="R6b7aa60cc75446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00e1e54ed84817" /><Relationship Type="http://schemas.openxmlformats.org/officeDocument/2006/relationships/notesMaster" Target="/ppt/notesMasters/notesMaster1.xml" Id="Rfd1e287891944d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84d569a55744f3" /><Relationship Type="http://schemas.openxmlformats.org/officeDocument/2006/relationships/notesMaster" Target="/ppt/notesMasters/notesMaster1.xml" Id="Rba16f0b1afcc48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6dc0493a6cf443e9" /><Relationship Type="http://schemas.openxmlformats.org/officeDocument/2006/relationships/notesMaster" Target="/ppt/notesMasters/notesMaster1.xml" Id="Rb01413378dc445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9a2ab46dea4c8c" /><Relationship Type="http://schemas.openxmlformats.org/officeDocument/2006/relationships/notesMaster" Target="/ppt/notesMasters/notesMaster1.xml" Id="R255c2d127e7d41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connecting the task purpose to the four-module route. Ask students which module most clearly prepares them to notice evidence, make a source-led decision and report through authority.</a:t>
            </a:r>
          </a:p>
          <a:p xmlns:a="http://schemas.openxmlformats.org/drawingml/2006/main">
            <a:r>
              <a:t>Boundary: Supplementary learning is grounded in AHCCHM201 Release 1, the NESA Chemicals focus area and authorised teacher-posted chemicals notes. AHCPMG201 inclusion in the signed TAS remains Teacher/RTO to confirm. The site teaches source literacy, plant-observation records, broad control-option reasoning, off-target pathways and non-operational planning only. The current registered label, SDS, workplace chemical register, local procedures, current weather information, equipment instructions and supervisor control every real chemical task. Site responses are formative and do not demonstrate competency.</a:t>
            </a:r>
          </a:p>
          <a:p xmlns:a="http://schemas.openxmlformats.org/drawingml/2006/main">
            <a:r>
              <a:t>[Sources]</a:t>
            </a:r>
          </a:p>
          <a:p xmlns:a="http://schemas.openxmlformats.org/drawingml/2006/main">
            <a:r>
              <a:t>- Supplementary learning is grounded in AHCCHM201 Release 1, the NESA Chemicals focus area and authorised teacher-posted chemicals notes. AHCPMG201 inclusion in the signed TAS remains Teacher/RTO to confirm. The site teaches source literacy, plant-observation records, broad control-option reasoning, off-target pathways and non-operational planning only. The current registered label, SDS, workplace chemical register, local procedures, current weather information, equipment instructions and supervisor control every real chemical task. Site responses are formative and do not demonstrate competency.</a:t>
            </a:r>
          </a:p>
          <a:p xmlns:a="http://schemas.openxmlformats.org/drawingml/2006/main">
            <a:r>
              <a:t>- Course hero: Generated for this course using OpenAI ImageGen on 21 August 2026.</a:t>
            </a:r>
          </a:p>
          <a:p xmlns:a="http://schemas.openxmlformats.org/drawingml/2006/main">
            <a:r>
              <a:t>- Course data: work/pi/site-data/course.json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Look for the current document legally connected to the exact product. Identity first, then the current registered source.</a:t>
            </a:r>
          </a:p>
          <a:p xmlns:a="http://schemas.openxmlformats.org/drawingml/2006/main">
            <a:r>
              <a:t>Applied action: Build a source-authority matrix. Use a fictional teacher-prepared document set. Place each source beside the question it controls, circle mismatched identity or missing currency details and draft one concise referral. Do not reproduce or interpret operational directions.</a:t>
            </a:r>
          </a:p>
          <a:p xmlns:a="http://schemas.openxmlformats.org/drawingml/2006/main">
            <a:r>
              <a:t>Boundary: Supplementary learning is grounded in AHCCHM201 Release 1, the NESA Chemicals focus area and authorised teacher-posted chemicals notes. AHCPMG201 inclusion in the signed TAS remains Teacher/RTO to confirm. The site teaches source literacy, plant-observation records, broad control-option reasoning, off-target pathways and non-operational planning only. The current registered label, SDS, workplace chemical register, local procedures, current weather information, equipment instructions and supervisor control every real chemical task. Site responses are formative and do not demonstrate competency.</a:t>
            </a:r>
          </a:p>
          <a:p xmlns:a="http://schemas.openxmlformats.org/drawingml/2006/main">
            <a:r>
              <a:t>[Sources]</a:t>
            </a:r>
          </a:p>
          <a:p xmlns:a="http://schemas.openxmlformats.org/drawingml/2006/main">
            <a:r>
              <a:t>- Source basis: AHCCHM201 Release 1 source and supervision requirements, the NESA Chemicals focus area and authorised teacher-posted chemicals notes. The current registered label, matched SDS, workplace register, local procedures and supervisor control every real task.</a:t>
            </a:r>
          </a:p>
          <a:p xmlns:a="http://schemas.openxmlformats.org/drawingml/2006/main">
            <a:r>
              <a:t>- Visual visual-task-10-01: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Look for the current document legally connected to the exact product. Identity first, then the current registered source.
Applied action: Build a source-authority matrix. Use a fictional teacher-prepared document set. Place each source beside the question it controls, circle mismatched identity or missing currency details and draft one concise referral. Do not reproduce or interpret operational directions.
Boundary: Supplementary learning is grounded in AHCCHM201 Release 1, the NESA Chemicals focus area and authorised teacher-posted chemicals notes. AHCPMG201 inclusion in the signed TAS remains Teacher/RTO to confirm. The site teaches source literacy, plant-observation records, broad control-option reasoning, off-target pathways and non-operational planning only. The current registered label, SDS, workplace chemical register, local procedures, current weather information, equipment instructions and supervisor control every real chemical task. Site responses are formative and do not demonstrate competency.
[Sources]
- Source basis: AHCCHM201 Release 1 source and supervision requirements, the NESA Chemicals focus area and authorised teacher-posted chemicals notes. The current registered label, matched SDS, workplace register, local procedures and supervisor control every real task.
- Visual visual-task-10-01: Generated locally from accepted Stage 05 module headings; no external image copied.
- Course visual manifest: work/pi/visuals/visual-manifest.json</a:t>
            </a:r>
          </a:p>
          <a:p xmlns:a="http://schemas.openxmlformats.org/drawingml/2006/main">
            <a:r>
              <a:t>Formative check answer: The current registered label matched to the exact product.</a:t>
            </a:r>
          </a:p>
          <a:p xmlns:a="http://schemas.openxmlformats.org/drawingml/2006/main">
            <a:r>
              <a:t>Correct feedback: You matched the product-use question to the controlling source.</a:t>
            </a:r>
          </a:p>
          <a:p xmlns:a="http://schemas.openxmlformats.org/drawingml/2006/main">
            <a:r>
              <a:t>Corrective feedback: Look for the current document legally connected to the exact product.</a:t>
            </a:r>
          </a:p>
          <a:p xmlns:a="http://schemas.openxmlformats.org/drawingml/2006/main">
            <a:r>
              <a:t>Full contextual example: Observed evidence: In a fictional source pack dated 12 February 2027, Kai finds a container image labelled Field Product Q, an SDS for Field Product Q, a register entry for Field Product R and an undated classroom summary. Decision and reason: Kai does not combine the documents because the register identity conflicts and the summary has no currency evidence. Safe action: Kai records the exact mismatch and refers the pack to the supervisor without proposing product use. Result: The supervisor confirms that the wrong register page was supplied and retrieves the current authorised record. Next check or record: Kai notes which source answered identity, product-use and hazard-information questions, while leaving all real directions to the current documents.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When diagnostic features are missing, record what is known and identify the next source check. Describe first; name only when the evidence and authority support it.</a:t>
            </a:r>
          </a:p>
          <a:p xmlns:a="http://schemas.openxmlformats.org/drawingml/2006/main">
            <a:r>
              <a:t>Applied action: Complete a fictional occurrence and source card. Annotate supplied privacy-safe plant images, match visible features to authorised identification cards and mark the confidence gap. Add strategy-level questions for the supervisor; do not propose a product or work method.</a:t>
            </a:r>
          </a:p>
          <a:p xmlns:a="http://schemas.openxmlformats.org/drawingml/2006/main">
            <a:r>
              <a:t>Boundary: Supplementary learning is grounded in AHCCHM201 Release 1, the NESA Chemicals focus area and authorised teacher-posted chemicals notes. AHCPMG201 inclusion in the signed TAS remains Teacher/RTO to confirm. The site teaches source literacy, plant-observation records, broad control-option reasoning, off-target pathways and non-operational planning only. The current registered label, SDS, workplace chemical register, local procedures, current weather information, equipment instructions and supervisor control every real chemical task. Site responses are formative and do not demonstrate competency.</a:t>
            </a:r>
          </a:p>
          <a:p xmlns:a="http://schemas.openxmlformats.org/drawingml/2006/main">
            <a:r>
              <a:t>[Sources]</a:t>
            </a:r>
          </a:p>
          <a:p xmlns:a="http://schemas.openxmlformats.org/drawingml/2006/main">
            <a:r>
              <a:t>- Source basis: AHCPMG201 Release 1 concepts for recognising and recording weed occurrence and discussing control options under supervision, plus the NESA Chemicals focus area. AHCPMG201 inclusion in the signed TAS remains Teacher/RTO to confirm; all local identity status and management decisions require authorised sources.</a:t>
            </a:r>
          </a:p>
          <a:p xmlns:a="http://schemas.openxmlformats.org/drawingml/2006/main">
            <a:r>
              <a:t>- Visual visual-task-10-02: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When diagnostic features are missing, record what is known and identify the next source check. Describe first; name only when the evidence and authority support it.
Applied action: Complete a fictional occurrence and source card. Annotate supplied privacy-safe plant images, match visible features to authorised identification cards and mark the confidence gap. Add strategy-level questions for the supervisor; do not propose a product or work method.
Boundary: Supplementary learning is grounded in AHCCHM201 Release 1, the NESA Chemicals focus area and authorised teacher-posted chemicals notes. AHCPMG201 inclusion in the signed TAS remains Teacher/RTO to confirm. The site teaches source literacy, plant-observation records, broad control-option reasoning, off-target pathways and non-operational planning only. The current registered label, SDS, workplace chemical register, local procedures, current weather information, equipment instructions and supervisor control every real chemical task. Site responses are formative and do not demonstrate competency.
[Sources]
- Source basis: AHCPMG201 Release 1 concepts for recognising and recording weed occurrence and discussing control options under supervision, plus the NESA Chemicals focus area. AHCPMG201 inclusion in the signed TAS remains Teacher/RTO to confirm; all local identity status and management decisions require authorised sources.
- Visual visual-task-10-02: Generated locally from accepted Stage 05 module headings; no external image copied.
- Course visual manifest: work/pi/visuals/visual-manifest.json</a:t>
            </a:r>
          </a:p>
          <a:p xmlns:a="http://schemas.openxmlformats.org/drawingml/2006/main">
            <a:r>
              <a:t>Formative check answer: Record the observed features and seek the additional evidence or expert confirmation required.</a:t>
            </a:r>
          </a:p>
          <a:p xmlns:a="http://schemas.openxmlformats.org/drawingml/2006/main">
            <a:r>
              <a:t>Correct feedback: You kept the identification claim within the available evidence.</a:t>
            </a:r>
          </a:p>
          <a:p xmlns:a="http://schemas.openxmlformats.org/drawingml/2006/main">
            <a:r>
              <a:t>Corrective feedback: When diagnostic features are missing, record what is known and identify the next source check.</a:t>
            </a:r>
          </a:p>
          <a:p xmlns:a="http://schemas.openxmlformats.org/drawingml/2006/main">
            <a:r>
              <a:t>Full contextual example: Observed evidence: On 8 March 2027, a fictional training map shows twelve similar rosette plants near a drainage line. The supplied photographs show leaf shape but no flowers, and two authorised identification cards remain possible matches. Decision and reason: Noah does not name the plant or recommend a treatment because identity and nearby sensitivity remain unresolved. Safe action: He records the observable features, extent, date and privacy-safe map zone and asks the supervisor what additional identification evidence is required. Result: The supervisor schedules an authorised identification check before any management option is considered. Next check or record: Noah updates the occurrence record with the confirmed identity source and leaves the control decision blank until authorised.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Identify what could move, how it could move and what could be affected. Source → pathway → receptor.</a:t>
            </a:r>
          </a:p>
          <a:p xmlns:a="http://schemas.openxmlformats.org/drawingml/2006/main">
            <a:r>
              <a:t>Applied action: Mark a fictional off-target pathway map. On a privacy-safe map, draw arrows from possible source zones to sensitive receptors, attach source timestamps and circle any changed condition requiring review. Do not add product, equipment or operating instructions.</a:t>
            </a:r>
          </a:p>
          <a:p xmlns:a="http://schemas.openxmlformats.org/drawingml/2006/main">
            <a:r>
              <a:t>Boundary: Supplementary learning is grounded in AHCCHM201 Release 1, the NESA Chemicals focus area and authorised teacher-posted chemicals notes. AHCPMG201 inclusion in the signed TAS remains Teacher/RTO to confirm. The site teaches source literacy, plant-observation records, broad control-option reasoning, off-target pathways and non-operational planning only. The current registered label, SDS, workplace chemical register, local procedures, current weather information, equipment instructions and supervisor control every real chemical task. Site responses are formative and do not demonstrate competency.</a:t>
            </a:r>
          </a:p>
          <a:p xmlns:a="http://schemas.openxmlformats.org/drawingml/2006/main">
            <a:r>
              <a:t>[Sources]</a:t>
            </a:r>
          </a:p>
          <a:p xmlns:a="http://schemas.openxmlformats.org/drawingml/2006/main">
            <a:r>
              <a:t>- Source basis: AHCCHM201 Release 1 requirements to assess meteorological conditions, minimise risk to others and the environment, cease when conditions are unsuitable and complete records; NESA Chemicals focus-area concepts. Exact limits and responses come only from current product and workplace sources.</a:t>
            </a:r>
          </a:p>
          <a:p xmlns:a="http://schemas.openxmlformats.org/drawingml/2006/main">
            <a:r>
              <a:t>- Visual visual-task-10-03: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Identify what could move, how it could move and what could be affected. Source → pathway → receptor.
Applied action: Mark a fictional off-target pathway map. On a privacy-safe map, draw arrows from possible source zones to sensitive receptors, attach source timestamps and circle any changed condition requiring review. Do not add product, equipment or operating instructions.
Boundary: Supplementary learning is grounded in AHCCHM201 Release 1, the NESA Chemicals focus area and authorised teacher-posted chemicals notes. AHCPMG201 inclusion in the signed TAS remains Teacher/RTO to confirm. The site teaches source literacy, plant-observation records, broad control-option reasoning, off-target pathways and non-operational planning only. The current registered label, SDS, workplace chemical register, local procedures, current weather information, equipment instructions and supervisor control every real chemical task. Site responses are formative and do not demonstrate competency.
[Sources]
- Source basis: AHCCHM201 Release 1 requirements to assess meteorological conditions, minimise risk to others and the environment, cease when conditions are unsuitable and complete records; NESA Chemicals focus-area concepts. Exact limits and responses come only from current product and workplace sources.
- Visual visual-task-10-03: Generated locally from accepted Stage 05 module headings; no external image copied.
- Course visual manifest: work/pi/visuals/visual-manifest.json</a:t>
            </a:r>
          </a:p>
          <a:p xmlns:a="http://schemas.openxmlformats.org/drawingml/2006/main">
            <a:r>
              <a:t>Formative check answer: A source can move along a pathway and affect a person, place or thing outside the intended area.</a:t>
            </a:r>
          </a:p>
          <a:p xmlns:a="http://schemas.openxmlformats.org/drawingml/2006/main">
            <a:r>
              <a:t>Correct feedback: You traced the pathway beyond the immediate task area.</a:t>
            </a:r>
          </a:p>
          <a:p xmlns:a="http://schemas.openxmlformats.org/drawingml/2006/main">
            <a:r>
              <a:t>Corrective feedback: Identify what could move, how it could move and what could be affected.</a:t>
            </a:r>
          </a:p>
          <a:p xmlns:a="http://schemas.openxmlformats.org/drawingml/2006/main">
            <a:r>
              <a:t>Full contextual example: Observed evidence: At 9:25 am on 27 March 2027, a fictional planning scenario shows the work area beside Zone C, where a school bus is now parked unexpectedly. The saved forecast in the class pack is three hours old and a windsock image indicates a changed direction, but no verified current reading is supplied. Decision and reason: Amira cannot confirm that the approved plan still protects the new receptor or that conditions remain suitable. Safe action: She marks the task at the hold point and reports the bus location, source age and observed change to the supervisor. Result: The supervisor checks current sources and the controlled local plan before deciding what happens next. Next check or record: Amira records the changed condition and authorisation outcome without inventing a weather limit or product adjustment.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Keep the original evidence, show the check and refer the correction. Add the three like units, then compare rather than overwrite.</a:t>
            </a:r>
          </a:p>
          <a:p xmlns:a="http://schemas.openxmlformats.org/drawingml/2006/main">
            <a:r>
              <a:t>Applied action: Audit a source-led fictional plan. Use a teacher-supplied non-operational sheet. Mark source links, check one area total, circle missing authority and draft the handover. Do not derive any product quantity or fill any operational field.</a:t>
            </a:r>
          </a:p>
          <a:p xmlns:a="http://schemas.openxmlformats.org/drawingml/2006/main">
            <a:r>
              <a:t>Boundary: Supplementary learning is grounded in AHCCHM201 Release 1, the NESA Chemicals focus area and authorised teacher-posted chemicals notes. AHCPMG201 inclusion in the signed TAS remains Teacher/RTO to confirm. The site teaches source literacy, plant-observation records, broad control-option reasoning, off-target pathways and non-operational planning only. The current registered label, SDS, workplace chemical register, local procedures, current weather information, equipment instructions and supervisor control every real chemical task. Site responses are formative and do not demonstrate competency.</a:t>
            </a:r>
          </a:p>
          <a:p xmlns:a="http://schemas.openxmlformats.org/drawingml/2006/main">
            <a:r>
              <a:t>[Sources]</a:t>
            </a:r>
          </a:p>
          <a:p xmlns:a="http://schemas.openxmlformats.org/drawingml/2006/main">
            <a:r>
              <a:t>- Source basis: AHCCHM201 Release 1 planning, source, weather, supervision and record concepts; NESA Chemicals focus-area numeracy and documentation concepts; authorised teacher-posted chemicals notes. No website calculation or plan controls a real chemical task.</a:t>
            </a:r>
          </a:p>
          <a:p xmlns:a="http://schemas.openxmlformats.org/drawingml/2006/main">
            <a:r>
              <a:t>- Visual visual-task-10-04: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Keep the original evidence, show the check and refer the correction. Add the three like units, then compare rather than overwrite.
Applied action: Audit a source-led fictional plan. Use a teacher-supplied non-operational sheet. Mark source links, check one area total, circle missing authority and draft the handover. Do not derive any product quantity or fill any operational field.
Boundary: Supplementary learning is grounded in AHCCHM201 Release 1, the NESA Chemicals focus area and authorised teacher-posted chemicals notes. AHCPMG201 inclusion in the signed TAS remains Teacher/RTO to confirm. The site teaches source literacy, plant-observation records, broad control-option reasoning, off-target pathways and non-operational planning only. The current registered label, SDS, workplace chemical register, local procedures, current weather information, equipment instructions and supervisor control every real chemical task. Site responses are formative and do not demonstrate competency.
[Sources]
- Source basis: AHCCHM201 Release 1 planning, source, weather, supervision and record concepts; NESA Chemicals focus-area numeracy and documentation concepts; authorised teacher-posted chemicals notes. No website calculation or plan controls a real chemical task.
- Visual visual-task-10-04: Generated locally from accepted Stage 05 module headings; no external image copied.
- Course visual manifest: work/pi/visuals/visual-manifest.json</a:t>
            </a:r>
          </a:p>
          <a:p xmlns:a="http://schemas.openxmlformats.org/drawingml/2006/main">
            <a:r>
              <a:t>Formative check answer: Show that the listed areas total 2.4 ha, preserve the original entry and refer the mismatch.</a:t>
            </a:r>
          </a:p>
          <a:p xmlns:a="http://schemas.openxmlformats.org/drawingml/2006/main">
            <a:r>
              <a:t>Correct feedback: You used numeracy to identify a problem without turning it into an operational calculation.</a:t>
            </a:r>
          </a:p>
          <a:p xmlns:a="http://schemas.openxmlformats.org/drawingml/2006/main">
            <a:r>
              <a:t>Corrective feedback: Keep the original evidence, show the check and refer the correction.</a:t>
            </a:r>
          </a:p>
          <a:p xmlns:a="http://schemas.openxmlformats.org/drawingml/2006/main">
            <a:r>
              <a:t>Full contextual example: Observed evidence: A fictional planning sheet dated 4 April 2027 lists three training zones of 0.8 ha each but shows a total of 2.6 ha. Product fields are intentionally blank and the source card is marked classroom rehearsal only. Decision and reason: Elena identifies that the areas total 2.4 ha and does not use either figure to derive any chemical quantity. Safe action: She preserves the original figures, shows the addition and flags the total for supervisor review. Result: The supervisor confirms a transcription error in the fictional sheet and explains where the real authorised plan would control product-specific information. Next check or record: Elena records the corrected fictional area with the confirmation note and leaves every operational field linked to its authorised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one retrieval question from each module, then direct students to the teacher-nominated learning action. Re-state that site work is formative and that current workplace and RTO processes control real practice and assessment.</a:t>
            </a:r>
          </a:p>
          <a:p xmlns:a="http://schemas.openxmlformats.org/drawingml/2006/main">
            <a:r>
              <a:t>Boundary: Supplementary learning is grounded in AHCCHM201 Release 1, the NESA Chemicals focus area and authorised teacher-posted chemicals notes. AHCPMG201 inclusion in the signed TAS remains Teacher/RTO to confirm. The site teaches source literacy, plant-observation records, broad control-option reasoning, off-target pathways and non-operational planning only. The current registered label, SDS, workplace chemical register, local procedures, current weather information, equipment instructions and supervisor control every real chemical task. Site responses are formative and do not demonstrate competency.</a:t>
            </a:r>
          </a:p>
          <a:p xmlns:a="http://schemas.openxmlformats.org/drawingml/2006/main">
            <a:r>
              <a:t>[Sources]</a:t>
            </a:r>
          </a:p>
          <a:p xmlns:a="http://schemas.openxmlformats.org/drawingml/2006/main">
            <a:r>
              <a:t>- Source basis: AHCCHM201 Release 1 source and supervision requirements, the NESA Chemicals focus area and authorised teacher-posted chemicals notes. The current registered label, matched SDS, workplace register, local procedures and supervisor control every real task.</a:t>
            </a:r>
          </a:p>
          <a:p xmlns:a="http://schemas.openxmlformats.org/drawingml/2006/main">
            <a:r>
              <a:t>- Source basis: AHCPMG201 Release 1 concepts for recognising and recording weed occurrence and discussing control options under supervision, plus the NESA Chemicals focus area. AHCPMG201 inclusion in the signed TAS remains Teacher/RTO to confirm; all local identity status and management decisions require authorised sources.</a:t>
            </a:r>
          </a:p>
          <a:p xmlns:a="http://schemas.openxmlformats.org/drawingml/2006/main">
            <a:r>
              <a:t>- Source basis: AHCCHM201 Release 1 requirements to assess meteorological conditions, minimise risk to others and the environment, cease when conditions are unsuitable and complete records; NESA Chemicals focus-area concepts. Exact limits and responses come only from current product and workplace sources.</a:t>
            </a:r>
          </a:p>
          <a:p xmlns:a="http://schemas.openxmlformats.org/drawingml/2006/main">
            <a:r>
              <a:t>- Source basis: AHCCHM201 Release 1 planning, source, weather, supervision and record concepts; NESA Chemicals focus-area numeracy and documentation concepts; authorised teacher-posted chemicals notes. No website calculation or plan controls a real chemical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6cd2efe5d24c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a49ccb47694bf8" /><Relationship Type="http://schemas.openxmlformats.org/officeDocument/2006/relationships/slideLayout" Target="/ppt/slideLayouts/slideLayout1.xml" Id="R8d5ba6939ee14d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5ba6939ee14d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c31983409a40fd" /><Relationship Type="http://schemas.openxmlformats.org/officeDocument/2006/relationships/image" Target="/ppt/media/image.png" Id="R47dcc7f302124f6f" /><Relationship Type="http://schemas.openxmlformats.org/officeDocument/2006/relationships/notesSlide" Target="/ppt/notesSlides/notesSlide1.xml" Id="Rc4999ada413e4d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f53dca2b25490d" /><Relationship Type="http://schemas.openxmlformats.org/officeDocument/2006/relationships/image" Target="/ppt/media/image2.png" Id="R956a409142e343c5" /><Relationship Type="http://schemas.openxmlformats.org/officeDocument/2006/relationships/image" Target="/ppt/media/image.svg" Id="R2a46e60d5fb34dea" /><Relationship Type="http://schemas.openxmlformats.org/officeDocument/2006/relationships/notesSlide" Target="/ppt/notesSlides/notesSlide2.xml" Id="R741183f673834a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73bc1d3b2be4eb9" /><Relationship Type="http://schemas.openxmlformats.org/officeDocument/2006/relationships/notesSlide" Target="/ppt/notesSlides/notesSlide3.xml" Id="R6872eeff050e4f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ef6180296284a1e" /><Relationship Type="http://schemas.openxmlformats.org/officeDocument/2006/relationships/image" Target="/ppt/media/image3.png" Id="R098ceb7a1415497a" /><Relationship Type="http://schemas.openxmlformats.org/officeDocument/2006/relationships/image" Target="/ppt/media/image2.svg" Id="Ra8fc294ff38149a8" /><Relationship Type="http://schemas.openxmlformats.org/officeDocument/2006/relationships/notesSlide" Target="/ppt/notesSlides/notesSlide4.xml" Id="R127b54aaf6dd47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9fdda8eeba4111" /><Relationship Type="http://schemas.openxmlformats.org/officeDocument/2006/relationships/notesSlide" Target="/ppt/notesSlides/notesSlide5.xml" Id="Re662f6c6cbd54c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8e5d28835f34305" /><Relationship Type="http://schemas.openxmlformats.org/officeDocument/2006/relationships/image" Target="/ppt/media/image4.png" Id="R7ab53dea9bbe4151" /><Relationship Type="http://schemas.openxmlformats.org/officeDocument/2006/relationships/image" Target="/ppt/media/image3.svg" Id="R5eff38b5f2c845c4" /><Relationship Type="http://schemas.openxmlformats.org/officeDocument/2006/relationships/notesSlide" Target="/ppt/notesSlides/notesSlide6.xml" Id="Refd010432f0b4f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40eb7e1ba154d86" /><Relationship Type="http://schemas.openxmlformats.org/officeDocument/2006/relationships/notesSlide" Target="/ppt/notesSlides/notesSlide7.xml" Id="R1701518fcf2049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626be53cefb4445" /><Relationship Type="http://schemas.openxmlformats.org/officeDocument/2006/relationships/image" Target="/ppt/media/image5.png" Id="R2450b83f4ace4c74" /><Relationship Type="http://schemas.openxmlformats.org/officeDocument/2006/relationships/image" Target="/ppt/media/image4.svg" Id="Ra0e786cc1b2c48f6" /><Relationship Type="http://schemas.openxmlformats.org/officeDocument/2006/relationships/notesSlide" Target="/ppt/notesSlides/notesSlide8.xml" Id="R861840e055fe45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2064f735cee4b44" /><Relationship Type="http://schemas.openxmlformats.org/officeDocument/2006/relationships/notesSlide" Target="/ppt/notesSlides/notesSlide9.xml" Id="Reb4976634f7846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94e910536984671" /><Relationship Type="http://schemas.openxmlformats.org/officeDocument/2006/relationships/notesSlide" Target="/ppt/notesSlides/notesSlide10.xml" Id="Rd4e36aa449e44424" /></Relationships>
</file>

<file path=ppt/slides/slide1.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7dcc7f302124f6f"/>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54D6817-2684-48B8-9707-810BB0F8EC18}"/>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3" name="">
            <a:extLst xmlns:a="http://schemas.openxmlformats.org/drawingml/2006/main">
              <a:ext uri="{FF2B5EF4-FFF2-40B4-BE49-F238E27FC236}">
                <a16:creationId xmlns:a16="http://schemas.microsoft.com/office/drawing/2014/main" id="{094D8158-1957-4C57-95A5-0E11FAEE1159}"/>
              </a:ext>
            </a:extLst>
          </p:cNvPr>
          <p:cNvSpPr>
            <a:spLocks xmlns:a="http://schemas.openxmlformats.org/drawingml/2006/main" noGrp="1"/>
          </p:cNvSpPr>
          <p:nvPr/>
        </p:nvSpPr>
        <p:spPr>
          <a:xfrm xmlns:a="http://schemas.openxmlformats.org/drawingml/2006/main">
            <a:off x="552450" y="5334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AHC20122 • CERTIFICATE II IN AGRICULTURE</a:t>
            </a:r>
          </a:p>
        </p:txBody>
      </p:sp>
      <p:sp>
        <p:nvSpPr>
          <p:cNvPr id="4" name="deck-title">
            <a:extLst xmlns:a="http://schemas.openxmlformats.org/drawingml/2006/main">
              <a:ext uri="{FF2B5EF4-FFF2-40B4-BE49-F238E27FC236}">
                <a16:creationId xmlns:a16="http://schemas.microsoft.com/office/drawing/2014/main" id="{601265A1-4A47-4928-B308-EBE7D19F571A}"/>
              </a:ext>
            </a:extLst>
          </p:cNvPr>
          <p:cNvSpPr>
            <a:spLocks xmlns:a="http://schemas.openxmlformats.org/drawingml/2006/main" noGrp="1"/>
          </p:cNvSpPr>
          <p:nvPr/>
        </p:nvSpPr>
        <p:spPr>
          <a:xfrm xmlns:a="http://schemas.openxmlformats.org/drawingml/2006/main">
            <a:off x="552450" y="1066800"/>
            <a:ext cx="4857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defRPr>
            </a:pPr>
            <a:r>
              <a:rPr sz="4050" b="1">
                <a:solidFill>
                  <a:srgbClr val="FFFFFF"/>
                </a:solidFill>
              </a:rPr>
              <a:t>Task 10 · Chemicals and weeds</a:t>
            </a:r>
          </a:p>
        </p:txBody>
      </p:sp>
      <p:sp>
        <p:nvSpPr>
          <p:cNvPr id="5" name="">
            <a:extLst xmlns:a="http://schemas.openxmlformats.org/drawingml/2006/main">
              <a:ext uri="{FF2B5EF4-FFF2-40B4-BE49-F238E27FC236}">
                <a16:creationId xmlns:a16="http://schemas.microsoft.com/office/drawing/2014/main" id="{AA38AE1F-1CB8-48E9-A535-D6690F80AB8F}"/>
              </a:ext>
            </a:extLst>
          </p:cNvPr>
          <p:cNvSpPr>
            <a:spLocks xmlns:a="http://schemas.openxmlformats.org/drawingml/2006/main" noGrp="1"/>
          </p:cNvSpPr>
          <p:nvPr/>
        </p:nvSpPr>
        <p:spPr>
          <a:xfrm xmlns:a="http://schemas.openxmlformats.org/drawingml/2006/main">
            <a:off x="552450" y="24003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3EEDF"/>
                </a:solidFill>
              </a:defRPr>
            </a:pPr>
            <a:r>
              <a:rPr sz="1650" b="0">
                <a:solidFill>
                  <a:srgbClr val="F3EEDF"/>
                </a:solidFill>
              </a:rPr>
              <a:t>Find and interpret the authorised source, recognise weeds and control options, reason about off-target risk and complete planning records.</a:t>
            </a:r>
          </a:p>
        </p:txBody>
      </p:sp>
      <p:sp>
        <p:nvSpPr>
          <p:cNvPr id="6" name="">
            <a:extLst xmlns:a="http://schemas.openxmlformats.org/drawingml/2006/main">
              <a:ext uri="{FF2B5EF4-FFF2-40B4-BE49-F238E27FC236}">
                <a16:creationId xmlns:a16="http://schemas.microsoft.com/office/drawing/2014/main" id="{0393B3FB-B2DE-4F32-9CCC-D39D1B037D1F}"/>
              </a:ext>
            </a:extLst>
          </p:cNvPr>
          <p:cNvSpPr>
            <a:spLocks xmlns:a="http://schemas.openxmlformats.org/drawingml/2006/main" noGrp="1"/>
          </p:cNvSpPr>
          <p:nvPr/>
        </p:nvSpPr>
        <p:spPr>
          <a:xfrm xmlns:a="http://schemas.openxmlformats.org/drawingml/2006/main">
            <a:off x="552450" y="3562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LEARNING ROUTE</a:t>
            </a:r>
          </a:p>
        </p:txBody>
      </p:sp>
      <p:sp>
        <p:nvSpPr>
          <p:cNvPr id="7" name="">
            <a:extLst xmlns:a="http://schemas.openxmlformats.org/drawingml/2006/main">
              <a:ext uri="{FF2B5EF4-FFF2-40B4-BE49-F238E27FC236}">
                <a16:creationId xmlns:a16="http://schemas.microsoft.com/office/drawing/2014/main" id="{A41AE98A-7EAA-44AA-8A87-2D67CB0E7676}"/>
              </a:ext>
            </a:extLst>
          </p:cNvPr>
          <p:cNvSpPr>
            <a:spLocks xmlns:a="http://schemas.openxmlformats.org/drawingml/2006/main" noGrp="1"/>
          </p:cNvSpPr>
          <p:nvPr/>
        </p:nvSpPr>
        <p:spPr>
          <a:xfrm xmlns:a="http://schemas.openxmlformats.org/drawingml/2006/main">
            <a:off x="552450" y="3886200"/>
            <a:ext cx="47625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01  Authority, labels, SDS and the chemical register</a:t>
            </a:r>
          </a:p>
          <a:p xmlns:a="http://schemas.openxmlformats.org/drawingml/2006/main">
            <a:pPr algn="l">
              <a:defRPr sz="1425" b="1">
                <a:solidFill>
                  <a:srgbClr val="FFFFFF"/>
                </a:solidFill>
              </a:defRPr>
            </a:pPr>
            <a:r>
              <a:rPr sz="1425" b="1">
                <a:solidFill>
                  <a:srgbClr val="FFFFFF"/>
                </a:solidFill>
              </a:rPr>
              <a:t>02  Recognise weeds and compare control approaches</a:t>
            </a:r>
          </a:p>
          <a:p xmlns:a="http://schemas.openxmlformats.org/drawingml/2006/main">
            <a:pPr algn="l">
              <a:defRPr sz="1425" b="1">
                <a:solidFill>
                  <a:srgbClr val="FFFFFF"/>
                </a:solidFill>
              </a:defRPr>
            </a:pPr>
            <a:r>
              <a:rPr sz="1425" b="1">
                <a:solidFill>
                  <a:srgbClr val="FFFFFF"/>
                </a:solidFill>
              </a:rPr>
              <a:t>03  Weather, off-target movement and neighbours</a:t>
            </a:r>
          </a:p>
          <a:p xmlns:a="http://schemas.openxmlformats.org/drawingml/2006/main">
            <a:pPr algn="l">
              <a:defRPr sz="1425" b="1">
                <a:solidFill>
                  <a:srgbClr val="FFFFFF"/>
                </a:solidFill>
              </a:defRPr>
            </a:pPr>
            <a:r>
              <a:rPr sz="1425" b="1">
                <a:solidFill>
                  <a:srgbClr val="FFFFFF"/>
                </a:solidFill>
              </a:rPr>
              <a:t>04  Plan, calculate, record and report safely</a:t>
            </a:r>
          </a:p>
        </p:txBody>
      </p:sp>
      <p:sp>
        <p:nvSpPr>
          <p:cNvPr id="8" name="">
            <a:extLst xmlns:a="http://schemas.openxmlformats.org/drawingml/2006/main">
              <a:ext uri="{FF2B5EF4-FFF2-40B4-BE49-F238E27FC236}">
                <a16:creationId xmlns:a16="http://schemas.microsoft.com/office/drawing/2014/main" id="{FAA104B3-582C-48BE-A4B9-45D5283ED6FC}"/>
              </a:ext>
            </a:extLst>
          </p:cNvPr>
          <p:cNvSpPr>
            <a:spLocks xmlns:a="http://schemas.openxmlformats.org/drawingml/2006/main" noGrp="1"/>
          </p:cNvSpPr>
          <p:nvPr/>
        </p:nvSpPr>
        <p:spPr>
          <a:xfrm xmlns:a="http://schemas.openxmlformats.org/drawingml/2006/main">
            <a:off x="552450" y="61722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BD6D0"/>
                </a:solidFill>
              </a:defRPr>
            </a:pPr>
            <a:r>
              <a:rPr sz="1050" b="0">
                <a:solidFill>
                  <a:srgbClr val="BBD6D0"/>
                </a:solidFill>
              </a:rPr>
              <a:t>Supplementary learning • current local sources and supervision control real work</a:t>
            </a:r>
          </a:p>
        </p:txBody>
      </p:sp>
    </p:spTree>
    <p:extLst>
      <p:ext uri="{BB962C8B-B14F-4D97-AF65-F5344CB8AC3E}">
        <p14:creationId xmlns:p14="http://schemas.microsoft.com/office/powerpoint/2010/main" val="2121472748"/>
      </p:ext>
    </p:extLst>
  </p:cSld>
</p:sld>
</file>

<file path=ppt/slides/slide2.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05AE171-4F92-405E-B1CE-807505EBD452}"/>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2">
            <a:extLst xmlns:a="http://schemas.openxmlformats.org/drawingml/2006/main">
              <a:ext uri="{FF2B5EF4-FFF2-40B4-BE49-F238E27FC236}">
                <a16:creationId xmlns:a16="http://schemas.microsoft.com/office/drawing/2014/main" id="{82E387D1-1A9C-4E7D-B44D-576F2C2B4554}"/>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10  •  PRIMARY INDUSTRIES</a:t>
            </a:r>
          </a:p>
        </p:txBody>
      </p:sp>
      <p:sp>
        <p:nvSpPr>
          <p:cNvPr id="3" name="title-2">
            <a:extLst xmlns:a="http://schemas.openxmlformats.org/drawingml/2006/main">
              <a:ext uri="{FF2B5EF4-FFF2-40B4-BE49-F238E27FC236}">
                <a16:creationId xmlns:a16="http://schemas.microsoft.com/office/drawing/2014/main" id="{CAE491D9-CDA9-4F3D-A334-C1070DB7C71F}"/>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Authority, labels, SDS and the chemical register</a:t>
            </a:r>
          </a:p>
        </p:txBody>
      </p:sp>
      <p:sp>
        <p:nvSpPr>
          <p:cNvPr id="4" name="">
            <a:extLst xmlns:a="http://schemas.openxmlformats.org/drawingml/2006/main">
              <a:ext uri="{FF2B5EF4-FFF2-40B4-BE49-F238E27FC236}">
                <a16:creationId xmlns:a16="http://schemas.microsoft.com/office/drawing/2014/main" id="{B4DA4290-9AF4-4E0B-BDCA-B8F1C35733F1}"/>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10</a:t>
            </a:r>
          </a:p>
        </p:txBody>
      </p:sp>
      <p:sp>
        <p:nvSpPr>
          <p:cNvPr id="5" name="">
            <a:extLst xmlns:a="http://schemas.openxmlformats.org/drawingml/2006/main">
              <a:ext uri="{FF2B5EF4-FFF2-40B4-BE49-F238E27FC236}">
                <a16:creationId xmlns:a16="http://schemas.microsoft.com/office/drawing/2014/main" id="{81A7C88D-3E60-4D90-8B78-B38C47286BFD}"/>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2/10</a:t>
            </a:r>
          </a:p>
        </p:txBody>
      </p:sp>
      <p:sp>
        <p:nvSpPr>
          <p:cNvPr id="6" name="">
            <a:extLst xmlns:a="http://schemas.openxmlformats.org/drawingml/2006/main">
              <a:ext uri="{FF2B5EF4-FFF2-40B4-BE49-F238E27FC236}">
                <a16:creationId xmlns:a16="http://schemas.microsoft.com/office/drawing/2014/main" id="{D71504C0-B81D-4CD4-98B9-BFDB32155E48}"/>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56a409142e343c5">
            <a:extLst>
              <a:ext uri="{96DAC541-7B7A-43D3-8B79-37D633B846F1}">
                <asvg:svgBlip xmlns:asvg="http://schemas.microsoft.com/office/drawing/2016/SVG/main" r:embed="R2a46e60d5fb34dea"/>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6380365-5E95-4723-8AAD-E05E487D41AE}"/>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F0ECF08F-434F-4A16-B66B-C77D941B9196}"/>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Begin with exact product identity</a:t>
            </a:r>
          </a:p>
          <a:p xmlns:a="http://schemas.openxmlformats.org/drawingml/2006/main">
            <a:pPr algn="l">
              <a:defRPr sz="1725" b="1">
                <a:solidFill>
                  <a:srgbClr val="123E2A"/>
                </a:solidFill>
              </a:defRPr>
            </a:pPr>
            <a:r>
              <a:rPr sz="1725" b="1">
                <a:solidFill>
                  <a:srgbClr val="123E2A"/>
                </a:solidFill>
              </a:rPr>
              <a:t>• The registered label controls product use</a:t>
            </a:r>
          </a:p>
        </p:txBody>
      </p:sp>
      <p:sp>
        <p:nvSpPr>
          <p:cNvPr id="10" name="">
            <a:extLst xmlns:a="http://schemas.openxmlformats.org/drawingml/2006/main">
              <a:ext uri="{FF2B5EF4-FFF2-40B4-BE49-F238E27FC236}">
                <a16:creationId xmlns:a16="http://schemas.microsoft.com/office/drawing/2014/main" id="{E5530B14-167A-46D9-B271-0E26337EDF87}"/>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Chemical information is product-specific. The current registered label is the controlling product source for authorised uses, restrictions and directions.</a:t>
            </a:r>
          </a:p>
        </p:txBody>
      </p:sp>
      <p:sp>
        <p:nvSpPr>
          <p:cNvPr id="11" name="">
            <a:extLst xmlns:a="http://schemas.openxmlformats.org/drawingml/2006/main">
              <a:ext uri="{FF2B5EF4-FFF2-40B4-BE49-F238E27FC236}">
                <a16:creationId xmlns:a16="http://schemas.microsoft.com/office/drawing/2014/main" id="{95D3BDE3-DB18-43ED-A7C4-A0679101CAEB}"/>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44FD993E-0D39-46F4-9338-857F9A4A5319}"/>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85D034F6-BBB3-4829-912C-D78B5EE13668}"/>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069233605"/>
      </p:ext>
    </p:extLst>
  </p:cSld>
</p:sld>
</file>

<file path=ppt/slides/slide3.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584DD5B-C96C-4B2A-B779-37365E6E97F7}"/>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3">
            <a:extLst xmlns:a="http://schemas.openxmlformats.org/drawingml/2006/main">
              <a:ext uri="{FF2B5EF4-FFF2-40B4-BE49-F238E27FC236}">
                <a16:creationId xmlns:a16="http://schemas.microsoft.com/office/drawing/2014/main" id="{D6AAEF83-89EE-48B5-8D47-5690EF244FCB}"/>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10  •  PRIMARY INDUSTRIES</a:t>
            </a:r>
          </a:p>
        </p:txBody>
      </p:sp>
      <p:sp>
        <p:nvSpPr>
          <p:cNvPr id="3" name="title-3">
            <a:extLst xmlns:a="http://schemas.openxmlformats.org/drawingml/2006/main">
              <a:ext uri="{FF2B5EF4-FFF2-40B4-BE49-F238E27FC236}">
                <a16:creationId xmlns:a16="http://schemas.microsoft.com/office/drawing/2014/main" id="{F71F4C47-71D1-4D1A-B91D-2D24C776742D}"/>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FFFFF"/>
                </a:solidFill>
              </a:defRPr>
            </a:pPr>
            <a:r>
              <a:rPr sz="2025" b="1">
                <a:solidFill>
                  <a:srgbClr val="FFFFFF"/>
                </a:solidFill>
              </a:rPr>
              <a:t>Authority, labels, SDS and the chemical register: decide from evidence</a:t>
            </a:r>
          </a:p>
        </p:txBody>
      </p:sp>
      <p:sp>
        <p:nvSpPr>
          <p:cNvPr id="4" name="">
            <a:extLst xmlns:a="http://schemas.openxmlformats.org/drawingml/2006/main">
              <a:ext uri="{FF2B5EF4-FFF2-40B4-BE49-F238E27FC236}">
                <a16:creationId xmlns:a16="http://schemas.microsoft.com/office/drawing/2014/main" id="{E9E1E3F5-5749-4C89-9D00-5439F07AEF03}"/>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10</a:t>
            </a:r>
          </a:p>
        </p:txBody>
      </p:sp>
      <p:sp>
        <p:nvSpPr>
          <p:cNvPr id="5" name="">
            <a:extLst xmlns:a="http://schemas.openxmlformats.org/drawingml/2006/main">
              <a:ext uri="{FF2B5EF4-FFF2-40B4-BE49-F238E27FC236}">
                <a16:creationId xmlns:a16="http://schemas.microsoft.com/office/drawing/2014/main" id="{9A84CD7D-65E3-439A-BFB9-4B0BCB64D5EA}"/>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3/10</a:t>
            </a:r>
          </a:p>
        </p:txBody>
      </p:sp>
      <p:sp>
        <p:nvSpPr>
          <p:cNvPr id="6" name="">
            <a:extLst xmlns:a="http://schemas.openxmlformats.org/drawingml/2006/main">
              <a:ext uri="{FF2B5EF4-FFF2-40B4-BE49-F238E27FC236}">
                <a16:creationId xmlns:a16="http://schemas.microsoft.com/office/drawing/2014/main" id="{59256000-444E-4084-9144-CE191BA0C7AD}"/>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35834E6-B826-4822-B387-9E30AEBE4AD9}"/>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FF36EC4C-2923-423A-B248-DCD198A7E736}"/>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In a fictional source pack dated 12 February 2027, Kai finds a container image labelled Field Product Q, an SDS for Field Product Q, a register entry for Field Product R and an undated classroom summary.</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Kai does not combine the documents because the register identity conflicts and the summary has no currency evidence.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Kai records the exact mismatch and refers the pack to the supervisor without proposing product use.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Kai notes which source answered identity, product-use and hazard-information questions, while leaving all real directions to the current documents.</a:t>
            </a:r>
          </a:p>
        </p:txBody>
      </p:sp>
      <p:sp>
        <p:nvSpPr>
          <p:cNvPr id="9" name="">
            <a:extLst xmlns:a="http://schemas.openxmlformats.org/drawingml/2006/main">
              <a:ext uri="{FF2B5EF4-FFF2-40B4-BE49-F238E27FC236}">
                <a16:creationId xmlns:a16="http://schemas.microsoft.com/office/drawing/2014/main" id="{45750527-ABF2-4E56-AC41-0C341597A63C}"/>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640A880C-0DF0-4C97-9EBC-DEB429CB350A}"/>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6550310E-301F-4FEB-AA4D-74A3CD2CD469}"/>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source controls a product-specific use question?</a:t>
            </a:r>
          </a:p>
        </p:txBody>
      </p:sp>
      <p:sp>
        <p:nvSpPr>
          <p:cNvPr id="12" name="">
            <a:extLst xmlns:a="http://schemas.openxmlformats.org/drawingml/2006/main">
              <a:ext uri="{FF2B5EF4-FFF2-40B4-BE49-F238E27FC236}">
                <a16:creationId xmlns:a16="http://schemas.microsoft.com/office/drawing/2014/main" id="{DE48BC46-2F17-4F0B-A310-6FFC2E6A49FD}"/>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The current registered label matched to the exact product.</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An undated classroom slide with a similar product name.</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A worker's memory of what was used last season.</a:t>
            </a:r>
          </a:p>
        </p:txBody>
      </p:sp>
      <p:sp>
        <p:nvSpPr>
          <p:cNvPr id="13" name="">
            <a:extLst xmlns:a="http://schemas.openxmlformats.org/drawingml/2006/main">
              <a:ext uri="{FF2B5EF4-FFF2-40B4-BE49-F238E27FC236}">
                <a16:creationId xmlns:a16="http://schemas.microsoft.com/office/drawing/2014/main" id="{D13DF55C-4FA1-45A6-9A37-89F05CBAE6CE}"/>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Identity first, then the current registered source.</a:t>
            </a:r>
          </a:p>
        </p:txBody>
      </p:sp>
    </p:spTree>
    <p:extLst>
      <p:ext uri="{BB962C8B-B14F-4D97-AF65-F5344CB8AC3E}">
        <p14:creationId xmlns:p14="http://schemas.microsoft.com/office/powerpoint/2010/main" val="108910223"/>
      </p:ext>
    </p:extLst>
  </p:cSld>
</p:sld>
</file>

<file path=ppt/slides/slide4.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CC92532-9440-476B-8DDA-7D59FC6CA85F}"/>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4">
            <a:extLst xmlns:a="http://schemas.openxmlformats.org/drawingml/2006/main">
              <a:ext uri="{FF2B5EF4-FFF2-40B4-BE49-F238E27FC236}">
                <a16:creationId xmlns:a16="http://schemas.microsoft.com/office/drawing/2014/main" id="{779171CF-287D-4790-99FC-13DF4F6D46DB}"/>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10  •  PRIMARY INDUSTRIES</a:t>
            </a:r>
          </a:p>
        </p:txBody>
      </p:sp>
      <p:sp>
        <p:nvSpPr>
          <p:cNvPr id="3" name="title-4">
            <a:extLst xmlns:a="http://schemas.openxmlformats.org/drawingml/2006/main">
              <a:ext uri="{FF2B5EF4-FFF2-40B4-BE49-F238E27FC236}">
                <a16:creationId xmlns:a16="http://schemas.microsoft.com/office/drawing/2014/main" id="{4A9BB510-FF8C-49C2-951A-DE4DE715B606}"/>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Recognise weeds and compare control approaches</a:t>
            </a:r>
          </a:p>
        </p:txBody>
      </p:sp>
      <p:sp>
        <p:nvSpPr>
          <p:cNvPr id="4" name="">
            <a:extLst xmlns:a="http://schemas.openxmlformats.org/drawingml/2006/main">
              <a:ext uri="{FF2B5EF4-FFF2-40B4-BE49-F238E27FC236}">
                <a16:creationId xmlns:a16="http://schemas.microsoft.com/office/drawing/2014/main" id="{226DD17E-8D50-4917-B2C8-1A3092A7AD17}"/>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10</a:t>
            </a:r>
          </a:p>
        </p:txBody>
      </p:sp>
      <p:sp>
        <p:nvSpPr>
          <p:cNvPr id="5" name="">
            <a:extLst xmlns:a="http://schemas.openxmlformats.org/drawingml/2006/main">
              <a:ext uri="{FF2B5EF4-FFF2-40B4-BE49-F238E27FC236}">
                <a16:creationId xmlns:a16="http://schemas.microsoft.com/office/drawing/2014/main" id="{CA07FDCC-BCBC-4674-A639-9C10FC11A105}"/>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4/10</a:t>
            </a:r>
          </a:p>
        </p:txBody>
      </p:sp>
      <p:sp>
        <p:nvSpPr>
          <p:cNvPr id="6" name="">
            <a:extLst xmlns:a="http://schemas.openxmlformats.org/drawingml/2006/main">
              <a:ext uri="{FF2B5EF4-FFF2-40B4-BE49-F238E27FC236}">
                <a16:creationId xmlns:a16="http://schemas.microsoft.com/office/drawing/2014/main" id="{4E62B575-BAAB-4360-BA2E-128E35EFD6ED}"/>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98ceb7a1415497a">
            <a:extLst>
              <a:ext uri="{96DAC541-7B7A-43D3-8B79-37D633B846F1}">
                <asvg:svgBlip xmlns:asvg="http://schemas.microsoft.com/office/drawing/2016/SVG/main" r:embed="Ra8fc294ff38149a8"/>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71EE51A-47C4-4910-9590-DC6AD1C3364A}"/>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18E0CF0F-DA0D-4723-A5FF-2C8F6419D65D}"/>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A weed is defined by context and authority</a:t>
            </a:r>
          </a:p>
          <a:p xmlns:a="http://schemas.openxmlformats.org/drawingml/2006/main">
            <a:pPr algn="l">
              <a:defRPr sz="1725" b="1">
                <a:solidFill>
                  <a:srgbClr val="123E2A"/>
                </a:solidFill>
              </a:defRPr>
            </a:pPr>
            <a:r>
              <a:rPr sz="1725" b="1">
                <a:solidFill>
                  <a:srgbClr val="123E2A"/>
                </a:solidFill>
              </a:rPr>
              <a:t>• Describe features before naming the plant</a:t>
            </a:r>
          </a:p>
        </p:txBody>
      </p:sp>
      <p:sp>
        <p:nvSpPr>
          <p:cNvPr id="10" name="">
            <a:extLst xmlns:a="http://schemas.openxmlformats.org/drawingml/2006/main">
              <a:ext uri="{FF2B5EF4-FFF2-40B4-BE49-F238E27FC236}">
                <a16:creationId xmlns:a16="http://schemas.microsoft.com/office/drawing/2014/main" id="{CF2EB24F-FDAC-41D8-ABE9-69050B8E8239}"/>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 weed is a plant growing where it is unwanted or creating an identified agricultural, environmental or workplace problem. Useful observations may include growth form, leaf arrangement and shape, stem features, flowers or seed structures, growth stage, distribution and surrounding land use.</a:t>
            </a:r>
          </a:p>
        </p:txBody>
      </p:sp>
      <p:sp>
        <p:nvSpPr>
          <p:cNvPr id="11" name="">
            <a:extLst xmlns:a="http://schemas.openxmlformats.org/drawingml/2006/main">
              <a:ext uri="{FF2B5EF4-FFF2-40B4-BE49-F238E27FC236}">
                <a16:creationId xmlns:a16="http://schemas.microsoft.com/office/drawing/2014/main" id="{DD339279-7972-4BC0-BB42-36C93A8FD868}"/>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513E5CEB-B881-45BA-964A-E1A880AE7DBC}"/>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D70FCCC8-2B15-4B75-9EB5-8598793CB50D}"/>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760454440"/>
      </p:ext>
    </p:extLst>
  </p:cSld>
</p:sld>
</file>

<file path=ppt/slides/slide5.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6E07AAA-5F50-4EF1-B4C8-DD10D97FC37E}"/>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5">
            <a:extLst xmlns:a="http://schemas.openxmlformats.org/drawingml/2006/main">
              <a:ext uri="{FF2B5EF4-FFF2-40B4-BE49-F238E27FC236}">
                <a16:creationId xmlns:a16="http://schemas.microsoft.com/office/drawing/2014/main" id="{4FEFEBDD-58C9-4B4E-BF3A-2B5DE1D8C14C}"/>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10  •  PRIMARY INDUSTRIES</a:t>
            </a:r>
          </a:p>
        </p:txBody>
      </p:sp>
      <p:sp>
        <p:nvSpPr>
          <p:cNvPr id="3" name="title-5">
            <a:extLst xmlns:a="http://schemas.openxmlformats.org/drawingml/2006/main">
              <a:ext uri="{FF2B5EF4-FFF2-40B4-BE49-F238E27FC236}">
                <a16:creationId xmlns:a16="http://schemas.microsoft.com/office/drawing/2014/main" id="{21DB9AB1-9106-46BA-9039-545A5963BA69}"/>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Recognise weeds and compare control approaches: decide from evidence</a:t>
            </a:r>
          </a:p>
        </p:txBody>
      </p:sp>
      <p:sp>
        <p:nvSpPr>
          <p:cNvPr id="4" name="">
            <a:extLst xmlns:a="http://schemas.openxmlformats.org/drawingml/2006/main">
              <a:ext uri="{FF2B5EF4-FFF2-40B4-BE49-F238E27FC236}">
                <a16:creationId xmlns:a16="http://schemas.microsoft.com/office/drawing/2014/main" id="{BBE9665E-6BC2-48C7-96DF-EA12A1BC9123}"/>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10</a:t>
            </a:r>
          </a:p>
        </p:txBody>
      </p:sp>
      <p:sp>
        <p:nvSpPr>
          <p:cNvPr id="5" name="">
            <a:extLst xmlns:a="http://schemas.openxmlformats.org/drawingml/2006/main">
              <a:ext uri="{FF2B5EF4-FFF2-40B4-BE49-F238E27FC236}">
                <a16:creationId xmlns:a16="http://schemas.microsoft.com/office/drawing/2014/main" id="{ED9B9B19-9EA5-414B-97C9-636BFE786396}"/>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5/10</a:t>
            </a:r>
          </a:p>
        </p:txBody>
      </p:sp>
      <p:sp>
        <p:nvSpPr>
          <p:cNvPr id="6" name="">
            <a:extLst xmlns:a="http://schemas.openxmlformats.org/drawingml/2006/main">
              <a:ext uri="{FF2B5EF4-FFF2-40B4-BE49-F238E27FC236}">
                <a16:creationId xmlns:a16="http://schemas.microsoft.com/office/drawing/2014/main" id="{5CEFAE8C-A5DC-47A1-9894-B86C5F37C34B}"/>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610DD76C-F47D-44AB-8B92-6586B201403D}"/>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4B0E14B9-5A0A-4242-8E89-5D248035CAFB}"/>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On 8 March 2027, a fictional training map shows twelve similar rosette plants near a drainage line. The supplied photographs show leaf shape but no flowers, and two authorised identification cards remain possible matches.</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Noah does not name the plant or recommend a treatment because identity and nearby sensitivity remain unresolved.</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He records the observable features, extent, date and privacy-safe map zone and asks the supervisor what additional identification evidence is required.</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Noah updates the occurrence record with the confirmed identity source and leaves the control decision blank until authorised.</a:t>
            </a:r>
          </a:p>
        </p:txBody>
      </p:sp>
      <p:sp>
        <p:nvSpPr>
          <p:cNvPr id="9" name="">
            <a:extLst xmlns:a="http://schemas.openxmlformats.org/drawingml/2006/main">
              <a:ext uri="{FF2B5EF4-FFF2-40B4-BE49-F238E27FC236}">
                <a16:creationId xmlns:a16="http://schemas.microsoft.com/office/drawing/2014/main" id="{FC849A26-F348-413D-849C-2F35BC4BCDFF}"/>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20A5E33-0CF4-4B10-87B7-888116FA0EC5}"/>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BA7652F4-EE4D-4E51-899D-DE9D5DB067A6}"/>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A plant photograph lacks flowers and two authorised matches remain possible. What is the strongest conclusion?</a:t>
            </a:r>
          </a:p>
        </p:txBody>
      </p:sp>
      <p:sp>
        <p:nvSpPr>
          <p:cNvPr id="12" name="">
            <a:extLst xmlns:a="http://schemas.openxmlformats.org/drawingml/2006/main">
              <a:ext uri="{FF2B5EF4-FFF2-40B4-BE49-F238E27FC236}">
                <a16:creationId xmlns:a16="http://schemas.microsoft.com/office/drawing/2014/main" id="{04CEEDD7-8FDC-484E-8D7A-DAF1EFBB8C61}"/>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Choose the name that is more common in the district.</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Record the observed features and seek the additional evidence or expert confirmation required.</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Treat both possible species as identical for planning.</a:t>
            </a:r>
          </a:p>
        </p:txBody>
      </p:sp>
      <p:sp>
        <p:nvSpPr>
          <p:cNvPr id="13" name="">
            <a:extLst xmlns:a="http://schemas.openxmlformats.org/drawingml/2006/main">
              <a:ext uri="{FF2B5EF4-FFF2-40B4-BE49-F238E27FC236}">
                <a16:creationId xmlns:a16="http://schemas.microsoft.com/office/drawing/2014/main" id="{C05F9FF9-6539-4FBB-BAA3-7C6B56514083}"/>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Describe first; name only when the evidence and authority support it.</a:t>
            </a:r>
          </a:p>
        </p:txBody>
      </p:sp>
    </p:spTree>
    <p:extLst>
      <p:ext uri="{BB962C8B-B14F-4D97-AF65-F5344CB8AC3E}">
        <p14:creationId xmlns:p14="http://schemas.microsoft.com/office/powerpoint/2010/main" val="1160845531"/>
      </p:ext>
    </p:extLst>
  </p:cSld>
</p:sld>
</file>

<file path=ppt/slides/slide6.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EBD6D4D-DF94-4B43-B60C-CA37220C1A82}"/>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6">
            <a:extLst xmlns:a="http://schemas.openxmlformats.org/drawingml/2006/main">
              <a:ext uri="{FF2B5EF4-FFF2-40B4-BE49-F238E27FC236}">
                <a16:creationId xmlns:a16="http://schemas.microsoft.com/office/drawing/2014/main" id="{DA2F66D8-6564-4972-83D9-7B55D2084A8D}"/>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10  •  PRIMARY INDUSTRIES</a:t>
            </a:r>
          </a:p>
        </p:txBody>
      </p:sp>
      <p:sp>
        <p:nvSpPr>
          <p:cNvPr id="3" name="title-6">
            <a:extLst xmlns:a="http://schemas.openxmlformats.org/drawingml/2006/main">
              <a:ext uri="{FF2B5EF4-FFF2-40B4-BE49-F238E27FC236}">
                <a16:creationId xmlns:a16="http://schemas.microsoft.com/office/drawing/2014/main" id="{90DD78ED-B46E-442E-BC53-147BB933B238}"/>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Weather, off-target movement and neighbours</a:t>
            </a:r>
          </a:p>
        </p:txBody>
      </p:sp>
      <p:sp>
        <p:nvSpPr>
          <p:cNvPr id="4" name="">
            <a:extLst xmlns:a="http://schemas.openxmlformats.org/drawingml/2006/main">
              <a:ext uri="{FF2B5EF4-FFF2-40B4-BE49-F238E27FC236}">
                <a16:creationId xmlns:a16="http://schemas.microsoft.com/office/drawing/2014/main" id="{759B5A1B-11C9-44CD-BF68-32061663713E}"/>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10</a:t>
            </a:r>
          </a:p>
        </p:txBody>
      </p:sp>
      <p:sp>
        <p:nvSpPr>
          <p:cNvPr id="5" name="">
            <a:extLst xmlns:a="http://schemas.openxmlformats.org/drawingml/2006/main">
              <a:ext uri="{FF2B5EF4-FFF2-40B4-BE49-F238E27FC236}">
                <a16:creationId xmlns:a16="http://schemas.microsoft.com/office/drawing/2014/main" id="{08B04E71-F612-4D2E-B0DD-569D30C9B1D5}"/>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6/10</a:t>
            </a:r>
          </a:p>
        </p:txBody>
      </p:sp>
      <p:sp>
        <p:nvSpPr>
          <p:cNvPr id="6" name="">
            <a:extLst xmlns:a="http://schemas.openxmlformats.org/drawingml/2006/main">
              <a:ext uri="{FF2B5EF4-FFF2-40B4-BE49-F238E27FC236}">
                <a16:creationId xmlns:a16="http://schemas.microsoft.com/office/drawing/2014/main" id="{93C5D2C4-13E9-4CB7-AC58-EE44A1DC0AFA}"/>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ab53dea9bbe4151">
            <a:extLst>
              <a:ext uri="{96DAC541-7B7A-43D3-8B79-37D633B846F1}">
                <asvg:svgBlip xmlns:asvg="http://schemas.microsoft.com/office/drawing/2016/SVG/main" r:embed="R5eff38b5f2c845c4"/>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005D2EA-BEF5-4D6D-8A7A-858486379828}"/>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5E14D3AD-F139-4FE2-B24E-82D3ADF94EEC}"/>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Off-target movement is a pathway problem</a:t>
            </a:r>
          </a:p>
          <a:p xmlns:a="http://schemas.openxmlformats.org/drawingml/2006/main">
            <a:pPr algn="l">
              <a:defRPr sz="1725" b="1">
                <a:solidFill>
                  <a:srgbClr val="123E2A"/>
                </a:solidFill>
              </a:defRPr>
            </a:pPr>
            <a:r>
              <a:rPr sz="1725" b="1">
                <a:solidFill>
                  <a:srgbClr val="123E2A"/>
                </a:solidFill>
              </a:rPr>
              <a:t>• Weather information must match the task time and place</a:t>
            </a:r>
          </a:p>
        </p:txBody>
      </p:sp>
      <p:sp>
        <p:nvSpPr>
          <p:cNvPr id="10" name="">
            <a:extLst xmlns:a="http://schemas.openxmlformats.org/drawingml/2006/main">
              <a:ext uri="{FF2B5EF4-FFF2-40B4-BE49-F238E27FC236}">
                <a16:creationId xmlns:a16="http://schemas.microsoft.com/office/drawing/2014/main" id="{02648B9A-4E50-4B91-BDE3-F2B6A8F410D4}"/>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Off-target movement means material reaches somewhere outside the intended area. Wind, temperature, humidity and changing conditions may affect a chemical task, but a learning site must not set universal limits.</a:t>
            </a:r>
          </a:p>
        </p:txBody>
      </p:sp>
      <p:sp>
        <p:nvSpPr>
          <p:cNvPr id="11" name="">
            <a:extLst xmlns:a="http://schemas.openxmlformats.org/drawingml/2006/main">
              <a:ext uri="{FF2B5EF4-FFF2-40B4-BE49-F238E27FC236}">
                <a16:creationId xmlns:a16="http://schemas.microsoft.com/office/drawing/2014/main" id="{8E36F794-CF82-45E0-BB39-4178C473505D}"/>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D1984C14-5393-4817-BD9D-5238832873AC}"/>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445B94E9-BCB8-4E0F-B376-F2BAD49D60E6}"/>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478962665"/>
      </p:ext>
    </p:extLst>
  </p:cSld>
</p:sld>
</file>

<file path=ppt/slides/slide7.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DD782BF-D8B8-49F5-AF74-2CB5758CE33E}"/>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7">
            <a:extLst xmlns:a="http://schemas.openxmlformats.org/drawingml/2006/main">
              <a:ext uri="{FF2B5EF4-FFF2-40B4-BE49-F238E27FC236}">
                <a16:creationId xmlns:a16="http://schemas.microsoft.com/office/drawing/2014/main" id="{255B5A90-98D2-42F4-92E6-D3C0186DDB7A}"/>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10  •  PRIMARY INDUSTRIES</a:t>
            </a:r>
          </a:p>
        </p:txBody>
      </p:sp>
      <p:sp>
        <p:nvSpPr>
          <p:cNvPr id="3" name="title-7">
            <a:extLst xmlns:a="http://schemas.openxmlformats.org/drawingml/2006/main">
              <a:ext uri="{FF2B5EF4-FFF2-40B4-BE49-F238E27FC236}">
                <a16:creationId xmlns:a16="http://schemas.microsoft.com/office/drawing/2014/main" id="{B9EC0128-A179-40EE-BE34-D1F193C25A79}"/>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Weather, off-target movement and neighbours: decide from evidence</a:t>
            </a:r>
          </a:p>
        </p:txBody>
      </p:sp>
      <p:sp>
        <p:nvSpPr>
          <p:cNvPr id="4" name="">
            <a:extLst xmlns:a="http://schemas.openxmlformats.org/drawingml/2006/main">
              <a:ext uri="{FF2B5EF4-FFF2-40B4-BE49-F238E27FC236}">
                <a16:creationId xmlns:a16="http://schemas.microsoft.com/office/drawing/2014/main" id="{5FD3D1CC-3EFD-4F43-A9EB-2B9EB8033C51}"/>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10</a:t>
            </a:r>
          </a:p>
        </p:txBody>
      </p:sp>
      <p:sp>
        <p:nvSpPr>
          <p:cNvPr id="5" name="">
            <a:extLst xmlns:a="http://schemas.openxmlformats.org/drawingml/2006/main">
              <a:ext uri="{FF2B5EF4-FFF2-40B4-BE49-F238E27FC236}">
                <a16:creationId xmlns:a16="http://schemas.microsoft.com/office/drawing/2014/main" id="{17E3A0C5-62D5-4962-9CCB-9FE27F98F17E}"/>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7/10</a:t>
            </a:r>
          </a:p>
        </p:txBody>
      </p:sp>
      <p:sp>
        <p:nvSpPr>
          <p:cNvPr id="6" name="">
            <a:extLst xmlns:a="http://schemas.openxmlformats.org/drawingml/2006/main">
              <a:ext uri="{FF2B5EF4-FFF2-40B4-BE49-F238E27FC236}">
                <a16:creationId xmlns:a16="http://schemas.microsoft.com/office/drawing/2014/main" id="{181050F1-8E4F-4408-B7D4-CF8DDC93F536}"/>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4E2BD2D-5712-4010-8D0E-D524D763C818}"/>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253C5C78-518F-4F0D-8E7D-762FE8DAF764}"/>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At 9:25 am on 27 March 2027, a fictional planning scenario shows the work area beside Zone C, where a school bus is now parked unexpectedly. The saved forecast in the class pack is three hours old and…</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Amira cannot confirm that the approved plan still protects the new receptor or that conditions remain suitable.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She marks the task at the hold point and reports the bus location, source age and observed change to the supervisor.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Amira records the changed condition and authorisation outcome without inventing a weather limit or product adjustment.</a:t>
            </a:r>
          </a:p>
        </p:txBody>
      </p:sp>
      <p:sp>
        <p:nvSpPr>
          <p:cNvPr id="9" name="">
            <a:extLst xmlns:a="http://schemas.openxmlformats.org/drawingml/2006/main">
              <a:ext uri="{FF2B5EF4-FFF2-40B4-BE49-F238E27FC236}">
                <a16:creationId xmlns:a16="http://schemas.microsoft.com/office/drawing/2014/main" id="{2DD3149C-DBC9-46FE-86D3-4910E2A7C23A}"/>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DAAAC252-E00F-4D90-A78C-199FFC4F9327}"/>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D038A2DE-2D88-40D6-BBA0-5C5489DDAD7F}"/>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description best explains off-target risk?</a:t>
            </a:r>
          </a:p>
        </p:txBody>
      </p:sp>
      <p:sp>
        <p:nvSpPr>
          <p:cNvPr id="12" name="">
            <a:extLst xmlns:a="http://schemas.openxmlformats.org/drawingml/2006/main">
              <a:ext uri="{FF2B5EF4-FFF2-40B4-BE49-F238E27FC236}">
                <a16:creationId xmlns:a16="http://schemas.microsoft.com/office/drawing/2014/main" id="{2AA72190-6DAD-4AFD-B584-3F814946B0B6}"/>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A source can move along a pathway and affect a person, place or thing outside the intended area.</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Only visible damage inside the work area matters.</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Any wind automatically identifies the correct workplace response.</a:t>
            </a:r>
          </a:p>
        </p:txBody>
      </p:sp>
      <p:sp>
        <p:nvSpPr>
          <p:cNvPr id="13" name="">
            <a:extLst xmlns:a="http://schemas.openxmlformats.org/drawingml/2006/main">
              <a:ext uri="{FF2B5EF4-FFF2-40B4-BE49-F238E27FC236}">
                <a16:creationId xmlns:a16="http://schemas.microsoft.com/office/drawing/2014/main" id="{08AA4BF6-B5B3-48BF-AD0A-B9C180C70DC1}"/>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Source → pathway → receptor.</a:t>
            </a:r>
          </a:p>
        </p:txBody>
      </p:sp>
    </p:spTree>
    <p:extLst>
      <p:ext uri="{BB962C8B-B14F-4D97-AF65-F5344CB8AC3E}">
        <p14:creationId xmlns:p14="http://schemas.microsoft.com/office/powerpoint/2010/main" val="1895904336"/>
      </p:ext>
    </p:extLst>
  </p:cSld>
</p:sld>
</file>

<file path=ppt/slides/slide8.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EC7DA47-5B98-4917-980F-F365A9D7D008}"/>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8">
            <a:extLst xmlns:a="http://schemas.openxmlformats.org/drawingml/2006/main">
              <a:ext uri="{FF2B5EF4-FFF2-40B4-BE49-F238E27FC236}">
                <a16:creationId xmlns:a16="http://schemas.microsoft.com/office/drawing/2014/main" id="{A368255F-7CE9-4C15-A0C2-5FB6397D3350}"/>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10  •  PRIMARY INDUSTRIES</a:t>
            </a:r>
          </a:p>
        </p:txBody>
      </p:sp>
      <p:sp>
        <p:nvSpPr>
          <p:cNvPr id="3" name="title-8">
            <a:extLst xmlns:a="http://schemas.openxmlformats.org/drawingml/2006/main">
              <a:ext uri="{FF2B5EF4-FFF2-40B4-BE49-F238E27FC236}">
                <a16:creationId xmlns:a16="http://schemas.microsoft.com/office/drawing/2014/main" id="{49E6E4B0-9A19-4917-82E2-7F71BF48F2DD}"/>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Plan, calculate, record and report safely</a:t>
            </a:r>
          </a:p>
        </p:txBody>
      </p:sp>
      <p:sp>
        <p:nvSpPr>
          <p:cNvPr id="4" name="">
            <a:extLst xmlns:a="http://schemas.openxmlformats.org/drawingml/2006/main">
              <a:ext uri="{FF2B5EF4-FFF2-40B4-BE49-F238E27FC236}">
                <a16:creationId xmlns:a16="http://schemas.microsoft.com/office/drawing/2014/main" id="{1957FA0B-25D9-46DE-802E-074820B7C3BA}"/>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10</a:t>
            </a:r>
          </a:p>
        </p:txBody>
      </p:sp>
      <p:sp>
        <p:nvSpPr>
          <p:cNvPr id="5" name="">
            <a:extLst xmlns:a="http://schemas.openxmlformats.org/drawingml/2006/main">
              <a:ext uri="{FF2B5EF4-FFF2-40B4-BE49-F238E27FC236}">
                <a16:creationId xmlns:a16="http://schemas.microsoft.com/office/drawing/2014/main" id="{BD556A56-A09F-4258-AA31-E34A4573DEAA}"/>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8/10</a:t>
            </a:r>
          </a:p>
        </p:txBody>
      </p:sp>
      <p:sp>
        <p:nvSpPr>
          <p:cNvPr id="6" name="">
            <a:extLst xmlns:a="http://schemas.openxmlformats.org/drawingml/2006/main">
              <a:ext uri="{FF2B5EF4-FFF2-40B4-BE49-F238E27FC236}">
                <a16:creationId xmlns:a16="http://schemas.microsoft.com/office/drawing/2014/main" id="{934A94D0-CFB1-40EE-939E-BB46AE16383B}"/>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450b83f4ace4c74">
            <a:extLst>
              <a:ext uri="{96DAC541-7B7A-43D3-8B79-37D633B846F1}">
                <asvg:svgBlip xmlns:asvg="http://schemas.microsoft.com/office/drawing/2016/SVG/main" r:embed="Ra0e786cc1b2c48f6"/>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4F85739-F269-4A41-9A57-FBC1DDAFC3C7}"/>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BB7763F2-27A4-4063-80FF-90C02EE0FA79}"/>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A plan is a chain of verified decisions</a:t>
            </a:r>
          </a:p>
          <a:p xmlns:a="http://schemas.openxmlformats.org/drawingml/2006/main">
            <a:pPr algn="l">
              <a:defRPr sz="1725" b="1">
                <a:solidFill>
                  <a:srgbClr val="123E2A"/>
                </a:solidFill>
              </a:defRPr>
            </a:pPr>
            <a:r>
              <a:rPr sz="1725" b="1">
                <a:solidFill>
                  <a:srgbClr val="123E2A"/>
                </a:solidFill>
              </a:rPr>
              <a:t>• Use arithmetic to find inconsistencies, not create directions</a:t>
            </a:r>
          </a:p>
        </p:txBody>
      </p:sp>
      <p:sp>
        <p:nvSpPr>
          <p:cNvPr id="10" name="">
            <a:extLst xmlns:a="http://schemas.openxmlformats.org/drawingml/2006/main">
              <a:ext uri="{FF2B5EF4-FFF2-40B4-BE49-F238E27FC236}">
                <a16:creationId xmlns:a16="http://schemas.microsoft.com/office/drawing/2014/main" id="{F14F355E-6709-4E3A-9D68-A3EB47FFFE8E}"/>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 source-led chemical plan identifies the authorised task purpose, exact product source, work area, sensitive surroundings, current information checks, responsibilities, hold points and record destination. Routine numeracy can help check whether a supplied fictional plan is internally consistent.</a:t>
            </a:r>
          </a:p>
        </p:txBody>
      </p:sp>
      <p:sp>
        <p:nvSpPr>
          <p:cNvPr id="11" name="">
            <a:extLst xmlns:a="http://schemas.openxmlformats.org/drawingml/2006/main">
              <a:ext uri="{FF2B5EF4-FFF2-40B4-BE49-F238E27FC236}">
                <a16:creationId xmlns:a16="http://schemas.microsoft.com/office/drawing/2014/main" id="{6E494560-EA3D-4A68-A1E1-D496D41C92D3}"/>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53050A9F-1CDD-45ED-AAF4-26CC745A354A}"/>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4DB8E875-5981-4098-9FB3-31BC4E9AE8A8}"/>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333770492"/>
      </p:ext>
    </p:extLst>
  </p:cSld>
</p:sld>
</file>

<file path=ppt/slides/slide9.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3481006-21FB-4A36-9943-5D4F89285087}"/>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9">
            <a:extLst xmlns:a="http://schemas.openxmlformats.org/drawingml/2006/main">
              <a:ext uri="{FF2B5EF4-FFF2-40B4-BE49-F238E27FC236}">
                <a16:creationId xmlns:a16="http://schemas.microsoft.com/office/drawing/2014/main" id="{210E89FA-545E-48A8-9F38-D747158404D1}"/>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10  •  PRIMARY INDUSTRIES</a:t>
            </a:r>
          </a:p>
        </p:txBody>
      </p:sp>
      <p:sp>
        <p:nvSpPr>
          <p:cNvPr id="3" name="title-9">
            <a:extLst xmlns:a="http://schemas.openxmlformats.org/drawingml/2006/main">
              <a:ext uri="{FF2B5EF4-FFF2-40B4-BE49-F238E27FC236}">
                <a16:creationId xmlns:a16="http://schemas.microsoft.com/office/drawing/2014/main" id="{DB3D7DA8-C501-46F1-A7F2-2E4B5D99A198}"/>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Plan, calculate, record and report safely: decide from evidence</a:t>
            </a:r>
          </a:p>
        </p:txBody>
      </p:sp>
      <p:sp>
        <p:nvSpPr>
          <p:cNvPr id="4" name="">
            <a:extLst xmlns:a="http://schemas.openxmlformats.org/drawingml/2006/main">
              <a:ext uri="{FF2B5EF4-FFF2-40B4-BE49-F238E27FC236}">
                <a16:creationId xmlns:a16="http://schemas.microsoft.com/office/drawing/2014/main" id="{A22E9F1D-EA47-4366-9C90-05B7CCBD1673}"/>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10</a:t>
            </a:r>
          </a:p>
        </p:txBody>
      </p:sp>
      <p:sp>
        <p:nvSpPr>
          <p:cNvPr id="5" name="">
            <a:extLst xmlns:a="http://schemas.openxmlformats.org/drawingml/2006/main">
              <a:ext uri="{FF2B5EF4-FFF2-40B4-BE49-F238E27FC236}">
                <a16:creationId xmlns:a16="http://schemas.microsoft.com/office/drawing/2014/main" id="{A73D3FFE-67AF-4BA2-86D9-5A771F0660EA}"/>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9/10</a:t>
            </a:r>
          </a:p>
        </p:txBody>
      </p:sp>
      <p:sp>
        <p:nvSpPr>
          <p:cNvPr id="6" name="">
            <a:extLst xmlns:a="http://schemas.openxmlformats.org/drawingml/2006/main">
              <a:ext uri="{FF2B5EF4-FFF2-40B4-BE49-F238E27FC236}">
                <a16:creationId xmlns:a16="http://schemas.microsoft.com/office/drawing/2014/main" id="{66797177-9F9F-4C8B-A1BE-BA550ACC96A9}"/>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7F66B5A-3ED2-4DCA-ABBD-EA0E397D79FD}"/>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4C884B94-9F32-43D1-84B9-34FDB26851A9}"/>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 fictional planning sheet dated 4 April 2027 lists three training zones of 0.8 ha each but shows a total of 2.6 ha. Product fields are intentionally blank and the source card is marked classroom rehearsal only.</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Elena identifies that the areas total 2.4 ha and does not use either figure to derive any chemical quantity.</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She preserves the original figures, shows the addition and flags the total for supervisor review.</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Elena records the corrected fictional area with the confirmation note and leaves every operational field linked to its authorised source.</a:t>
            </a:r>
          </a:p>
        </p:txBody>
      </p:sp>
      <p:sp>
        <p:nvSpPr>
          <p:cNvPr id="9" name="">
            <a:extLst xmlns:a="http://schemas.openxmlformats.org/drawingml/2006/main">
              <a:ext uri="{FF2B5EF4-FFF2-40B4-BE49-F238E27FC236}">
                <a16:creationId xmlns:a16="http://schemas.microsoft.com/office/drawing/2014/main" id="{1C1B6FF9-E84D-49A1-86E4-389F74B1B68E}"/>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E34C0561-7466-4C66-B9D2-1B7FE56784C2}"/>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2B769A0A-E674-4B0A-BE1B-889C62BED314}"/>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A fictional sheet lists 0.8 ha, 0.8 ha and 0.8 ha but states a total of 2.6 ha. What is the strongest response?</a:t>
            </a:r>
          </a:p>
        </p:txBody>
      </p:sp>
      <p:sp>
        <p:nvSpPr>
          <p:cNvPr id="12" name="">
            <a:extLst xmlns:a="http://schemas.openxmlformats.org/drawingml/2006/main">
              <a:ext uri="{FF2B5EF4-FFF2-40B4-BE49-F238E27FC236}">
                <a16:creationId xmlns:a16="http://schemas.microsoft.com/office/drawing/2014/main" id="{6AFD704A-E8BC-4A59-B598-51C6DE293E3B}"/>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Change the largest zone until the total matches.</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Show that the listed areas total 2.4 ha, preserve the original entry and refer the mismatch.</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Use 2.6 ha because totals are always more reliable than line items.</a:t>
            </a:r>
          </a:p>
        </p:txBody>
      </p:sp>
      <p:sp>
        <p:nvSpPr>
          <p:cNvPr id="13" name="">
            <a:extLst xmlns:a="http://schemas.openxmlformats.org/drawingml/2006/main">
              <a:ext uri="{FF2B5EF4-FFF2-40B4-BE49-F238E27FC236}">
                <a16:creationId xmlns:a16="http://schemas.microsoft.com/office/drawing/2014/main" id="{41E7B3AA-716E-4EE9-A4A9-C809C97DEC9C}"/>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Add the three like units, then compare rather than overwrite.</a:t>
            </a:r>
          </a:p>
        </p:txBody>
      </p:sp>
    </p:spTree>
    <p:extLst>
      <p:ext uri="{BB962C8B-B14F-4D97-AF65-F5344CB8AC3E}">
        <p14:creationId xmlns:p14="http://schemas.microsoft.com/office/powerpoint/2010/main" val="97537230"/>
      </p:ext>
    </p:extLst>
  </p:cSld>
</p:sld>
</file>

<file path=ppt/slides/slide10.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3DFDA8-3060-4D62-A73E-0D85F3DD7B50}"/>
              </a:ext>
            </a:extLst>
          </p:cNvPr>
          <p:cNvSpPr>
            <a:spLocks xmlns:a="http://schemas.openxmlformats.org/drawingml/2006/main" noGrp="1"/>
          </p:cNvSpPr>
          <p:nvPr/>
        </p:nvSpPr>
        <p:spPr>
          <a:xfrm xmlns:a="http://schemas.openxmlformats.org/drawingml/2006/main">
            <a:off x="571500" y="4572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CLOSE THE LOOP WITH EVIDENCE</a:t>
            </a:r>
          </a:p>
        </p:txBody>
      </p:sp>
      <p:sp>
        <p:nvSpPr>
          <p:cNvPr id="2" name="">
            <a:extLst xmlns:a="http://schemas.openxmlformats.org/drawingml/2006/main">
              <a:ext uri="{FF2B5EF4-FFF2-40B4-BE49-F238E27FC236}">
                <a16:creationId xmlns:a16="http://schemas.microsoft.com/office/drawing/2014/main" id="{E45FDC26-A7A8-4407-9A89-3247A96B8C4D}"/>
              </a:ext>
            </a:extLst>
          </p:cNvPr>
          <p:cNvSpPr>
            <a:spLocks xmlns:a="http://schemas.openxmlformats.org/drawingml/2006/main" noGrp="1"/>
          </p:cNvSpPr>
          <p:nvPr/>
        </p:nvSpPr>
        <p:spPr>
          <a:xfrm xmlns:a="http://schemas.openxmlformats.org/drawingml/2006/main">
            <a:off x="571500" y="8763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Apply the task route — then check the boundary</a:t>
            </a:r>
          </a:p>
        </p:txBody>
      </p:sp>
      <p:sp>
        <p:nvSpPr>
          <p:cNvPr id="3" name="">
            <a:extLst xmlns:a="http://schemas.openxmlformats.org/drawingml/2006/main">
              <a:ext uri="{FF2B5EF4-FFF2-40B4-BE49-F238E27FC236}">
                <a16:creationId xmlns:a16="http://schemas.microsoft.com/office/drawing/2014/main" id="{D57CBDA0-7D44-4561-8BDA-EE36D59976D3}"/>
              </a:ext>
            </a:extLst>
          </p:cNvPr>
          <p:cNvSpPr>
            <a:spLocks xmlns:a="http://schemas.openxmlformats.org/drawingml/2006/main" noGrp="1"/>
          </p:cNvSpPr>
          <p:nvPr/>
        </p:nvSpPr>
        <p:spPr>
          <a:xfrm xmlns:a="http://schemas.openxmlformats.org/drawingml/2006/main">
            <a:off x="571500" y="1809750"/>
            <a:ext cx="4095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3EEDF"/>
                </a:solidFill>
              </a:defRPr>
            </a:pPr>
            <a:r>
              <a:rPr sz="1650" b="1">
                <a:solidFill>
                  <a:srgbClr val="F3EEDF"/>
                </a:solidFill>
              </a:rPr>
              <a:t>01  Authority, labels, SDS and the chemical register</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02  Recognise weeds and compare control approaches</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03  Weather, off-target movement and neighbours</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04  Plan, calculate, record and report safely</a:t>
            </a:r>
          </a:p>
        </p:txBody>
      </p:sp>
      <p:sp>
        <p:nvSpPr>
          <p:cNvPr id="4" name="">
            <a:extLst xmlns:a="http://schemas.openxmlformats.org/drawingml/2006/main">
              <a:ext uri="{FF2B5EF4-FFF2-40B4-BE49-F238E27FC236}">
                <a16:creationId xmlns:a16="http://schemas.microsoft.com/office/drawing/2014/main" id="{2AB0B32F-7221-4A4B-8898-9C7499CCB247}"/>
              </a:ext>
            </a:extLst>
          </p:cNvPr>
          <p:cNvSpPr>
            <a:spLocks xmlns:a="http://schemas.openxmlformats.org/drawingml/2006/main" noGrp="1"/>
          </p:cNvSpPr>
          <p:nvPr/>
        </p:nvSpPr>
        <p:spPr>
          <a:xfrm xmlns:a="http://schemas.openxmlformats.org/drawingml/2006/main">
            <a:off x="5143500" y="1809750"/>
            <a:ext cx="6191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FFF"/>
                </a:solidFill>
              </a:defRPr>
            </a:pPr>
            <a:r>
              <a:rPr sz="1350" b="0">
                <a:solidFill>
                  <a:srgbClr val="FFFFFF"/>
                </a:solidFill>
              </a:rPr>
              <a:t>Build a source-authority matrix</a:t>
            </a:r>
          </a:p>
          <a:p xmlns:a="http://schemas.openxmlformats.org/drawingml/2006/main">
            <a:pPr algn="l">
              <a:defRPr sz="1350" b="0">
                <a:solidFill>
                  <a:srgbClr val="FFFFFF"/>
                </a:solidFill>
              </a:defRPr>
            </a:pPr>
            <a:r>
              <a:rPr sz="1350" b="0">
                <a:solidFill>
                  <a:srgbClr val="FFFFFF"/>
                </a:solidFill>
              </a:rPr>
              <a:t>Use a fictional teacher-prepared document set.</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Complete a fictional occurrence and source card</a:t>
            </a:r>
          </a:p>
          <a:p xmlns:a="http://schemas.openxmlformats.org/drawingml/2006/main">
            <a:pPr algn="l">
              <a:defRPr sz="1350" b="0">
                <a:solidFill>
                  <a:srgbClr val="FFFFFF"/>
                </a:solidFill>
              </a:defRPr>
            </a:pPr>
            <a:r>
              <a:rPr sz="1350" b="0">
                <a:solidFill>
                  <a:srgbClr val="FFFFFF"/>
                </a:solidFill>
              </a:rPr>
              <a:t>Annotate supplied privacy-safe plant images, match visible features to authorised identification cards and mark the confidence gap.</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Mark a fictional off-target pathway map</a:t>
            </a:r>
          </a:p>
          <a:p xmlns:a="http://schemas.openxmlformats.org/drawingml/2006/main">
            <a:pPr algn="l">
              <a:defRPr sz="1350" b="0">
                <a:solidFill>
                  <a:srgbClr val="FFFFFF"/>
                </a:solidFill>
              </a:defRPr>
            </a:pPr>
            <a:r>
              <a:rPr sz="1350" b="0">
                <a:solidFill>
                  <a:srgbClr val="FFFFFF"/>
                </a:solidFill>
              </a:rPr>
              <a:t>On a privacy-safe map, draw arrows from possible source zones to sensitive receptors, attach source timestamps and circle any changed condition requiring review.</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Audit a source-led fictional plan</a:t>
            </a:r>
          </a:p>
          <a:p xmlns:a="http://schemas.openxmlformats.org/drawingml/2006/main">
            <a:pPr algn="l">
              <a:defRPr sz="1350" b="0">
                <a:solidFill>
                  <a:srgbClr val="FFFFFF"/>
                </a:solidFill>
              </a:defRPr>
            </a:pPr>
            <a:r>
              <a:rPr sz="1350" b="0">
                <a:solidFill>
                  <a:srgbClr val="FFFFFF"/>
                </a:solidFill>
              </a:rPr>
              <a:t>Use a teacher-supplied non-operational sheet.</a:t>
            </a:r>
          </a:p>
        </p:txBody>
      </p:sp>
      <p:sp>
        <p:nvSpPr>
          <p:cNvPr id="5" name="">
            <a:extLst xmlns:a="http://schemas.openxmlformats.org/drawingml/2006/main">
              <a:ext uri="{FF2B5EF4-FFF2-40B4-BE49-F238E27FC236}">
                <a16:creationId xmlns:a16="http://schemas.microsoft.com/office/drawing/2014/main" id="{A34DEA80-A861-4A6D-958E-08CEE724A080}"/>
              </a:ext>
            </a:extLst>
          </p:cNvPr>
          <p:cNvSpPr>
            <a:spLocks xmlns:a="http://schemas.openxmlformats.org/drawingml/2006/main" noGrp="1"/>
          </p:cNvSpPr>
          <p:nvPr/>
        </p:nvSpPr>
        <p:spPr>
          <a:xfrm xmlns:a="http://schemas.openxmlformats.org/drawingml/2006/main">
            <a:off x="571500" y="5391150"/>
            <a:ext cx="10763250" cy="876300"/>
          </a:xfrm>
          <a:prstGeom xmlns:a="http://schemas.openxmlformats.org/drawingml/2006/main" prst="roundRect">
            <a:avLst>
              <a:gd name="adj" fmla="val 19565"/>
            </a:avLst>
          </a:prstGeom>
          <a:solidFill xmlns:a="http://schemas.openxmlformats.org/drawingml/2006/main">
            <a:srgbClr val="F3EEDF"/>
          </a:solidFill>
          <a:ln xmlns:a="http://schemas.openxmlformats.org/drawingml/2006/main" w="9525">
            <a:solidFill>
              <a:srgbClr val="D4A62A"/>
            </a:solidFill>
            <a:prstDash val="solid"/>
          </a:ln>
        </p:spPr>
      </p:sp>
      <p:sp>
        <p:nvSpPr>
          <p:cNvPr id="6" name="">
            <a:extLst xmlns:a="http://schemas.openxmlformats.org/drawingml/2006/main">
              <a:ext uri="{FF2B5EF4-FFF2-40B4-BE49-F238E27FC236}">
                <a16:creationId xmlns:a16="http://schemas.microsoft.com/office/drawing/2014/main" id="{39D118E1-F1D3-40E3-A017-4E2E6AF527E2}"/>
              </a:ext>
            </a:extLst>
          </p:cNvPr>
          <p:cNvSpPr>
            <a:spLocks xmlns:a="http://schemas.openxmlformats.org/drawingml/2006/main" noGrp="1"/>
          </p:cNvSpPr>
          <p:nvPr/>
        </p:nvSpPr>
        <p:spPr>
          <a:xfrm xmlns:a="http://schemas.openxmlformats.org/drawingml/2006/main">
            <a:off x="800100" y="5600700"/>
            <a:ext cx="1032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E2A"/>
                </a:solidFill>
              </a:defRPr>
            </a:pPr>
            <a:r>
              <a:rPr sz="1425" b="1">
                <a:solidFill>
                  <a:srgbClr val="123E2A"/>
                </a:solidFill>
              </a:rPr>
              <a:t>NEXT STEP  Complete the teacher-nominated learning action. Use current local sources and supervision before any real practical decision. Website responses remain formative.</a:t>
            </a:r>
          </a:p>
        </p:txBody>
      </p:sp>
    </p:spTree>
    <p:extLst>
      <p:ext uri="{BB962C8B-B14F-4D97-AF65-F5344CB8AC3E}">
        <p14:creationId xmlns:p14="http://schemas.microsoft.com/office/powerpoint/2010/main" val="9501251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2026-08-21T10:03:42.6740000Z</dcterms:created>
  <dcterms:modified xsi:type="dcterms:W3CDTF">2026-08-21T10:03:42.6740000Z</dcterms:modified>
</coreProperties>
</file>