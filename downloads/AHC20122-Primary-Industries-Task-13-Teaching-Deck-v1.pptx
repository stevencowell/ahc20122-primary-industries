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4e46345834c43e7" /><Relationship Type="http://schemas.openxmlformats.org/officeDocument/2006/relationships/extended-properties" Target="/docProps/app.xml" Id="R262d76e140064c57" /><Relationship Type="http://schemas.openxmlformats.org/officeDocument/2006/relationships/officeDocument" Target="/ppt/presentation.xml" Id="R198e53a297dd4a6a" /></Relationships>
</file>

<file path=ppt/presentation.xml><?xml version="1.0" encoding="utf-8"?>
<p:presentation xmlns:p="http://schemas.openxmlformats.org/presentationml/2006/main">
  <p:sldMasterIdLst>
    <p:sldMasterId xmlns:r="http://schemas.openxmlformats.org/officeDocument/2006/relationships" id="2147483648" r:id="R920237a8d37b41c6"/>
  </p:sldMasterIdLst>
  <p:notesMasterIdLst>
    <p:notesMasterId xmlns:r="http://schemas.openxmlformats.org/officeDocument/2006/relationships" r:id="R1d3cff51147d4c27"/>
  </p:notesMasterIdLst>
  <p:sldIdLst>
    <p:sldId xmlns:r="http://schemas.openxmlformats.org/officeDocument/2006/relationships" id="256" r:id="Re27e96762e1b4ee7"/>
    <p:sldId xmlns:r="http://schemas.openxmlformats.org/officeDocument/2006/relationships" id="257" r:id="R0399d31524074727"/>
    <p:sldId xmlns:r="http://schemas.openxmlformats.org/officeDocument/2006/relationships" id="258" r:id="Rbf939fceac1842c0"/>
    <p:sldId xmlns:r="http://schemas.openxmlformats.org/officeDocument/2006/relationships" id="259" r:id="R6d2ad61e9cd04135"/>
    <p:sldId xmlns:r="http://schemas.openxmlformats.org/officeDocument/2006/relationships" id="260" r:id="Rd52face53d2d4fd1"/>
    <p:sldId xmlns:r="http://schemas.openxmlformats.org/officeDocument/2006/relationships" id="261" r:id="Refa656ea5e9b492d"/>
    <p:sldId xmlns:r="http://schemas.openxmlformats.org/officeDocument/2006/relationships" id="262" r:id="R4c661ec850934bf0"/>
    <p:sldId xmlns:r="http://schemas.openxmlformats.org/officeDocument/2006/relationships" id="263" r:id="R707e02d41979421b"/>
    <p:sldId xmlns:r="http://schemas.openxmlformats.org/officeDocument/2006/relationships" id="264" r:id="R4667b8ed3e2b4d4b"/>
    <p:sldId xmlns:r="http://schemas.openxmlformats.org/officeDocument/2006/relationships" id="265" r:id="R866499250b8d4ba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dd7b03a1c54664" /><Relationship Type="http://schemas.openxmlformats.org/officeDocument/2006/relationships/slideMaster" Target="/ppt/slideMasters/slideMaster1.xml" Id="R920237a8d37b41c6" /><Relationship Type="http://schemas.openxmlformats.org/officeDocument/2006/relationships/notesMaster" Target="/ppt/notesMasters/notesMaster1.xml" Id="R1d3cff51147d4c27" /><Relationship Type="http://schemas.openxmlformats.org/officeDocument/2006/relationships/presProps" Target="/ppt/presProps.xml" Id="Rb67b8f891fd34af1" /><Relationship Type="http://schemas.openxmlformats.org/officeDocument/2006/relationships/tableStyles" Target="/ppt/tableStyles.xml" Id="Rb77d354b8a7f40ac" /><Relationship Type="http://schemas.openxmlformats.org/officeDocument/2006/relationships/slide" Target="/ppt/slides/slide1.xml" Id="Re27e96762e1b4ee7" /><Relationship Type="http://schemas.openxmlformats.org/officeDocument/2006/relationships/slide" Target="/ppt/slides/slide2.xml" Id="R0399d31524074727" /><Relationship Type="http://schemas.openxmlformats.org/officeDocument/2006/relationships/slide" Target="/ppt/slides/slide3.xml" Id="Rbf939fceac1842c0" /><Relationship Type="http://schemas.openxmlformats.org/officeDocument/2006/relationships/slide" Target="/ppt/slides/slide4.xml" Id="R6d2ad61e9cd04135" /><Relationship Type="http://schemas.openxmlformats.org/officeDocument/2006/relationships/slide" Target="/ppt/slides/slide5.xml" Id="Rd52face53d2d4fd1" /><Relationship Type="http://schemas.openxmlformats.org/officeDocument/2006/relationships/slide" Target="/ppt/slides/slide6.xml" Id="Refa656ea5e9b492d" /><Relationship Type="http://schemas.openxmlformats.org/officeDocument/2006/relationships/slide" Target="/ppt/slides/slide7.xml" Id="R4c661ec850934bf0" /><Relationship Type="http://schemas.openxmlformats.org/officeDocument/2006/relationships/slide" Target="/ppt/slides/slide8.xml" Id="R707e02d41979421b" /><Relationship Type="http://schemas.openxmlformats.org/officeDocument/2006/relationships/slide" Target="/ppt/slides/slide9.xml" Id="R4667b8ed3e2b4d4b" /><Relationship Type="http://schemas.openxmlformats.org/officeDocument/2006/relationships/slide" Target="/ppt/slides/slide10.xml" Id="R866499250b8d4b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5eb64cc7734a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a71a3efef1498e" /><Relationship Type="http://schemas.openxmlformats.org/officeDocument/2006/relationships/notesMaster" Target="/ppt/notesMasters/notesMaster1.xml" Id="R9a9dbe4412e144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8dcaf264d845e9" /><Relationship Type="http://schemas.openxmlformats.org/officeDocument/2006/relationships/notesMaster" Target="/ppt/notesMasters/notesMaster1.xml" Id="R6b7d7f3bc8524f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6c56322b1044ac" /><Relationship Type="http://schemas.openxmlformats.org/officeDocument/2006/relationships/notesMaster" Target="/ppt/notesMasters/notesMaster1.xml" Id="R1f5a676d6af94b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750f2333534678" /><Relationship Type="http://schemas.openxmlformats.org/officeDocument/2006/relationships/notesMaster" Target="/ppt/notesMasters/notesMaster1.xml" Id="Rc71184f9ff0041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b87462483c459e" /><Relationship Type="http://schemas.openxmlformats.org/officeDocument/2006/relationships/notesMaster" Target="/ppt/notesMasters/notesMaster1.xml" Id="R2ff81c96d4044c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85d1dc64494857" /><Relationship Type="http://schemas.openxmlformats.org/officeDocument/2006/relationships/notesMaster" Target="/ppt/notesMasters/notesMaster1.xml" Id="R7c6acdf39ba140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e64f7081e9469f" /><Relationship Type="http://schemas.openxmlformats.org/officeDocument/2006/relationships/notesMaster" Target="/ppt/notesMasters/notesMaster1.xml" Id="R837b09ca67c04cc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6fb4728ef74190" /><Relationship Type="http://schemas.openxmlformats.org/officeDocument/2006/relationships/notesMaster" Target="/ppt/notesMasters/notesMaster1.xml" Id="R7fc5fd025a99429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d2a99a6ef9402a" /><Relationship Type="http://schemas.openxmlformats.org/officeDocument/2006/relationships/notesMaster" Target="/ppt/notesMasters/notesMaster1.xml" Id="R3529bf1d7271430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a9e2d423a249ee" /><Relationship Type="http://schemas.openxmlformats.org/officeDocument/2006/relationships/notesMaster" Target="/ppt/notesMasters/notesMaster1.xml" Id="Rb00eeb32429040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connecting the task purpose to the four-module route. Ask students which module most clearly prepares them to notice evidence, make a source-led decision and report through authority.</a:t>
            </a:r>
          </a:p>
          <a:p xmlns:a="http://schemas.openxmlformats.org/drawingml/2006/main">
            <a:r>
              <a:t>Boundary: Supplementary learning is grounded in AHCINF205 Release 1 and controlled student-package titles recorded in the source manifest. The site teaches conceptual component relationships, fictional brief reading, hazard and authority recognition, observable condition reasoning, source comparison, records and safe handover only. Energiser connection, electrical isolation, electrical testing, earth-system installation, wiring, live-system work, repair and component installation require the approved design, manufacturer information, local procedures, teacher demonstration and direct supervision. Site responses are formative and do not demonstrate competency.</a:t>
            </a:r>
          </a:p>
          <a:p xmlns:a="http://schemas.openxmlformats.org/drawingml/2006/main">
            <a:r>
              <a:t>[Sources]</a:t>
            </a:r>
          </a:p>
          <a:p xmlns:a="http://schemas.openxmlformats.org/drawingml/2006/main">
            <a:r>
              <a:t>- Supplementary learning is grounded in AHCINF205 Release 1 and controlled student-package titles recorded in the source manifest. The site teaches conceptual component relationships, fictional brief reading, hazard and authority recognition, observable condition reasoning, source comparison, records and safe handover only. Energiser connection, electrical isolation, electrical testing, earth-system installation, wiring, live-system work, repair and component installation require the approved design, manufacturer information, local procedures, teacher demonstration and direct supervision. Site responses are formative and do not demonstrate competency.</a:t>
            </a:r>
          </a:p>
          <a:p xmlns:a="http://schemas.openxmlformats.org/drawingml/2006/main">
            <a:r>
              <a:t>- Course hero: Generated for this course using OpenAI ImageGen on 21 August 2026.</a:t>
            </a:r>
          </a:p>
          <a:p xmlns:a="http://schemas.openxmlformats.org/drawingml/2006/main">
            <a:r>
              <a:t>- Course data: work/pi/site-data/course.json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Compare the intended path with the supporting structure it must remain separated from. Conductor carries the intended path; insulator separates it.</a:t>
            </a:r>
          </a:p>
          <a:p xmlns:a="http://schemas.openxmlformats.org/drawingml/2006/main">
            <a:r>
              <a:t>Applied action: Build a conceptual component map. Label the parts of a teacher-supplied fictional diagram, draw relationship arrows and flag one missing or conflicting source detail. Do not create connection or installation instructions.</a:t>
            </a:r>
          </a:p>
          <a:p xmlns:a="http://schemas.openxmlformats.org/drawingml/2006/main">
            <a:r>
              <a:t>Boundary: Supplementary learning is grounded in AHCINF205 Release 1 and controlled student-package titles recorded in the source manifest. The site teaches conceptual component relationships, fictional brief reading, hazard and authority recognition, observable condition reasoning, source comparison, records and safe handover only. Energiser connection, electrical isolation, electrical testing, earth-system installation, wiring, live-system work, repair and component installation require the approved design, manufacturer information, local procedures, teacher demonstration and direct supervision. Site responses are formative and do not demonstrate competency.</a:t>
            </a:r>
          </a:p>
          <a:p xmlns:a="http://schemas.openxmlformats.org/drawingml/2006/main">
            <a:r>
              <a:t>[Sources]</a:t>
            </a:r>
          </a:p>
          <a:p xmlns:a="http://schemas.openxmlformats.org/drawingml/2006/main">
            <a:r>
              <a:t>- Source basis: AHCINF205 Release 1 basic electric-fence component and supervised-work context. The current approved design, manufacturer information, local procedures and teacher demonstration control all practical component decisions.</a:t>
            </a:r>
          </a:p>
          <a:p xmlns:a="http://schemas.openxmlformats.org/drawingml/2006/main">
            <a:r>
              <a:t>- Visual visual-task-13-01: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Compare the intended path with the supporting structure it must remain separated from. Conductor carries the intended path; insulator separates it.
Applied action: Build a conceptual component map. Label the parts of a teacher-supplied fictional diagram, draw relationship arrows and flag one missing or conflicting source detail. Do not create connection or installation instructions.
Boundary: Supplementary learning is grounded in AHCINF205 Release 1 and controlled student-package titles recorded in the source manifest. The site teaches conceptual component relationships, fictional brief reading, hazard and authority recognition, observable condition reasoning, source comparison, records and safe handover only. Energiser connection, electrical isolation, electrical testing, earth-system installation, wiring, live-system work, repair and component installation require the approved design, manufacturer information, local procedures, teacher demonstration and direct supervision. Site responses are formative and do not demonstrate competency.
[Sources]
- Source basis: AHCINF205 Release 1 basic electric-fence component and supervised-work context. The current approved design, manufacturer information, local procedures and teacher demonstration control all practical component decisions.
- Visual visual-task-13-01: Generated locally from accepted Stage 05 module headings; no external image copied.
- Course visual manifest: work/pi/visuals/visual-manifest.json</a:t>
            </a:r>
          </a:p>
          <a:p xmlns:a="http://schemas.openxmlformats.org/drawingml/2006/main">
            <a:r>
              <a:t>Formative check answer: To separate the intended conductor path from supporting structures and unintended contact.</a:t>
            </a:r>
          </a:p>
          <a:p xmlns:a="http://schemas.openxmlformats.org/drawingml/2006/main">
            <a:r>
              <a:t>Correct feedback: You identified the separation relationship without turning it into an installation step.</a:t>
            </a:r>
          </a:p>
          <a:p xmlns:a="http://schemas.openxmlformats.org/drawingml/2006/main">
            <a:r>
              <a:t>Corrective feedback: Compare the intended path with the supporting structure it must remain separated from.</a:t>
            </a:r>
          </a:p>
          <a:p xmlns:a="http://schemas.openxmlformats.org/drawingml/2006/main">
            <a:r>
              <a:t>Full contextual example: Observed evidence: A fictional classroom system diagram dated 4 September 2027 labels an energiser, three conductor segments, insulators, a gate assembly and an earth-system symbol. Segment C is shown touching a support directly, while the revision note says conceptual fault for discussion only. Decision and reason: Mei identifies that the intended conductor–insulator relationship is broken in the diagram but does not describe a repair or approach a real fence. Safe action: She marks the relationship conflict and asks which approved source defines the correct component arrangement. Result: The teacher opens the authorised manufacturer diagram for comparison. Next check or record: Mei updates her component map with the controlling source identifier and records that practical action remains supervised.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Do not infer status from appearance, silence or learning completion. Confirmed process and authorised person—not a visual cue.</a:t>
            </a:r>
          </a:p>
          <a:p xmlns:a="http://schemas.openxmlformats.org/drawingml/2006/main">
            <a:r>
              <a:t>Applied action: Mark the authority boundary. Annotate a fictional site photograph with safe observation location, controlled exclusion area, visible conditions, missing status evidence and the authorised decision owner. Do not add any practical procedure.</a:t>
            </a:r>
          </a:p>
          <a:p xmlns:a="http://schemas.openxmlformats.org/drawingml/2006/main">
            <a:r>
              <a:t>Boundary: Supplementary learning is grounded in AHCINF205 Release 1 and controlled student-package titles recorded in the source manifest. The site teaches conceptual component relationships, fictional brief reading, hazard and authority recognition, observable condition reasoning, source comparison, records and safe handover only. Energiser connection, electrical isolation, electrical testing, earth-system installation, wiring, live-system work, repair and component installation require the approved design, manufacturer information, local procedures, teacher demonstration and direct supervision. Site responses are formative and do not demonstrate competency.</a:t>
            </a:r>
          </a:p>
          <a:p xmlns:a="http://schemas.openxmlformats.org/drawingml/2006/main">
            <a:r>
              <a:t>[Sources]</a:t>
            </a:r>
          </a:p>
          <a:p xmlns:a="http://schemas.openxmlformats.org/drawingml/2006/main">
            <a:r>
              <a:t>- Source basis: AHCINF205 Release 1 requirements for confirming instructions, identifying hazards and reporting unsafe conditions under supervision. Current local electrical-status, access, exclusion and repair controls remain wholly authorised.</a:t>
            </a:r>
          </a:p>
          <a:p xmlns:a="http://schemas.openxmlformats.org/drawingml/2006/main">
            <a:r>
              <a:t>- Visual visual-task-13-02: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Do not infer status from appearance, silence or learning completion. Confirmed process and authorised person—not a visual cue.
Applied action: Mark the authority boundary. Annotate a fictional site photograph with safe observation location, controlled exclusion area, visible conditions, missing status evidence and the authorised decision owner. Do not add any practical procedure.
Boundary: Supplementary learning is grounded in AHCINF205 Release 1 and controlled student-package titles recorded in the source manifest. The site teaches conceptual component relationships, fictional brief reading, hazard and authority recognition, observable condition reasoning, source comparison, records and safe handover only. Energiser connection, electrical isolation, electrical testing, earth-system installation, wiring, live-system work, repair and component installation require the approved design, manufacturer information, local procedures, teacher demonstration and direct supervision. Site responses are formative and do not demonstrate competency.
[Sources]
- Source basis: AHCINF205 Release 1 requirements for confirming instructions, identifying hazards and reporting unsafe conditions under supervision. Current local electrical-status, access, exclusion and repair controls remain wholly authorised.
- Visual visual-task-13-02: Generated locally from accepted Stage 05 module headings; no external image copied.
- Course visual manifest: work/pi/visuals/visual-manifest.json</a:t>
            </a:r>
          </a:p>
          <a:p xmlns:a="http://schemas.openxmlformats.org/drawingml/2006/main">
            <a:r>
              <a:t>Formative check answer: The current workplace process is completed and confirmed by the authorised person.</a:t>
            </a:r>
          </a:p>
          <a:p xmlns:a="http://schemas.openxmlformats.org/drawingml/2006/main">
            <a:r>
              <a:t>Correct feedback: You kept status confirmation with the authorised workplace process.</a:t>
            </a:r>
          </a:p>
          <a:p xmlns:a="http://schemas.openxmlformats.org/drawingml/2006/main">
            <a:r>
              <a:t>Corrective feedback: Do not infer status from appearance, silence or learning completion.</a:t>
            </a:r>
          </a:p>
          <a:p xmlns:a="http://schemas.openxmlformats.org/drawingml/2006/main">
            <a:r>
              <a:t>Full contextual example: Observed evidence: On 9 September 2027, a fictional site photograph shows an unreadable status tag at Gate E-02 and a damaged insulator farther along the line. The work brief supplies no current isolation confirmation. Decision and reason: Riley cannot infer system status from the quiet scene or decide that the visible damage is the only fault. Safe action: Riley remains outside the marked exclusion area and reports the gate identifier, image time, missing status evidence and visible condition. Result: The authorised supervisor controls access and checks the approved sources. Next check or record: Riley records the confirmed work status and next owner without describing isolation, electrical testing or repair.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Repeated evidence supports review, not automatic diagnosis or authority. Pattern stronger; cause still unresolved.</a:t>
            </a:r>
          </a:p>
          <a:p xmlns:a="http://schemas.openxmlformats.org/drawingml/2006/main">
            <a:r>
              <a:t>Applied action: Build an evidence-first fault brief. Order fictional reports by date, link them to a conceptual component map and classify each claim as observed, plausible or unresolved. Refer every physical evidence need.</a:t>
            </a:r>
          </a:p>
          <a:p xmlns:a="http://schemas.openxmlformats.org/drawingml/2006/main">
            <a:r>
              <a:t>Boundary: Supplementary learning is grounded in AHCINF205 Release 1 and controlled student-package titles recorded in the source manifest. The site teaches conceptual component relationships, fictional brief reading, hazard and authority recognition, observable condition reasoning, source comparison, records and safe handover only. Energiser connection, electrical isolation, electrical testing, earth-system installation, wiring, live-system work, repair and component installation require the approved design, manufacturer information, local procedures, teacher demonstration and direct supervision. Site responses are formative and do not demonstrate competency.</a:t>
            </a:r>
          </a:p>
          <a:p xmlns:a="http://schemas.openxmlformats.org/drawingml/2006/main">
            <a:r>
              <a:t>[Sources]</a:t>
            </a:r>
          </a:p>
          <a:p xmlns:a="http://schemas.openxmlformats.org/drawingml/2006/main">
            <a:r>
              <a:t>- Source basis: AHCINF205 Release 1 fault, repair-requirement and reporting concepts interpreted within the senior VET supplementary boundary. Current manufacturer, workplace and supervisor sources control every real inspection, electrical determination and repair.</a:t>
            </a:r>
          </a:p>
          <a:p xmlns:a="http://schemas.openxmlformats.org/drawingml/2006/main">
            <a:r>
              <a:t>- Visual visual-task-13-03: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Repeated evidence supports review, not automatic diagnosis or authority. Pattern stronger; cause still unresolved.
Applied action: Build an evidence-first fault brief. Order fictional reports by date, link them to a conceptual component map and classify each claim as observed, plausible or unresolved. Refer every physical evidence need.
Boundary: Supplementary learning is grounded in AHCINF205 Release 1 and controlled student-package titles recorded in the source manifest. The site teaches conceptual component relationships, fictional brief reading, hazard and authority recognition, observable condition reasoning, source comparison, records and safe handover only. Energiser connection, electrical isolation, electrical testing, earth-system installation, wiring, live-system work, repair and component installation require the approved design, manufacturer information, local procedures, teacher demonstration and direct supervision. Site responses are formative and do not demonstrate competency.
[Sources]
- Source basis: AHCINF205 Release 1 fault, repair-requirement and reporting concepts interpreted within the senior VET supplementary boundary. Current manufacturer, workplace and supervisor sources control every real inspection, electrical determination and repair.
- Visual visual-task-13-03: Generated locally from accepted Stage 05 module headings; no external image copied.
- Course visual manifest: work/pi/visuals/visual-manifest.json</a:t>
            </a:r>
          </a:p>
          <a:p xmlns:a="http://schemas.openxmlformats.org/drawingml/2006/main">
            <a:r>
              <a:t>Formative check answer: A repeated symptom exists and warrants authorised review.</a:t>
            </a:r>
          </a:p>
          <a:p xmlns:a="http://schemas.openxmlformats.org/drawingml/2006/main">
            <a:r>
              <a:t>Correct feedback: You recognised a meaningful pattern while preserving causal uncertainty.</a:t>
            </a:r>
          </a:p>
          <a:p xmlns:a="http://schemas.openxmlformats.org/drawingml/2006/main">
            <a:r>
              <a:t>Corrective feedback: Repeated evidence supports review, not automatic diagnosis or authority.</a:t>
            </a:r>
          </a:p>
          <a:p xmlns:a="http://schemas.openxmlformats.org/drawingml/2006/main">
            <a:r>
              <a:t>Full contextual example: Observed evidence: A fictional log shows boundary concerns at Segment E-04 on 2, 5 and 8 October 2027. A dated photograph from 8 October shows vegetation contacting the line, while the current component record for E-04 is missing and the system status is not supplied. Decision and reason: Sophie identifies a repeated symptom and one visible relationship change but does not claim the vegetation is the sole cause. Safe action: She keeps the area at the hold point and asks the supervisor to verify the segment record and decide the authorised inspection. Result: The supervisor links the correct design record and controls all further work. Next check or record: Sophie updates the evidence timeline with the source identifiers and retains alternative possible causes as unresolved.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Conflicting document identifiers require a controlled matching set. One current set, confirmed by the source owner.</a:t>
            </a:r>
          </a:p>
          <a:p xmlns:a="http://schemas.openxmlformats.org/drawingml/2006/main">
            <a:r>
              <a:t>Applied action: Prepare a controlled fictional handover. Audit a teacher-supplied document pack, mark matching revisions, list open status fields and write a closed-loop handover. Leave every practical release field blank and do not copy controlled package content.</a:t>
            </a:r>
          </a:p>
          <a:p xmlns:a="http://schemas.openxmlformats.org/drawingml/2006/main">
            <a:r>
              <a:t>Boundary: Supplementary learning is grounded in AHCINF205 Release 1 and controlled student-package titles recorded in the source manifest. The site teaches conceptual component relationships, fictional brief reading, hazard and authority recognition, observable condition reasoning, source comparison, records and safe handover only. Energiser connection, electrical isolation, electrical testing, earth-system installation, wiring, live-system work, repair and component installation require the approved design, manufacturer information, local procedures, teacher demonstration and direct supervision. Site responses are formative and do not demonstrate competency.</a:t>
            </a:r>
          </a:p>
          <a:p xmlns:a="http://schemas.openxmlformats.org/drawingml/2006/main">
            <a:r>
              <a:t>[Sources]</a:t>
            </a:r>
          </a:p>
          <a:p xmlns:a="http://schemas.openxmlformats.org/drawingml/2006/main">
            <a:r>
              <a:t>- Source basis: AHCINF205 Release 1 preparation, component status, completion and reporting concepts. The approved design, current manufacturer and workplace sources, teacher demonstration and RTO assessment package remain controlling and separate.</a:t>
            </a:r>
          </a:p>
          <a:p xmlns:a="http://schemas.openxmlformats.org/drawingml/2006/main">
            <a:r>
              <a:t>- Visual visual-task-13-04: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Conflicting document identifiers require a controlled matching set. One current set, confirmed by the source owner.
Applied action: Prepare a controlled fictional handover. Audit a teacher-supplied document pack, mark matching revisions, list open status fields and write a closed-loop handover. Leave every practical release field blank and do not copy controlled package content.
Boundary: Supplementary learning is grounded in AHCINF205 Release 1 and controlled student-package titles recorded in the source manifest. The site teaches conceptual component relationships, fictional brief reading, hazard and authority recognition, observable condition reasoning, source comparison, records and safe handover only. Energiser connection, electrical isolation, electrical testing, earth-system installation, wiring, live-system work, repair and component installation require the approved design, manufacturer information, local procedures, teacher demonstration and direct supervision. Site responses are formative and do not demonstrate competency.
[Sources]
- Source basis: AHCINF205 Release 1 preparation, component status, completion and reporting concepts. The approved design, current manufacturer and workplace sources, teacher demonstration and RTO assessment package remain controlling and separate.
- Visual visual-task-13-04: Generated locally from accepted Stage 05 module headings; no external image copied.
- Course visual manifest: work/pi/visuals/visual-manifest.json</a:t>
            </a:r>
          </a:p>
          <a:p xmlns:a="http://schemas.openxmlformats.org/drawingml/2006/main">
            <a:r>
              <a:t>Formative check answer: Mark a document-control hold point and ask the authorised owner for a matching current set.</a:t>
            </a:r>
          </a:p>
          <a:p xmlns:a="http://schemas.openxmlformats.org/drawingml/2006/main">
            <a:r>
              <a:t>Correct feedback: You protected version control and refused to invent a combined plan.</a:t>
            </a:r>
          </a:p>
          <a:p xmlns:a="http://schemas.openxmlformats.org/drawingml/2006/main">
            <a:r>
              <a:t>Corrective feedback: Conflicting document identifiers require a controlled matching set.</a:t>
            </a:r>
          </a:p>
          <a:p xmlns:a="http://schemas.openxmlformats.org/drawingml/2006/main">
            <a:r>
              <a:t>Full contextual example: Observed evidence: A fictional planning pack dated 20 October 2027 contains Design EF-12 revision B and a component schedule marked revision C. The two documents assign different identifiers to Gate E-05, and no current status record is included. Decision and reason: Jack cannot assemble a reliable work brief by combining them because design identity and system status are unresolved. Safe action: He marks both hold points and gives the supervisor the exact document identifiers and conflicting gate references. Result: The supervisor withdraws revision B and supplies the matching controlled set. Next check or record: Jack updates the document register, leaves all practical release fields blank and prepares a handover of remaining information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one retrieval question from each module, then direct students to the teacher-nominated learning action. Re-state that site work is formative and that current workplace and RTO processes control real practice and assessment.</a:t>
            </a:r>
          </a:p>
          <a:p xmlns:a="http://schemas.openxmlformats.org/drawingml/2006/main">
            <a:r>
              <a:t>Boundary: Supplementary learning is grounded in AHCINF205 Release 1 and controlled student-package titles recorded in the source manifest. The site teaches conceptual component relationships, fictional brief reading, hazard and authority recognition, observable condition reasoning, source comparison, records and safe handover only. Energiser connection, electrical isolation, electrical testing, earth-system installation, wiring, live-system work, repair and component installation require the approved design, manufacturer information, local procedures, teacher demonstration and direct supervision. Site responses are formative and do not demonstrate competency.</a:t>
            </a:r>
          </a:p>
          <a:p xmlns:a="http://schemas.openxmlformats.org/drawingml/2006/main">
            <a:r>
              <a:t>[Sources]</a:t>
            </a:r>
          </a:p>
          <a:p xmlns:a="http://schemas.openxmlformats.org/drawingml/2006/main">
            <a:r>
              <a:t>- Source basis: AHCINF205 Release 1 basic electric-fence component and supervised-work context. The current approved design, manufacturer information, local procedures and teacher demonstration control all practical component decisions.</a:t>
            </a:r>
          </a:p>
          <a:p xmlns:a="http://schemas.openxmlformats.org/drawingml/2006/main">
            <a:r>
              <a:t>- Source basis: AHCINF205 Release 1 requirements for confirming instructions, identifying hazards and reporting unsafe conditions under supervision. Current local electrical-status, access, exclusion and repair controls remain wholly authorised.</a:t>
            </a:r>
          </a:p>
          <a:p xmlns:a="http://schemas.openxmlformats.org/drawingml/2006/main">
            <a:r>
              <a:t>- Source basis: AHCINF205 Release 1 fault, repair-requirement and reporting concepts interpreted within the senior VET supplementary boundary. Current manufacturer, workplace and supervisor sources control every real inspection, electrical determination and repair.</a:t>
            </a:r>
          </a:p>
          <a:p xmlns:a="http://schemas.openxmlformats.org/drawingml/2006/main">
            <a:r>
              <a:t>- Source basis: AHCINF205 Release 1 preparation, component status, completion and reporting concepts. The approved design, current manufacturer and workplace sources, teacher demonstration and RTO assessment package remain controlling and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15a7863a4742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dcfdc639644426" /><Relationship Type="http://schemas.openxmlformats.org/officeDocument/2006/relationships/slideLayout" Target="/ppt/slideLayouts/slideLayout1.xml" Id="R9e805edc7c4c47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805edc7c4c47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e5cf35f71f437f" /><Relationship Type="http://schemas.openxmlformats.org/officeDocument/2006/relationships/image" Target="/ppt/media/image.png" Id="R4ac769c6e1c64da5" /><Relationship Type="http://schemas.openxmlformats.org/officeDocument/2006/relationships/notesSlide" Target="/ppt/notesSlides/notesSlide1.xml" Id="Rbfb5a7bfff5f4d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7128aac7c248f3" /><Relationship Type="http://schemas.openxmlformats.org/officeDocument/2006/relationships/image" Target="/ppt/media/image2.png" Id="Rcb159aa0bf834c7c" /><Relationship Type="http://schemas.openxmlformats.org/officeDocument/2006/relationships/image" Target="/ppt/media/image.svg" Id="R97d6788f64b6466f" /><Relationship Type="http://schemas.openxmlformats.org/officeDocument/2006/relationships/notesSlide" Target="/ppt/notesSlides/notesSlide2.xml" Id="R28eebe4e52dd4c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9d0b25d6b194707" /><Relationship Type="http://schemas.openxmlformats.org/officeDocument/2006/relationships/notesSlide" Target="/ppt/notesSlides/notesSlide3.xml" Id="R3c1c4814b3c344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51a5d824684c89" /><Relationship Type="http://schemas.openxmlformats.org/officeDocument/2006/relationships/image" Target="/ppt/media/image3.png" Id="R8673ec9126224615" /><Relationship Type="http://schemas.openxmlformats.org/officeDocument/2006/relationships/image" Target="/ppt/media/image2.svg" Id="R03d0de0ad7894003" /><Relationship Type="http://schemas.openxmlformats.org/officeDocument/2006/relationships/notesSlide" Target="/ppt/notesSlides/notesSlide4.xml" Id="R40e1da8970cb45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d256d347d5f418c" /><Relationship Type="http://schemas.openxmlformats.org/officeDocument/2006/relationships/notesSlide" Target="/ppt/notesSlides/notesSlide5.xml" Id="R09498b2bc37d48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aac23537e446c4" /><Relationship Type="http://schemas.openxmlformats.org/officeDocument/2006/relationships/image" Target="/ppt/media/image4.png" Id="R63f067e8d8cc47b2" /><Relationship Type="http://schemas.openxmlformats.org/officeDocument/2006/relationships/image" Target="/ppt/media/image3.svg" Id="Rc10c6a9967974d30" /><Relationship Type="http://schemas.openxmlformats.org/officeDocument/2006/relationships/notesSlide" Target="/ppt/notesSlides/notesSlide6.xml" Id="Rb8ee75c6ae8348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866cf4ad6fb484b" /><Relationship Type="http://schemas.openxmlformats.org/officeDocument/2006/relationships/notesSlide" Target="/ppt/notesSlides/notesSlide7.xml" Id="R5377c1db738448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d5d4cb730aa4394" /><Relationship Type="http://schemas.openxmlformats.org/officeDocument/2006/relationships/image" Target="/ppt/media/image5.png" Id="Rb95a04de17744880" /><Relationship Type="http://schemas.openxmlformats.org/officeDocument/2006/relationships/image" Target="/ppt/media/image4.svg" Id="R1e9f2583f95b4d20" /><Relationship Type="http://schemas.openxmlformats.org/officeDocument/2006/relationships/notesSlide" Target="/ppt/notesSlides/notesSlide8.xml" Id="R3003151a6cae487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f4a698d693a4a07" /><Relationship Type="http://schemas.openxmlformats.org/officeDocument/2006/relationships/notesSlide" Target="/ppt/notesSlides/notesSlide9.xml" Id="Rf8d6414830ff48c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075dd1cad29459f" /><Relationship Type="http://schemas.openxmlformats.org/officeDocument/2006/relationships/notesSlide" Target="/ppt/notesSlides/notesSlide10.xml" Id="Raa18894076de4e49" /></Relationships>
</file>

<file path=ppt/slides/slide1.xml><?xml version="1.0" encoding="utf-8"?>
<p:sld xmlns:p="http://schemas.openxmlformats.org/presentationml/2006/main">
  <p:cSld>
    <p:bg>
      <p:bgPr>
        <a:solidFill xmlns:a="http://schemas.openxmlformats.org/drawingml/2006/main">
          <a:srgbClr val="123E2A"/>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ac769c6e1c64da5"/>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210FD7E-57AF-49AD-856F-FA15660C8B13}"/>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3" name="">
            <a:extLst xmlns:a="http://schemas.openxmlformats.org/drawingml/2006/main">
              <a:ext uri="{FF2B5EF4-FFF2-40B4-BE49-F238E27FC236}">
                <a16:creationId xmlns:a16="http://schemas.microsoft.com/office/drawing/2014/main" id="{73155AAE-162B-4BBF-B42B-853EC13D3DC8}"/>
              </a:ext>
            </a:extLst>
          </p:cNvPr>
          <p:cNvSpPr>
            <a:spLocks xmlns:a="http://schemas.openxmlformats.org/drawingml/2006/main" noGrp="1"/>
          </p:cNvSpPr>
          <p:nvPr/>
        </p:nvSpPr>
        <p:spPr>
          <a:xfrm xmlns:a="http://schemas.openxmlformats.org/drawingml/2006/main">
            <a:off x="552450" y="5334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4A62A"/>
                </a:solidFill>
              </a:defRPr>
            </a:pPr>
            <a:r>
              <a:rPr sz="1200" b="1">
                <a:solidFill>
                  <a:srgbClr val="D4A62A"/>
                </a:solidFill>
              </a:rPr>
              <a:t>AHC20122 • CERTIFICATE II IN AGRICULTURE</a:t>
            </a:r>
          </a:p>
        </p:txBody>
      </p:sp>
      <p:sp>
        <p:nvSpPr>
          <p:cNvPr id="4" name="deck-title">
            <a:extLst xmlns:a="http://schemas.openxmlformats.org/drawingml/2006/main">
              <a:ext uri="{FF2B5EF4-FFF2-40B4-BE49-F238E27FC236}">
                <a16:creationId xmlns:a16="http://schemas.microsoft.com/office/drawing/2014/main" id="{D0D8F90E-EF01-4390-9834-DBB54986786A}"/>
              </a:ext>
            </a:extLst>
          </p:cNvPr>
          <p:cNvSpPr>
            <a:spLocks xmlns:a="http://schemas.openxmlformats.org/drawingml/2006/main" noGrp="1"/>
          </p:cNvSpPr>
          <p:nvPr/>
        </p:nvSpPr>
        <p:spPr>
          <a:xfrm xmlns:a="http://schemas.openxmlformats.org/drawingml/2006/main">
            <a:off x="552450" y="1066800"/>
            <a:ext cx="4857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defRPr>
            </a:pPr>
            <a:r>
              <a:rPr sz="4050" b="1">
                <a:solidFill>
                  <a:srgbClr val="FFFFFF"/>
                </a:solidFill>
              </a:rPr>
              <a:t>Task 13 · Electric fencing</a:t>
            </a:r>
          </a:p>
        </p:txBody>
      </p:sp>
      <p:sp>
        <p:nvSpPr>
          <p:cNvPr id="5" name="">
            <a:extLst xmlns:a="http://schemas.openxmlformats.org/drawingml/2006/main">
              <a:ext uri="{FF2B5EF4-FFF2-40B4-BE49-F238E27FC236}">
                <a16:creationId xmlns:a16="http://schemas.microsoft.com/office/drawing/2014/main" id="{016B56DA-FD2B-4077-960F-17A3C197BC03}"/>
              </a:ext>
            </a:extLst>
          </p:cNvPr>
          <p:cNvSpPr>
            <a:spLocks xmlns:a="http://schemas.openxmlformats.org/drawingml/2006/main" noGrp="1"/>
          </p:cNvSpPr>
          <p:nvPr/>
        </p:nvSpPr>
        <p:spPr>
          <a:xfrm xmlns:a="http://schemas.openxmlformats.org/drawingml/2006/main">
            <a:off x="552450" y="2400300"/>
            <a:ext cx="4667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3EEDF"/>
                </a:solidFill>
              </a:defRPr>
            </a:pPr>
            <a:r>
              <a:rPr sz="1650" b="0">
                <a:solidFill>
                  <a:srgbClr val="F3EEDF"/>
                </a:solidFill>
              </a:rPr>
              <a:t>Understand electric-fence system relationships, recognise hazards, reason from observable fault evidence and document a controlled plan.</a:t>
            </a:r>
          </a:p>
        </p:txBody>
      </p:sp>
      <p:sp>
        <p:nvSpPr>
          <p:cNvPr id="6" name="">
            <a:extLst xmlns:a="http://schemas.openxmlformats.org/drawingml/2006/main">
              <a:ext uri="{FF2B5EF4-FFF2-40B4-BE49-F238E27FC236}">
                <a16:creationId xmlns:a16="http://schemas.microsoft.com/office/drawing/2014/main" id="{15DC6852-97A6-4A43-8CA9-6E24E829DE2D}"/>
              </a:ext>
            </a:extLst>
          </p:cNvPr>
          <p:cNvSpPr>
            <a:spLocks xmlns:a="http://schemas.openxmlformats.org/drawingml/2006/main" noGrp="1"/>
          </p:cNvSpPr>
          <p:nvPr/>
        </p:nvSpPr>
        <p:spPr>
          <a:xfrm xmlns:a="http://schemas.openxmlformats.org/drawingml/2006/main">
            <a:off x="552450" y="35623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LEARNING ROUTE</a:t>
            </a:r>
          </a:p>
        </p:txBody>
      </p:sp>
      <p:sp>
        <p:nvSpPr>
          <p:cNvPr id="7" name="">
            <a:extLst xmlns:a="http://schemas.openxmlformats.org/drawingml/2006/main">
              <a:ext uri="{FF2B5EF4-FFF2-40B4-BE49-F238E27FC236}">
                <a16:creationId xmlns:a16="http://schemas.microsoft.com/office/drawing/2014/main" id="{A81557B7-BCB1-4362-91E7-2AB116A588BD}"/>
              </a:ext>
            </a:extLst>
          </p:cNvPr>
          <p:cNvSpPr>
            <a:spLocks xmlns:a="http://schemas.openxmlformats.org/drawingml/2006/main" noGrp="1"/>
          </p:cNvSpPr>
          <p:nvPr/>
        </p:nvSpPr>
        <p:spPr>
          <a:xfrm xmlns:a="http://schemas.openxmlformats.org/drawingml/2006/main">
            <a:off x="552450" y="3886200"/>
            <a:ext cx="47625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01  Components and system concepts</a:t>
            </a:r>
          </a:p>
          <a:p xmlns:a="http://schemas.openxmlformats.org/drawingml/2006/main">
            <a:pPr algn="l">
              <a:defRPr sz="1425" b="1">
                <a:solidFill>
                  <a:srgbClr val="FFFFFF"/>
                </a:solidFill>
              </a:defRPr>
            </a:pPr>
            <a:r>
              <a:rPr sz="1425" b="1">
                <a:solidFill>
                  <a:srgbClr val="FFFFFF"/>
                </a:solidFill>
              </a:rPr>
              <a:t>02  Hazards, isolation authority and exclusion</a:t>
            </a:r>
          </a:p>
          <a:p xmlns:a="http://schemas.openxmlformats.org/drawingml/2006/main">
            <a:pPr algn="l">
              <a:defRPr sz="1425" b="1">
                <a:solidFill>
                  <a:srgbClr val="FFFFFF"/>
                </a:solidFill>
              </a:defRPr>
            </a:pPr>
            <a:r>
              <a:rPr sz="1425" b="1">
                <a:solidFill>
                  <a:srgbClr val="FFFFFF"/>
                </a:solidFill>
              </a:rPr>
              <a:t>03  Fault reasoning from observable evidence</a:t>
            </a:r>
          </a:p>
          <a:p xmlns:a="http://schemas.openxmlformats.org/drawingml/2006/main">
            <a:pPr algn="l">
              <a:defRPr sz="1425" b="1">
                <a:solidFill>
                  <a:srgbClr val="FFFFFF"/>
                </a:solidFill>
              </a:defRPr>
            </a:pPr>
            <a:r>
              <a:rPr sz="1425" b="1">
                <a:solidFill>
                  <a:srgbClr val="FFFFFF"/>
                </a:solidFill>
              </a:rPr>
              <a:t>04  Planning, records and safe handover</a:t>
            </a:r>
          </a:p>
        </p:txBody>
      </p:sp>
      <p:sp>
        <p:nvSpPr>
          <p:cNvPr id="8" name="">
            <a:extLst xmlns:a="http://schemas.openxmlformats.org/drawingml/2006/main">
              <a:ext uri="{FF2B5EF4-FFF2-40B4-BE49-F238E27FC236}">
                <a16:creationId xmlns:a16="http://schemas.microsoft.com/office/drawing/2014/main" id="{A983143D-EFD2-47AB-B446-99C7EF36B3EB}"/>
              </a:ext>
            </a:extLst>
          </p:cNvPr>
          <p:cNvSpPr>
            <a:spLocks xmlns:a="http://schemas.openxmlformats.org/drawingml/2006/main" noGrp="1"/>
          </p:cNvSpPr>
          <p:nvPr/>
        </p:nvSpPr>
        <p:spPr>
          <a:xfrm xmlns:a="http://schemas.openxmlformats.org/drawingml/2006/main">
            <a:off x="552450" y="61722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BD6D0"/>
                </a:solidFill>
              </a:defRPr>
            </a:pPr>
            <a:r>
              <a:rPr sz="1050" b="0">
                <a:solidFill>
                  <a:srgbClr val="BBD6D0"/>
                </a:solidFill>
              </a:rPr>
              <a:t>Supplementary learning • current local sources and supervision control real work</a:t>
            </a:r>
          </a:p>
        </p:txBody>
      </p:sp>
    </p:spTree>
    <p:extLst>
      <p:ext uri="{BB962C8B-B14F-4D97-AF65-F5344CB8AC3E}">
        <p14:creationId xmlns:p14="http://schemas.microsoft.com/office/powerpoint/2010/main" val="2008900413"/>
      </p:ext>
    </p:extLst>
  </p:cSld>
</p:sld>
</file>

<file path=ppt/slides/slide2.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6836C9E-C237-47D2-A3DE-E379A4E04077}"/>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2">
            <a:extLst xmlns:a="http://schemas.openxmlformats.org/drawingml/2006/main">
              <a:ext uri="{FF2B5EF4-FFF2-40B4-BE49-F238E27FC236}">
                <a16:creationId xmlns:a16="http://schemas.microsoft.com/office/drawing/2014/main" id="{A2B5F45A-3B29-4754-9B10-A756503F25AE}"/>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13  •  PRIMARY INDUSTRIES</a:t>
            </a:r>
          </a:p>
        </p:txBody>
      </p:sp>
      <p:sp>
        <p:nvSpPr>
          <p:cNvPr id="3" name="title-2">
            <a:extLst xmlns:a="http://schemas.openxmlformats.org/drawingml/2006/main">
              <a:ext uri="{FF2B5EF4-FFF2-40B4-BE49-F238E27FC236}">
                <a16:creationId xmlns:a16="http://schemas.microsoft.com/office/drawing/2014/main" id="{153DF404-1052-4EE8-82C1-9A625D45275B}"/>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Components and system concepts</a:t>
            </a:r>
          </a:p>
        </p:txBody>
      </p:sp>
      <p:sp>
        <p:nvSpPr>
          <p:cNvPr id="4" name="">
            <a:extLst xmlns:a="http://schemas.openxmlformats.org/drawingml/2006/main">
              <a:ext uri="{FF2B5EF4-FFF2-40B4-BE49-F238E27FC236}">
                <a16:creationId xmlns:a16="http://schemas.microsoft.com/office/drawing/2014/main" id="{6B24D7BF-73C8-487F-99C7-EE8773F6E9EE}"/>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13</a:t>
            </a:r>
          </a:p>
        </p:txBody>
      </p:sp>
      <p:sp>
        <p:nvSpPr>
          <p:cNvPr id="5" name="">
            <a:extLst xmlns:a="http://schemas.openxmlformats.org/drawingml/2006/main">
              <a:ext uri="{FF2B5EF4-FFF2-40B4-BE49-F238E27FC236}">
                <a16:creationId xmlns:a16="http://schemas.microsoft.com/office/drawing/2014/main" id="{9B78E083-3111-468A-B4F5-B7D2FA8F9C48}"/>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2/10</a:t>
            </a:r>
          </a:p>
        </p:txBody>
      </p:sp>
      <p:sp>
        <p:nvSpPr>
          <p:cNvPr id="6" name="">
            <a:extLst xmlns:a="http://schemas.openxmlformats.org/drawingml/2006/main">
              <a:ext uri="{FF2B5EF4-FFF2-40B4-BE49-F238E27FC236}">
                <a16:creationId xmlns:a16="http://schemas.microsoft.com/office/drawing/2014/main" id="{545D9C1C-9C0F-48D2-AFC3-EA1A2BFCE77F}"/>
              </a:ext>
            </a:extLst>
          </p:cNvPr>
          <p:cNvSpPr>
            <a:spLocks xmlns:a="http://schemas.openxmlformats.org/drawingml/2006/main" noGrp="1"/>
          </p:cNvSpPr>
          <p:nvPr/>
        </p:nvSpPr>
        <p:spPr>
          <a:xfrm xmlns:a="http://schemas.openxmlformats.org/drawingml/2006/main">
            <a:off x="4191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b159aa0bf834c7c">
            <a:extLst>
              <a:ext uri="{96DAC541-7B7A-43D3-8B79-37D633B846F1}">
                <asvg:svgBlip xmlns:asvg="http://schemas.microsoft.com/office/drawing/2016/SVG/main" r:embed="R97d6788f64b6466f"/>
              </a:ext>
            </a:extLst>
          </a:blip>
          <a:stretch xmlns:a="http://schemas.openxmlformats.org/drawingml/2006/main"/>
        </p:blipFill>
        <p:spPr>
          <a:xfrm xmlns:a="http://schemas.openxmlformats.org/drawingml/2006/main">
            <a:off x="5143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1E85BE7-BC22-4CF3-B22C-CDDFC0ED0402}"/>
              </a:ext>
            </a:extLst>
          </p:cNvPr>
          <p:cNvSpPr>
            <a:spLocks xmlns:a="http://schemas.openxmlformats.org/drawingml/2006/main" noGrp="1"/>
          </p:cNvSpPr>
          <p:nvPr/>
        </p:nvSpPr>
        <p:spPr>
          <a:xfrm xmlns:a="http://schemas.openxmlformats.org/drawingml/2006/main">
            <a:off x="68389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C663ED1F-9C2A-4CC0-A3A9-464291B16572}"/>
              </a:ext>
            </a:extLst>
          </p:cNvPr>
          <p:cNvSpPr>
            <a:spLocks xmlns:a="http://schemas.openxmlformats.org/drawingml/2006/main" noGrp="1"/>
          </p:cNvSpPr>
          <p:nvPr/>
        </p:nvSpPr>
        <p:spPr>
          <a:xfrm xmlns:a="http://schemas.openxmlformats.org/drawingml/2006/main">
            <a:off x="68389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Read an electric fence as a system</a:t>
            </a:r>
          </a:p>
          <a:p xmlns:a="http://schemas.openxmlformats.org/drawingml/2006/main">
            <a:pPr algn="l">
              <a:defRPr sz="1725" b="1">
                <a:solidFill>
                  <a:srgbClr val="123E2A"/>
                </a:solidFill>
              </a:defRPr>
            </a:pPr>
            <a:r>
              <a:rPr sz="1725" b="1">
                <a:solidFill>
                  <a:srgbClr val="123E2A"/>
                </a:solidFill>
              </a:rPr>
              <a:t>• The energiser is the controlled energy source</a:t>
            </a:r>
          </a:p>
        </p:txBody>
      </p:sp>
      <p:sp>
        <p:nvSpPr>
          <p:cNvPr id="10" name="">
            <a:extLst xmlns:a="http://schemas.openxmlformats.org/drawingml/2006/main">
              <a:ext uri="{FF2B5EF4-FFF2-40B4-BE49-F238E27FC236}">
                <a16:creationId xmlns:a16="http://schemas.microsoft.com/office/drawing/2014/main" id="{4FA9DDCC-C194-465F-A9EA-0F80F039BA94}"/>
              </a:ext>
            </a:extLst>
          </p:cNvPr>
          <p:cNvSpPr>
            <a:spLocks xmlns:a="http://schemas.openxmlformats.org/drawingml/2006/main" noGrp="1"/>
          </p:cNvSpPr>
          <p:nvPr/>
        </p:nvSpPr>
        <p:spPr>
          <a:xfrm xmlns:a="http://schemas.openxmlformats.org/drawingml/2006/main">
            <a:off x="68389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An electric fence works through relationships among the energiser, conductors, insulators, earth system, fence-line structures, gates, connections, signs and the surrounding environment. The energiser supplies the pulsed electrical energy used by the system.</a:t>
            </a:r>
          </a:p>
        </p:txBody>
      </p:sp>
      <p:sp>
        <p:nvSpPr>
          <p:cNvPr id="11" name="">
            <a:extLst xmlns:a="http://schemas.openxmlformats.org/drawingml/2006/main">
              <a:ext uri="{FF2B5EF4-FFF2-40B4-BE49-F238E27FC236}">
                <a16:creationId xmlns:a16="http://schemas.microsoft.com/office/drawing/2014/main" id="{47B1FB11-879C-42A7-B6BD-BB5A92D174A0}"/>
              </a:ext>
            </a:extLst>
          </p:cNvPr>
          <p:cNvSpPr>
            <a:spLocks xmlns:a="http://schemas.openxmlformats.org/drawingml/2006/main" noGrp="1"/>
          </p:cNvSpPr>
          <p:nvPr/>
        </p:nvSpPr>
        <p:spPr>
          <a:xfrm xmlns:a="http://schemas.openxmlformats.org/drawingml/2006/main">
            <a:off x="68389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617DF07F-B12D-4021-865C-EE3633E84CAB}"/>
              </a:ext>
            </a:extLst>
          </p:cNvPr>
          <p:cNvSpPr>
            <a:spLocks xmlns:a="http://schemas.openxmlformats.org/drawingml/2006/main" noGrp="1"/>
          </p:cNvSpPr>
          <p:nvPr/>
        </p:nvSpPr>
        <p:spPr>
          <a:xfrm xmlns:a="http://schemas.openxmlformats.org/drawingml/2006/main">
            <a:off x="70104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654C93AA-D608-403E-8554-FF64F3BC2ADE}"/>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873114509"/>
      </p:ext>
    </p:extLst>
  </p:cSld>
</p:sld>
</file>

<file path=ppt/slides/slide3.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A3B96CE-074C-49A0-BEE4-98EE9A9E7C9C}"/>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3">
            <a:extLst xmlns:a="http://schemas.openxmlformats.org/drawingml/2006/main">
              <a:ext uri="{FF2B5EF4-FFF2-40B4-BE49-F238E27FC236}">
                <a16:creationId xmlns:a16="http://schemas.microsoft.com/office/drawing/2014/main" id="{581B8CD5-4EF9-4FC7-B148-4A871DB96FD1}"/>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13  •  PRIMARY INDUSTRIES</a:t>
            </a:r>
          </a:p>
        </p:txBody>
      </p:sp>
      <p:sp>
        <p:nvSpPr>
          <p:cNvPr id="3" name="title-3">
            <a:extLst xmlns:a="http://schemas.openxmlformats.org/drawingml/2006/main">
              <a:ext uri="{FF2B5EF4-FFF2-40B4-BE49-F238E27FC236}">
                <a16:creationId xmlns:a16="http://schemas.microsoft.com/office/drawing/2014/main" id="{B00CCFE5-F6B5-40E2-8D4E-D0C80DA6AFF7}"/>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a:solidFill>
                  <a:srgbClr val="FFFFFF"/>
                </a:solidFill>
              </a:defRPr>
            </a:pPr>
            <a:r>
              <a:rPr sz="2475" b="1">
                <a:solidFill>
                  <a:srgbClr val="FFFFFF"/>
                </a:solidFill>
              </a:rPr>
              <a:t>Components and system concepts: decide from evidence</a:t>
            </a:r>
          </a:p>
        </p:txBody>
      </p:sp>
      <p:sp>
        <p:nvSpPr>
          <p:cNvPr id="4" name="">
            <a:extLst xmlns:a="http://schemas.openxmlformats.org/drawingml/2006/main">
              <a:ext uri="{FF2B5EF4-FFF2-40B4-BE49-F238E27FC236}">
                <a16:creationId xmlns:a16="http://schemas.microsoft.com/office/drawing/2014/main" id="{BB0312AE-EED1-444C-8857-4FDCCDFFC7A3}"/>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13</a:t>
            </a:r>
          </a:p>
        </p:txBody>
      </p:sp>
      <p:sp>
        <p:nvSpPr>
          <p:cNvPr id="5" name="">
            <a:extLst xmlns:a="http://schemas.openxmlformats.org/drawingml/2006/main">
              <a:ext uri="{FF2B5EF4-FFF2-40B4-BE49-F238E27FC236}">
                <a16:creationId xmlns:a16="http://schemas.microsoft.com/office/drawing/2014/main" id="{3381F811-46B7-4C94-A917-08478934E443}"/>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3/10</a:t>
            </a:r>
          </a:p>
        </p:txBody>
      </p:sp>
      <p:sp>
        <p:nvSpPr>
          <p:cNvPr id="6" name="">
            <a:extLst xmlns:a="http://schemas.openxmlformats.org/drawingml/2006/main">
              <a:ext uri="{FF2B5EF4-FFF2-40B4-BE49-F238E27FC236}">
                <a16:creationId xmlns:a16="http://schemas.microsoft.com/office/drawing/2014/main" id="{B8C5D6C5-7793-482B-9D85-4AFA682E0AFA}"/>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B5B76B29-A7F3-4626-B7BB-422DC273ABA9}"/>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70349CAA-3231-4D51-96E9-4F34F3DC359C}"/>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 fictional classroom system diagram dated 4 September 2027 labels an energiser, three conductor segments, insulators, a gate assembly and an earth-system symbol. Segment C is shown touching a support directly, while the revision note says conceptual fault…</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Mei identifies that the intended conductor–insulator relationship is broken in the diagram but does not describe a repair or approach a real fence.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She marks the relationship conflict and asks which approved source defines the correct component arrangement.</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Mei updates her component map with the controlling source identifier and records that practical action remains supervised.</a:t>
            </a:r>
          </a:p>
        </p:txBody>
      </p:sp>
      <p:sp>
        <p:nvSpPr>
          <p:cNvPr id="9" name="">
            <a:extLst xmlns:a="http://schemas.openxmlformats.org/drawingml/2006/main">
              <a:ext uri="{FF2B5EF4-FFF2-40B4-BE49-F238E27FC236}">
                <a16:creationId xmlns:a16="http://schemas.microsoft.com/office/drawing/2014/main" id="{E26A9A6E-A825-4F08-A5E7-E2E4AF6639E9}"/>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A5460F56-DA08-4444-B6CC-B41C109B5979}"/>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C1ED87F5-B028-4A4C-A01F-BDF1F036585B}"/>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is the conceptual role of an insulator?</a:t>
            </a:r>
          </a:p>
        </p:txBody>
      </p:sp>
      <p:sp>
        <p:nvSpPr>
          <p:cNvPr id="12" name="">
            <a:extLst xmlns:a="http://schemas.openxmlformats.org/drawingml/2006/main">
              <a:ext uri="{FF2B5EF4-FFF2-40B4-BE49-F238E27FC236}">
                <a16:creationId xmlns:a16="http://schemas.microsoft.com/office/drawing/2014/main" id="{F568E064-BEB9-4803-BEE3-11128E955B1A}"/>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To separate the intended conductor path from supporting structures and unintended contact.</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To provide the system's energy source.</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To authorise a learner to work on the fence.</a:t>
            </a:r>
          </a:p>
        </p:txBody>
      </p:sp>
      <p:sp>
        <p:nvSpPr>
          <p:cNvPr id="13" name="">
            <a:extLst xmlns:a="http://schemas.openxmlformats.org/drawingml/2006/main">
              <a:ext uri="{FF2B5EF4-FFF2-40B4-BE49-F238E27FC236}">
                <a16:creationId xmlns:a16="http://schemas.microsoft.com/office/drawing/2014/main" id="{9E260CAF-1518-4D24-81DC-99DC69C33B52}"/>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Conductor carries the intended path; insulator separates it.</a:t>
            </a:r>
          </a:p>
        </p:txBody>
      </p:sp>
    </p:spTree>
    <p:extLst>
      <p:ext uri="{BB962C8B-B14F-4D97-AF65-F5344CB8AC3E}">
        <p14:creationId xmlns:p14="http://schemas.microsoft.com/office/powerpoint/2010/main" val="130688392"/>
      </p:ext>
    </p:extLst>
  </p:cSld>
</p:sld>
</file>

<file path=ppt/slides/slide4.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DC883FD-0E70-4CFD-B95E-54F28F7846BE}"/>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4">
            <a:extLst xmlns:a="http://schemas.openxmlformats.org/drawingml/2006/main">
              <a:ext uri="{FF2B5EF4-FFF2-40B4-BE49-F238E27FC236}">
                <a16:creationId xmlns:a16="http://schemas.microsoft.com/office/drawing/2014/main" id="{8D9CAB09-E0B1-4B16-966E-A6E8B069C181}"/>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13  •  PRIMARY INDUSTRIES</a:t>
            </a:r>
          </a:p>
        </p:txBody>
      </p:sp>
      <p:sp>
        <p:nvSpPr>
          <p:cNvPr id="3" name="title-4">
            <a:extLst xmlns:a="http://schemas.openxmlformats.org/drawingml/2006/main">
              <a:ext uri="{FF2B5EF4-FFF2-40B4-BE49-F238E27FC236}">
                <a16:creationId xmlns:a16="http://schemas.microsoft.com/office/drawing/2014/main" id="{ED90A20C-B2B9-46B2-9ECA-638A2189B13E}"/>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Hazards, isolation authority and exclusion</a:t>
            </a:r>
          </a:p>
        </p:txBody>
      </p:sp>
      <p:sp>
        <p:nvSpPr>
          <p:cNvPr id="4" name="">
            <a:extLst xmlns:a="http://schemas.openxmlformats.org/drawingml/2006/main">
              <a:ext uri="{FF2B5EF4-FFF2-40B4-BE49-F238E27FC236}">
                <a16:creationId xmlns:a16="http://schemas.microsoft.com/office/drawing/2014/main" id="{1FE2BF7D-245E-4E26-AE1A-3BC9A55B8FDB}"/>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13</a:t>
            </a:r>
          </a:p>
        </p:txBody>
      </p:sp>
      <p:sp>
        <p:nvSpPr>
          <p:cNvPr id="5" name="">
            <a:extLst xmlns:a="http://schemas.openxmlformats.org/drawingml/2006/main">
              <a:ext uri="{FF2B5EF4-FFF2-40B4-BE49-F238E27FC236}">
                <a16:creationId xmlns:a16="http://schemas.microsoft.com/office/drawing/2014/main" id="{A42D6FB6-5D45-4844-95A9-E922F6C00FCB}"/>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4/10</a:t>
            </a:r>
          </a:p>
        </p:txBody>
      </p:sp>
      <p:sp>
        <p:nvSpPr>
          <p:cNvPr id="6" name="">
            <a:extLst xmlns:a="http://schemas.openxmlformats.org/drawingml/2006/main">
              <a:ext uri="{FF2B5EF4-FFF2-40B4-BE49-F238E27FC236}">
                <a16:creationId xmlns:a16="http://schemas.microsoft.com/office/drawing/2014/main" id="{06FC2B2C-0D5B-4F4A-BF85-2FAC826CE141}"/>
              </a:ext>
            </a:extLst>
          </p:cNvPr>
          <p:cNvSpPr>
            <a:spLocks xmlns:a="http://schemas.openxmlformats.org/drawingml/2006/main" noGrp="1"/>
          </p:cNvSpPr>
          <p:nvPr/>
        </p:nvSpPr>
        <p:spPr>
          <a:xfrm xmlns:a="http://schemas.openxmlformats.org/drawingml/2006/main">
            <a:off x="56769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673ec9126224615">
            <a:extLst>
              <a:ext uri="{96DAC541-7B7A-43D3-8B79-37D633B846F1}">
                <asvg:svgBlip xmlns:asvg="http://schemas.microsoft.com/office/drawing/2016/SVG/main" r:embed="R03d0de0ad7894003"/>
              </a:ext>
            </a:extLst>
          </a:blip>
          <a:stretch xmlns:a="http://schemas.openxmlformats.org/drawingml/2006/main"/>
        </p:blipFill>
        <p:spPr>
          <a:xfrm xmlns:a="http://schemas.openxmlformats.org/drawingml/2006/main">
            <a:off x="57721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A18EE71-6FA5-49FF-8F15-0C1ED73D9A7C}"/>
              </a:ext>
            </a:extLst>
          </p:cNvPr>
          <p:cNvSpPr>
            <a:spLocks xmlns:a="http://schemas.openxmlformats.org/drawingml/2006/main" noGrp="1"/>
          </p:cNvSpPr>
          <p:nvPr/>
        </p:nvSpPr>
        <p:spPr>
          <a:xfrm xmlns:a="http://schemas.openxmlformats.org/drawingml/2006/main">
            <a:off x="5143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765B19BD-EC01-475D-AE98-F3705BAD3248}"/>
              </a:ext>
            </a:extLst>
          </p:cNvPr>
          <p:cNvSpPr>
            <a:spLocks xmlns:a="http://schemas.openxmlformats.org/drawingml/2006/main" noGrp="1"/>
          </p:cNvSpPr>
          <p:nvPr/>
        </p:nvSpPr>
        <p:spPr>
          <a:xfrm xmlns:a="http://schemas.openxmlformats.org/drawingml/2006/main">
            <a:off x="5143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Electric fencing combines several hazard domains</a:t>
            </a:r>
          </a:p>
          <a:p xmlns:a="http://schemas.openxmlformats.org/drawingml/2006/main">
            <a:pPr algn="l">
              <a:defRPr sz="1725" b="1">
                <a:solidFill>
                  <a:srgbClr val="123E2A"/>
                </a:solidFill>
              </a:defRPr>
            </a:pPr>
            <a:r>
              <a:rPr sz="1725" b="1">
                <a:solidFill>
                  <a:srgbClr val="123E2A"/>
                </a:solidFill>
              </a:rPr>
              <a:t>• Isolation is an authorised state, not a learner assumption</a:t>
            </a:r>
          </a:p>
        </p:txBody>
      </p:sp>
      <p:sp>
        <p:nvSpPr>
          <p:cNvPr id="10" name="">
            <a:extLst xmlns:a="http://schemas.openxmlformats.org/drawingml/2006/main">
              <a:ext uri="{FF2B5EF4-FFF2-40B4-BE49-F238E27FC236}">
                <a16:creationId xmlns:a16="http://schemas.microsoft.com/office/drawing/2014/main" id="{D2250630-EA5F-4867-B4ED-64E967E09E1B}"/>
              </a:ext>
            </a:extLst>
          </p:cNvPr>
          <p:cNvSpPr>
            <a:spLocks xmlns:a="http://schemas.openxmlformats.org/drawingml/2006/main" noGrp="1"/>
          </p:cNvSpPr>
          <p:nvPr/>
        </p:nvSpPr>
        <p:spPr>
          <a:xfrm xmlns:a="http://schemas.openxmlformats.org/drawingml/2006/main">
            <a:off x="5143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Planning may need to consider electrical energy, stored energy in fence materials, sharp or damaged components, uneven ground, vegetation, fire conditions, animals, vehicles, public access and nearby services. Before practical work, the system's status must be confirmed through the workplace's authorised process by the person assigned that responsibility.</a:t>
            </a:r>
          </a:p>
        </p:txBody>
      </p:sp>
      <p:sp>
        <p:nvSpPr>
          <p:cNvPr id="11" name="">
            <a:extLst xmlns:a="http://schemas.openxmlformats.org/drawingml/2006/main">
              <a:ext uri="{FF2B5EF4-FFF2-40B4-BE49-F238E27FC236}">
                <a16:creationId xmlns:a16="http://schemas.microsoft.com/office/drawing/2014/main" id="{99F66F36-0FBB-40F6-AC49-19A878AA1052}"/>
              </a:ext>
            </a:extLst>
          </p:cNvPr>
          <p:cNvSpPr>
            <a:spLocks xmlns:a="http://schemas.openxmlformats.org/drawingml/2006/main" noGrp="1"/>
          </p:cNvSpPr>
          <p:nvPr/>
        </p:nvSpPr>
        <p:spPr>
          <a:xfrm xmlns:a="http://schemas.openxmlformats.org/drawingml/2006/main">
            <a:off x="5143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C173036A-2338-4074-80ED-5DC4333D4714}"/>
              </a:ext>
            </a:extLst>
          </p:cNvPr>
          <p:cNvSpPr>
            <a:spLocks xmlns:a="http://schemas.openxmlformats.org/drawingml/2006/main" noGrp="1"/>
          </p:cNvSpPr>
          <p:nvPr/>
        </p:nvSpPr>
        <p:spPr>
          <a:xfrm xmlns:a="http://schemas.openxmlformats.org/drawingml/2006/main">
            <a:off x="6858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93C805CD-5CEA-462C-ABBE-5FA59E99E16C}"/>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11487078"/>
      </p:ext>
    </p:extLst>
  </p:cSld>
</p:sld>
</file>

<file path=ppt/slides/slide5.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45AF2B2-74D2-4D99-B2EB-E563E72CEFB3}"/>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5">
            <a:extLst xmlns:a="http://schemas.openxmlformats.org/drawingml/2006/main">
              <a:ext uri="{FF2B5EF4-FFF2-40B4-BE49-F238E27FC236}">
                <a16:creationId xmlns:a16="http://schemas.microsoft.com/office/drawing/2014/main" id="{3FC26333-3F07-467D-AAC5-AD8306134B6F}"/>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13  •  PRIMARY INDUSTRIES</a:t>
            </a:r>
          </a:p>
        </p:txBody>
      </p:sp>
      <p:sp>
        <p:nvSpPr>
          <p:cNvPr id="3" name="title-5">
            <a:extLst xmlns:a="http://schemas.openxmlformats.org/drawingml/2006/main">
              <a:ext uri="{FF2B5EF4-FFF2-40B4-BE49-F238E27FC236}">
                <a16:creationId xmlns:a16="http://schemas.microsoft.com/office/drawing/2014/main" id="{0C3767A1-F13C-4296-9554-AD9909430008}"/>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Hazards, isolation authority and exclusion: decide from evidence</a:t>
            </a:r>
          </a:p>
        </p:txBody>
      </p:sp>
      <p:sp>
        <p:nvSpPr>
          <p:cNvPr id="4" name="">
            <a:extLst xmlns:a="http://schemas.openxmlformats.org/drawingml/2006/main">
              <a:ext uri="{FF2B5EF4-FFF2-40B4-BE49-F238E27FC236}">
                <a16:creationId xmlns:a16="http://schemas.microsoft.com/office/drawing/2014/main" id="{3C9B3829-8907-43DB-98F0-C249A26AE230}"/>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13</a:t>
            </a:r>
          </a:p>
        </p:txBody>
      </p:sp>
      <p:sp>
        <p:nvSpPr>
          <p:cNvPr id="5" name="">
            <a:extLst xmlns:a="http://schemas.openxmlformats.org/drawingml/2006/main">
              <a:ext uri="{FF2B5EF4-FFF2-40B4-BE49-F238E27FC236}">
                <a16:creationId xmlns:a16="http://schemas.microsoft.com/office/drawing/2014/main" id="{AA362BCF-5C23-4D97-9698-A35E326CE8D2}"/>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5/10</a:t>
            </a:r>
          </a:p>
        </p:txBody>
      </p:sp>
      <p:sp>
        <p:nvSpPr>
          <p:cNvPr id="6" name="">
            <a:extLst xmlns:a="http://schemas.openxmlformats.org/drawingml/2006/main">
              <a:ext uri="{FF2B5EF4-FFF2-40B4-BE49-F238E27FC236}">
                <a16:creationId xmlns:a16="http://schemas.microsoft.com/office/drawing/2014/main" id="{D5B5F6AA-2EC2-44E7-9E52-45BB41EE61FA}"/>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3FDB7CB7-BAA8-464C-A847-ADE657691F36}"/>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46C9EAF7-CE9D-4E3F-ADC1-D4E3E49B2A05}"/>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On 9 September 2027, a fictional site photograph shows an unreadable status tag at Gate E-02 and a damaged insulator farther along the line. The work brief supplies no current isolation confirmation.</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Riley cannot infer system status from the quiet scene or decide that the visible damage is the only fault.</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Riley remains outside the marked exclusion area and reports the gate identifier, image time, missing status evidence and visible condition.</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Riley records the confirmed work status and next owner without describing isolation, electrical testing or repair.</a:t>
            </a:r>
          </a:p>
        </p:txBody>
      </p:sp>
      <p:sp>
        <p:nvSpPr>
          <p:cNvPr id="9" name="">
            <a:extLst xmlns:a="http://schemas.openxmlformats.org/drawingml/2006/main">
              <a:ext uri="{FF2B5EF4-FFF2-40B4-BE49-F238E27FC236}">
                <a16:creationId xmlns:a16="http://schemas.microsoft.com/office/drawing/2014/main" id="{65CF4535-9073-4B7F-ACD0-5DCCDD4B5298}"/>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0FDC1F2E-A17F-4F3C-9E22-043146737117}"/>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5D3C5977-95CD-42A6-9C90-8ABA71A5EBC7}"/>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proves that an electric fence is in an authorised safe work state?</a:t>
            </a:r>
          </a:p>
        </p:txBody>
      </p:sp>
      <p:sp>
        <p:nvSpPr>
          <p:cNvPr id="12" name="">
            <a:extLst xmlns:a="http://schemas.openxmlformats.org/drawingml/2006/main">
              <a:ext uri="{FF2B5EF4-FFF2-40B4-BE49-F238E27FC236}">
                <a16:creationId xmlns:a16="http://schemas.microsoft.com/office/drawing/2014/main" id="{4CFE878D-3A38-4BE0-B456-A6FC8AE13871}"/>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It looks quiet and no animals are nearby.</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The current workplace process is completed and confirmed by the authorised person.</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A learner has studied the component diagram.</a:t>
            </a:r>
          </a:p>
        </p:txBody>
      </p:sp>
      <p:sp>
        <p:nvSpPr>
          <p:cNvPr id="13" name="">
            <a:extLst xmlns:a="http://schemas.openxmlformats.org/drawingml/2006/main">
              <a:ext uri="{FF2B5EF4-FFF2-40B4-BE49-F238E27FC236}">
                <a16:creationId xmlns:a16="http://schemas.microsoft.com/office/drawing/2014/main" id="{1A3C9E1A-2937-4B74-A028-52A20A75C31E}"/>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Confirmed process and authorised person—not a visual cue.</a:t>
            </a:r>
          </a:p>
        </p:txBody>
      </p:sp>
    </p:spTree>
    <p:extLst>
      <p:ext uri="{BB962C8B-B14F-4D97-AF65-F5344CB8AC3E}">
        <p14:creationId xmlns:p14="http://schemas.microsoft.com/office/powerpoint/2010/main" val="2136187631"/>
      </p:ext>
    </p:extLst>
  </p:cSld>
</p:sld>
</file>

<file path=ppt/slides/slide6.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6D3D948-6EAD-4083-AF31-B0ED61963EDD}"/>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6">
            <a:extLst xmlns:a="http://schemas.openxmlformats.org/drawingml/2006/main">
              <a:ext uri="{FF2B5EF4-FFF2-40B4-BE49-F238E27FC236}">
                <a16:creationId xmlns:a16="http://schemas.microsoft.com/office/drawing/2014/main" id="{BE3B5901-113C-41B8-9380-33FEEC20D495}"/>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13  •  PRIMARY INDUSTRIES</a:t>
            </a:r>
          </a:p>
        </p:txBody>
      </p:sp>
      <p:sp>
        <p:nvSpPr>
          <p:cNvPr id="3" name="title-6">
            <a:extLst xmlns:a="http://schemas.openxmlformats.org/drawingml/2006/main">
              <a:ext uri="{FF2B5EF4-FFF2-40B4-BE49-F238E27FC236}">
                <a16:creationId xmlns:a16="http://schemas.microsoft.com/office/drawing/2014/main" id="{6E513C1A-71E8-4525-A7A0-FD6248BD3900}"/>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Fault reasoning from observable evidence</a:t>
            </a:r>
          </a:p>
        </p:txBody>
      </p:sp>
      <p:sp>
        <p:nvSpPr>
          <p:cNvPr id="4" name="">
            <a:extLst xmlns:a="http://schemas.openxmlformats.org/drawingml/2006/main">
              <a:ext uri="{FF2B5EF4-FFF2-40B4-BE49-F238E27FC236}">
                <a16:creationId xmlns:a16="http://schemas.microsoft.com/office/drawing/2014/main" id="{79A5A4B5-1E81-4FC2-ACC6-0EBC115E0C94}"/>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13</a:t>
            </a:r>
          </a:p>
        </p:txBody>
      </p:sp>
      <p:sp>
        <p:nvSpPr>
          <p:cNvPr id="5" name="">
            <a:extLst xmlns:a="http://schemas.openxmlformats.org/drawingml/2006/main">
              <a:ext uri="{FF2B5EF4-FFF2-40B4-BE49-F238E27FC236}">
                <a16:creationId xmlns:a16="http://schemas.microsoft.com/office/drawing/2014/main" id="{0A0EF042-9D6F-491E-8D7A-BF2099E0A66B}"/>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6/10</a:t>
            </a:r>
          </a:p>
        </p:txBody>
      </p:sp>
      <p:sp>
        <p:nvSpPr>
          <p:cNvPr id="6" name="">
            <a:extLst xmlns:a="http://schemas.openxmlformats.org/drawingml/2006/main">
              <a:ext uri="{FF2B5EF4-FFF2-40B4-BE49-F238E27FC236}">
                <a16:creationId xmlns:a16="http://schemas.microsoft.com/office/drawing/2014/main" id="{BA98E81B-4CD4-4C44-9058-72DA75031634}"/>
              </a:ext>
            </a:extLst>
          </p:cNvPr>
          <p:cNvSpPr>
            <a:spLocks xmlns:a="http://schemas.openxmlformats.org/drawingml/2006/main" noGrp="1"/>
          </p:cNvSpPr>
          <p:nvPr/>
        </p:nvSpPr>
        <p:spPr>
          <a:xfrm xmlns:a="http://schemas.openxmlformats.org/drawingml/2006/main">
            <a:off x="4191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3f067e8d8cc47b2">
            <a:extLst>
              <a:ext uri="{96DAC541-7B7A-43D3-8B79-37D633B846F1}">
                <asvg:svgBlip xmlns:asvg="http://schemas.microsoft.com/office/drawing/2016/SVG/main" r:embed="Rc10c6a9967974d30"/>
              </a:ext>
            </a:extLst>
          </a:blip>
          <a:stretch xmlns:a="http://schemas.openxmlformats.org/drawingml/2006/main"/>
        </p:blipFill>
        <p:spPr>
          <a:xfrm xmlns:a="http://schemas.openxmlformats.org/drawingml/2006/main">
            <a:off x="5143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7B34AEC-D97D-4F0F-9F4B-7238D770C8D1}"/>
              </a:ext>
            </a:extLst>
          </p:cNvPr>
          <p:cNvSpPr>
            <a:spLocks xmlns:a="http://schemas.openxmlformats.org/drawingml/2006/main" noGrp="1"/>
          </p:cNvSpPr>
          <p:nvPr/>
        </p:nvSpPr>
        <p:spPr>
          <a:xfrm xmlns:a="http://schemas.openxmlformats.org/drawingml/2006/main">
            <a:off x="68389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5C795D9F-233A-487D-AF0C-C03F79406291}"/>
              </a:ext>
            </a:extLst>
          </p:cNvPr>
          <p:cNvSpPr>
            <a:spLocks xmlns:a="http://schemas.openxmlformats.org/drawingml/2006/main" noGrp="1"/>
          </p:cNvSpPr>
          <p:nvPr/>
        </p:nvSpPr>
        <p:spPr>
          <a:xfrm xmlns:a="http://schemas.openxmlformats.org/drawingml/2006/main">
            <a:off x="68389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A symptom is not a proven cause</a:t>
            </a:r>
          </a:p>
          <a:p xmlns:a="http://schemas.openxmlformats.org/drawingml/2006/main">
            <a:pPr algn="l">
              <a:defRPr sz="1725" b="1">
                <a:solidFill>
                  <a:srgbClr val="123E2A"/>
                </a:solidFill>
              </a:defRPr>
            </a:pPr>
            <a:r>
              <a:rPr sz="1725" b="1">
                <a:solidFill>
                  <a:srgbClr val="123E2A"/>
                </a:solidFill>
              </a:rPr>
              <a:t>• Build an evidence timeline</a:t>
            </a:r>
          </a:p>
        </p:txBody>
      </p:sp>
      <p:sp>
        <p:nvSpPr>
          <p:cNvPr id="10" name="">
            <a:extLst xmlns:a="http://schemas.openxmlformats.org/drawingml/2006/main">
              <a:ext uri="{FF2B5EF4-FFF2-40B4-BE49-F238E27FC236}">
                <a16:creationId xmlns:a16="http://schemas.microsoft.com/office/drawing/2014/main" id="{555F83B5-07C2-4E25-A090-9C4B6F9366A7}"/>
              </a:ext>
            </a:extLst>
          </p:cNvPr>
          <p:cNvSpPr>
            <a:spLocks xmlns:a="http://schemas.openxmlformats.org/drawingml/2006/main" noGrp="1"/>
          </p:cNvSpPr>
          <p:nvPr/>
        </p:nvSpPr>
        <p:spPr>
          <a:xfrm xmlns:a="http://schemas.openxmlformats.org/drawingml/2006/main">
            <a:off x="68389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A system symptom may be a changed livestock behaviour report, repeated boundary issue, visible damaged component, vegetation contact, missing sign or inconsistent maintenance record. Place observations, authorised status records, weather events, maintenance entries and reported changes in time order.</a:t>
            </a:r>
          </a:p>
        </p:txBody>
      </p:sp>
      <p:sp>
        <p:nvSpPr>
          <p:cNvPr id="11" name="">
            <a:extLst xmlns:a="http://schemas.openxmlformats.org/drawingml/2006/main">
              <a:ext uri="{FF2B5EF4-FFF2-40B4-BE49-F238E27FC236}">
                <a16:creationId xmlns:a16="http://schemas.microsoft.com/office/drawing/2014/main" id="{F02E10C7-32D2-4976-A9DD-74766042A044}"/>
              </a:ext>
            </a:extLst>
          </p:cNvPr>
          <p:cNvSpPr>
            <a:spLocks xmlns:a="http://schemas.openxmlformats.org/drawingml/2006/main" noGrp="1"/>
          </p:cNvSpPr>
          <p:nvPr/>
        </p:nvSpPr>
        <p:spPr>
          <a:xfrm xmlns:a="http://schemas.openxmlformats.org/drawingml/2006/main">
            <a:off x="68389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F7244FDD-F0AF-44FC-BB94-C48472F54554}"/>
              </a:ext>
            </a:extLst>
          </p:cNvPr>
          <p:cNvSpPr>
            <a:spLocks xmlns:a="http://schemas.openxmlformats.org/drawingml/2006/main" noGrp="1"/>
          </p:cNvSpPr>
          <p:nvPr/>
        </p:nvSpPr>
        <p:spPr>
          <a:xfrm xmlns:a="http://schemas.openxmlformats.org/drawingml/2006/main">
            <a:off x="70104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AC1BC7AD-2320-473D-B444-08277E979519}"/>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478609606"/>
      </p:ext>
    </p:extLst>
  </p:cSld>
</p:sld>
</file>

<file path=ppt/slides/slide7.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08A4196-E8C6-4DEC-B07F-AFD9621AC176}"/>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7">
            <a:extLst xmlns:a="http://schemas.openxmlformats.org/drawingml/2006/main">
              <a:ext uri="{FF2B5EF4-FFF2-40B4-BE49-F238E27FC236}">
                <a16:creationId xmlns:a16="http://schemas.microsoft.com/office/drawing/2014/main" id="{114581C9-855C-4ED7-A62D-A0967D5FE9E0}"/>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13  •  PRIMARY INDUSTRIES</a:t>
            </a:r>
          </a:p>
        </p:txBody>
      </p:sp>
      <p:sp>
        <p:nvSpPr>
          <p:cNvPr id="3" name="title-7">
            <a:extLst xmlns:a="http://schemas.openxmlformats.org/drawingml/2006/main">
              <a:ext uri="{FF2B5EF4-FFF2-40B4-BE49-F238E27FC236}">
                <a16:creationId xmlns:a16="http://schemas.microsoft.com/office/drawing/2014/main" id="{6E21D58A-0F16-410D-AB08-03DDCDAD0A64}"/>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Fault reasoning from observable evidence: decide from evidence</a:t>
            </a:r>
          </a:p>
        </p:txBody>
      </p:sp>
      <p:sp>
        <p:nvSpPr>
          <p:cNvPr id="4" name="">
            <a:extLst xmlns:a="http://schemas.openxmlformats.org/drawingml/2006/main">
              <a:ext uri="{FF2B5EF4-FFF2-40B4-BE49-F238E27FC236}">
                <a16:creationId xmlns:a16="http://schemas.microsoft.com/office/drawing/2014/main" id="{D57B7FF0-92E7-493F-8192-C1D52831E146}"/>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13</a:t>
            </a:r>
          </a:p>
        </p:txBody>
      </p:sp>
      <p:sp>
        <p:nvSpPr>
          <p:cNvPr id="5" name="">
            <a:extLst xmlns:a="http://schemas.openxmlformats.org/drawingml/2006/main">
              <a:ext uri="{FF2B5EF4-FFF2-40B4-BE49-F238E27FC236}">
                <a16:creationId xmlns:a16="http://schemas.microsoft.com/office/drawing/2014/main" id="{5A0777A3-2125-4840-8F4D-4C0EB01E0BC4}"/>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7/10</a:t>
            </a:r>
          </a:p>
        </p:txBody>
      </p:sp>
      <p:sp>
        <p:nvSpPr>
          <p:cNvPr id="6" name="">
            <a:extLst xmlns:a="http://schemas.openxmlformats.org/drawingml/2006/main">
              <a:ext uri="{FF2B5EF4-FFF2-40B4-BE49-F238E27FC236}">
                <a16:creationId xmlns:a16="http://schemas.microsoft.com/office/drawing/2014/main" id="{514A3D0F-5D4E-43CD-99DC-E5D7EC661C59}"/>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795E2C76-EF24-4B1E-B904-06925A7DB756}"/>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80318235-EC8B-4068-8D38-5473D3DD77EE}"/>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 fictional log shows boundary concerns at Segment E-04 on 2, 5 and 8 October 2027. A dated photograph from 8 October shows vegetation contacting the line, while the current component record for E-04 is missing and the…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Sophie identifies a repeated symptom and one visible relationship change but does not claim the vegetation is the sole cause.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She keeps the area at the hold point and asks the supervisor to verify the segment record and decide the authorised inspection.</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Sophie updates the evidence timeline with the source identifiers and retains alternative possible causes as unresolved.</a:t>
            </a:r>
          </a:p>
        </p:txBody>
      </p:sp>
      <p:sp>
        <p:nvSpPr>
          <p:cNvPr id="9" name="">
            <a:extLst xmlns:a="http://schemas.openxmlformats.org/drawingml/2006/main">
              <a:ext uri="{FF2B5EF4-FFF2-40B4-BE49-F238E27FC236}">
                <a16:creationId xmlns:a16="http://schemas.microsoft.com/office/drawing/2014/main" id="{29023A68-1415-4E6B-8E04-792CBD2189C8}"/>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B615C0CD-DE41-4B35-9BF7-0AD1CAE56312}"/>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0F8B5E41-8ECD-4F97-B70B-C7C2AD354C77}"/>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Three similar reports occur at one segment. What can the learner conclude?</a:t>
            </a:r>
          </a:p>
        </p:txBody>
      </p:sp>
      <p:sp>
        <p:nvSpPr>
          <p:cNvPr id="12" name="">
            <a:extLst xmlns:a="http://schemas.openxmlformats.org/drawingml/2006/main">
              <a:ext uri="{FF2B5EF4-FFF2-40B4-BE49-F238E27FC236}">
                <a16:creationId xmlns:a16="http://schemas.microsoft.com/office/drawing/2014/main" id="{B3EEDFB4-CAC2-4D4B-8692-CDFBAD7B0D30}"/>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A repeated symptom exists and warrants authorised review.</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The exact failed component is now proven.</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The learner may begin repair independently.</a:t>
            </a:r>
          </a:p>
        </p:txBody>
      </p:sp>
      <p:sp>
        <p:nvSpPr>
          <p:cNvPr id="13" name="">
            <a:extLst xmlns:a="http://schemas.openxmlformats.org/drawingml/2006/main">
              <a:ext uri="{FF2B5EF4-FFF2-40B4-BE49-F238E27FC236}">
                <a16:creationId xmlns:a16="http://schemas.microsoft.com/office/drawing/2014/main" id="{73E2797F-7820-46CD-9E3F-3EEE219F9BB8}"/>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Pattern stronger; cause still unresolved.</a:t>
            </a:r>
          </a:p>
        </p:txBody>
      </p:sp>
    </p:spTree>
    <p:extLst>
      <p:ext uri="{BB962C8B-B14F-4D97-AF65-F5344CB8AC3E}">
        <p14:creationId xmlns:p14="http://schemas.microsoft.com/office/powerpoint/2010/main" val="1922456609"/>
      </p:ext>
    </p:extLst>
  </p:cSld>
</p:sld>
</file>

<file path=ppt/slides/slide8.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E05A3D0-D61F-4FFF-AAD8-D749B04F530A}"/>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8">
            <a:extLst xmlns:a="http://schemas.openxmlformats.org/drawingml/2006/main">
              <a:ext uri="{FF2B5EF4-FFF2-40B4-BE49-F238E27FC236}">
                <a16:creationId xmlns:a16="http://schemas.microsoft.com/office/drawing/2014/main" id="{84495CB6-B2D0-48D8-8820-B17DFC3622F7}"/>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13  •  PRIMARY INDUSTRIES</a:t>
            </a:r>
          </a:p>
        </p:txBody>
      </p:sp>
      <p:sp>
        <p:nvSpPr>
          <p:cNvPr id="3" name="title-8">
            <a:extLst xmlns:a="http://schemas.openxmlformats.org/drawingml/2006/main">
              <a:ext uri="{FF2B5EF4-FFF2-40B4-BE49-F238E27FC236}">
                <a16:creationId xmlns:a16="http://schemas.microsoft.com/office/drawing/2014/main" id="{8FDA011E-8A32-449F-BC3F-8776EFE8D019}"/>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Planning, records and safe handover</a:t>
            </a:r>
          </a:p>
        </p:txBody>
      </p:sp>
      <p:sp>
        <p:nvSpPr>
          <p:cNvPr id="4" name="">
            <a:extLst xmlns:a="http://schemas.openxmlformats.org/drawingml/2006/main">
              <a:ext uri="{FF2B5EF4-FFF2-40B4-BE49-F238E27FC236}">
                <a16:creationId xmlns:a16="http://schemas.microsoft.com/office/drawing/2014/main" id="{30A129FA-91FE-4EAA-8C6C-877826F4FDF9}"/>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13</a:t>
            </a:r>
          </a:p>
        </p:txBody>
      </p:sp>
      <p:sp>
        <p:nvSpPr>
          <p:cNvPr id="5" name="">
            <a:extLst xmlns:a="http://schemas.openxmlformats.org/drawingml/2006/main">
              <a:ext uri="{FF2B5EF4-FFF2-40B4-BE49-F238E27FC236}">
                <a16:creationId xmlns:a16="http://schemas.microsoft.com/office/drawing/2014/main" id="{4EEC9A06-027D-49E0-937B-BD361620FD55}"/>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8/10</a:t>
            </a:r>
          </a:p>
        </p:txBody>
      </p:sp>
      <p:sp>
        <p:nvSpPr>
          <p:cNvPr id="6" name="">
            <a:extLst xmlns:a="http://schemas.openxmlformats.org/drawingml/2006/main">
              <a:ext uri="{FF2B5EF4-FFF2-40B4-BE49-F238E27FC236}">
                <a16:creationId xmlns:a16="http://schemas.microsoft.com/office/drawing/2014/main" id="{34AAB5EB-8168-4214-9CC0-FEEE952A0C71}"/>
              </a:ext>
            </a:extLst>
          </p:cNvPr>
          <p:cNvSpPr>
            <a:spLocks xmlns:a="http://schemas.openxmlformats.org/drawingml/2006/main" noGrp="1"/>
          </p:cNvSpPr>
          <p:nvPr/>
        </p:nvSpPr>
        <p:spPr>
          <a:xfrm xmlns:a="http://schemas.openxmlformats.org/drawingml/2006/main">
            <a:off x="56769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95a04de17744880">
            <a:extLst>
              <a:ext uri="{96DAC541-7B7A-43D3-8B79-37D633B846F1}">
                <asvg:svgBlip xmlns:asvg="http://schemas.microsoft.com/office/drawing/2016/SVG/main" r:embed="R1e9f2583f95b4d20"/>
              </a:ext>
            </a:extLst>
          </a:blip>
          <a:stretch xmlns:a="http://schemas.openxmlformats.org/drawingml/2006/main"/>
        </p:blipFill>
        <p:spPr>
          <a:xfrm xmlns:a="http://schemas.openxmlformats.org/drawingml/2006/main">
            <a:off x="57721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3E1B38A-5C55-4A41-A176-366B6A40330C}"/>
              </a:ext>
            </a:extLst>
          </p:cNvPr>
          <p:cNvSpPr>
            <a:spLocks xmlns:a="http://schemas.openxmlformats.org/drawingml/2006/main" noGrp="1"/>
          </p:cNvSpPr>
          <p:nvPr/>
        </p:nvSpPr>
        <p:spPr>
          <a:xfrm xmlns:a="http://schemas.openxmlformats.org/drawingml/2006/main">
            <a:off x="5143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BFB1F671-2863-4F5E-94C6-E465F3D1FC83}"/>
              </a:ext>
            </a:extLst>
          </p:cNvPr>
          <p:cNvSpPr>
            <a:spLocks xmlns:a="http://schemas.openxmlformats.org/drawingml/2006/main" noGrp="1"/>
          </p:cNvSpPr>
          <p:nvPr/>
        </p:nvSpPr>
        <p:spPr>
          <a:xfrm xmlns:a="http://schemas.openxmlformats.org/drawingml/2006/main">
            <a:off x="5143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Begin with purpose, scope and authority</a:t>
            </a:r>
          </a:p>
          <a:p xmlns:a="http://schemas.openxmlformats.org/drawingml/2006/main">
            <a:pPr algn="l">
              <a:defRPr sz="1725" b="1">
                <a:solidFill>
                  <a:srgbClr val="123E2A"/>
                </a:solidFill>
              </a:defRPr>
            </a:pPr>
            <a:r>
              <a:rPr sz="1725" b="1">
                <a:solidFill>
                  <a:srgbClr val="123E2A"/>
                </a:solidFill>
              </a:rPr>
              <a:t>• Record resources by identity and status only</a:t>
            </a:r>
          </a:p>
        </p:txBody>
      </p:sp>
      <p:sp>
        <p:nvSpPr>
          <p:cNvPr id="10" name="">
            <a:extLst xmlns:a="http://schemas.openxmlformats.org/drawingml/2006/main">
              <a:ext uri="{FF2B5EF4-FFF2-40B4-BE49-F238E27FC236}">
                <a16:creationId xmlns:a16="http://schemas.microsoft.com/office/drawing/2014/main" id="{7BCFD472-2EDA-428B-B4A6-5904E275F1C9}"/>
              </a:ext>
            </a:extLst>
          </p:cNvPr>
          <p:cNvSpPr>
            <a:spLocks xmlns:a="http://schemas.openxmlformats.org/drawingml/2006/main" noGrp="1"/>
          </p:cNvSpPr>
          <p:nvPr/>
        </p:nvSpPr>
        <p:spPr>
          <a:xfrm xmlns:a="http://schemas.openxmlformats.org/drawingml/2006/main">
            <a:off x="5143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A controlled electric-fence plan identifies why work is proposed, the affected system and segment, current design and manufacturer sources, assigned roles, present status and boundaries on what the learner may do. A planning register can list component and equipment identifiers, document references and authorised status.</a:t>
            </a:r>
          </a:p>
        </p:txBody>
      </p:sp>
      <p:sp>
        <p:nvSpPr>
          <p:cNvPr id="11" name="">
            <a:extLst xmlns:a="http://schemas.openxmlformats.org/drawingml/2006/main">
              <a:ext uri="{FF2B5EF4-FFF2-40B4-BE49-F238E27FC236}">
                <a16:creationId xmlns:a16="http://schemas.microsoft.com/office/drawing/2014/main" id="{ED21A1D1-2881-48F1-81C7-814685228FD0}"/>
              </a:ext>
            </a:extLst>
          </p:cNvPr>
          <p:cNvSpPr>
            <a:spLocks xmlns:a="http://schemas.openxmlformats.org/drawingml/2006/main" noGrp="1"/>
          </p:cNvSpPr>
          <p:nvPr/>
        </p:nvSpPr>
        <p:spPr>
          <a:xfrm xmlns:a="http://schemas.openxmlformats.org/drawingml/2006/main">
            <a:off x="5143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C6802089-13E4-49B4-AA1C-F2D8769B268B}"/>
              </a:ext>
            </a:extLst>
          </p:cNvPr>
          <p:cNvSpPr>
            <a:spLocks xmlns:a="http://schemas.openxmlformats.org/drawingml/2006/main" noGrp="1"/>
          </p:cNvSpPr>
          <p:nvPr/>
        </p:nvSpPr>
        <p:spPr>
          <a:xfrm xmlns:a="http://schemas.openxmlformats.org/drawingml/2006/main">
            <a:off x="6858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ABF48829-1EEB-41A9-ADA0-51C3AC380114}"/>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2080721187"/>
      </p:ext>
    </p:extLst>
  </p:cSld>
</p:sld>
</file>

<file path=ppt/slides/slide9.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36CD415-AB6F-4B56-A958-19B997E7444B}"/>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9">
            <a:extLst xmlns:a="http://schemas.openxmlformats.org/drawingml/2006/main">
              <a:ext uri="{FF2B5EF4-FFF2-40B4-BE49-F238E27FC236}">
                <a16:creationId xmlns:a16="http://schemas.microsoft.com/office/drawing/2014/main" id="{43B5C582-95F2-4E8D-9125-9B218A197F57}"/>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13  •  PRIMARY INDUSTRIES</a:t>
            </a:r>
          </a:p>
        </p:txBody>
      </p:sp>
      <p:sp>
        <p:nvSpPr>
          <p:cNvPr id="3" name="title-9">
            <a:extLst xmlns:a="http://schemas.openxmlformats.org/drawingml/2006/main">
              <a:ext uri="{FF2B5EF4-FFF2-40B4-BE49-F238E27FC236}">
                <a16:creationId xmlns:a16="http://schemas.microsoft.com/office/drawing/2014/main" id="{4C52CFD4-BB1B-4EFC-923C-BCAA915F2B1F}"/>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Planning, records and safe handover: decide from evidence</a:t>
            </a:r>
          </a:p>
        </p:txBody>
      </p:sp>
      <p:sp>
        <p:nvSpPr>
          <p:cNvPr id="4" name="">
            <a:extLst xmlns:a="http://schemas.openxmlformats.org/drawingml/2006/main">
              <a:ext uri="{FF2B5EF4-FFF2-40B4-BE49-F238E27FC236}">
                <a16:creationId xmlns:a16="http://schemas.microsoft.com/office/drawing/2014/main" id="{D197CAA8-D3B7-445B-A39D-2B63175DE266}"/>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13</a:t>
            </a:r>
          </a:p>
        </p:txBody>
      </p:sp>
      <p:sp>
        <p:nvSpPr>
          <p:cNvPr id="5" name="">
            <a:extLst xmlns:a="http://schemas.openxmlformats.org/drawingml/2006/main">
              <a:ext uri="{FF2B5EF4-FFF2-40B4-BE49-F238E27FC236}">
                <a16:creationId xmlns:a16="http://schemas.microsoft.com/office/drawing/2014/main" id="{588636C7-9351-4533-A572-ACF999A30FE9}"/>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9/10</a:t>
            </a:r>
          </a:p>
        </p:txBody>
      </p:sp>
      <p:sp>
        <p:nvSpPr>
          <p:cNvPr id="6" name="">
            <a:extLst xmlns:a="http://schemas.openxmlformats.org/drawingml/2006/main">
              <a:ext uri="{FF2B5EF4-FFF2-40B4-BE49-F238E27FC236}">
                <a16:creationId xmlns:a16="http://schemas.microsoft.com/office/drawing/2014/main" id="{03D4C734-0A09-4726-BC8B-1ECBEF58DD2A}"/>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E329FE56-99F0-4242-8BF2-5FC016FD1956}"/>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BC08D3F9-C1C3-4047-9581-C94548D0F89A}"/>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 fictional planning pack dated 20 October 2027 contains Design EF-12 revision B and a component schedule marked revision C. The two documents assign different identifiers to Gate E-05, and no current status record is included.</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Jack cannot assemble a reliable work brief by combining them because design identity and system status are unresolved.</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He marks both hold points and gives the supervisor the exact document identifiers and conflicting gate references.</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Jack updates the document register, leaves all practical release fields blank and prepares a handover of remaining information gaps.</a:t>
            </a:r>
          </a:p>
        </p:txBody>
      </p:sp>
      <p:sp>
        <p:nvSpPr>
          <p:cNvPr id="9" name="">
            <a:extLst xmlns:a="http://schemas.openxmlformats.org/drawingml/2006/main">
              <a:ext uri="{FF2B5EF4-FFF2-40B4-BE49-F238E27FC236}">
                <a16:creationId xmlns:a16="http://schemas.microsoft.com/office/drawing/2014/main" id="{8E451526-165E-44A5-96F8-5FB7F5BB1CA1}"/>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0DEB8F37-6C08-43A4-BC38-5DF0C868E00C}"/>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8F985D12-056E-4626-BBE7-CED656F183B2}"/>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A design and component schedule have different revision identifiers. What is the strongest response?</a:t>
            </a:r>
          </a:p>
        </p:txBody>
      </p:sp>
      <p:sp>
        <p:nvSpPr>
          <p:cNvPr id="12" name="">
            <a:extLst xmlns:a="http://schemas.openxmlformats.org/drawingml/2006/main">
              <a:ext uri="{FF2B5EF4-FFF2-40B4-BE49-F238E27FC236}">
                <a16:creationId xmlns:a16="http://schemas.microsoft.com/office/drawing/2014/main" id="{DCB16D69-65AC-4CA2-8A38-73AD4766660A}"/>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Merge the most detailed parts of both documents.</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Mark a document-control hold point and ask the authorised owner for a matching current set.</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Use the newer-looking font as evidence of currency.</a:t>
            </a:r>
          </a:p>
        </p:txBody>
      </p:sp>
      <p:sp>
        <p:nvSpPr>
          <p:cNvPr id="13" name="">
            <a:extLst xmlns:a="http://schemas.openxmlformats.org/drawingml/2006/main">
              <a:ext uri="{FF2B5EF4-FFF2-40B4-BE49-F238E27FC236}">
                <a16:creationId xmlns:a16="http://schemas.microsoft.com/office/drawing/2014/main" id="{A160A2CA-DB67-4AAA-A526-C8855219A3B5}"/>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One current set, confirmed by the source owner.</a:t>
            </a:r>
          </a:p>
        </p:txBody>
      </p:sp>
    </p:spTree>
    <p:extLst>
      <p:ext uri="{BB962C8B-B14F-4D97-AF65-F5344CB8AC3E}">
        <p14:creationId xmlns:p14="http://schemas.microsoft.com/office/powerpoint/2010/main" val="652837456"/>
      </p:ext>
    </p:extLst>
  </p:cSld>
</p:sld>
</file>

<file path=ppt/slides/slide10.xml><?xml version="1.0" encoding="utf-8"?>
<p:sld xmlns:p="http://schemas.openxmlformats.org/presentationml/2006/main">
  <p:cSld>
    <p:bg>
      <p:bgPr>
        <a:solidFill xmlns:a="http://schemas.openxmlformats.org/drawingml/2006/main">
          <a:srgbClr val="123E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3DCD3B-7050-45C4-A856-5E50C241374A}"/>
              </a:ext>
            </a:extLst>
          </p:cNvPr>
          <p:cNvSpPr>
            <a:spLocks xmlns:a="http://schemas.openxmlformats.org/drawingml/2006/main" noGrp="1"/>
          </p:cNvSpPr>
          <p:nvPr/>
        </p:nvSpPr>
        <p:spPr>
          <a:xfrm xmlns:a="http://schemas.openxmlformats.org/drawingml/2006/main">
            <a:off x="571500" y="4572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4A62A"/>
                </a:solidFill>
              </a:defRPr>
            </a:pPr>
            <a:r>
              <a:rPr sz="1200" b="1">
                <a:solidFill>
                  <a:srgbClr val="D4A62A"/>
                </a:solidFill>
              </a:rPr>
              <a:t>CLOSE THE LOOP WITH EVIDENCE</a:t>
            </a:r>
          </a:p>
        </p:txBody>
      </p:sp>
      <p:sp>
        <p:nvSpPr>
          <p:cNvPr id="2" name="">
            <a:extLst xmlns:a="http://schemas.openxmlformats.org/drawingml/2006/main">
              <a:ext uri="{FF2B5EF4-FFF2-40B4-BE49-F238E27FC236}">
                <a16:creationId xmlns:a16="http://schemas.microsoft.com/office/drawing/2014/main" id="{EC1164E0-F382-45CF-9A70-7356C529EEBE}"/>
              </a:ext>
            </a:extLst>
          </p:cNvPr>
          <p:cNvSpPr>
            <a:spLocks xmlns:a="http://schemas.openxmlformats.org/drawingml/2006/main" noGrp="1"/>
          </p:cNvSpPr>
          <p:nvPr/>
        </p:nvSpPr>
        <p:spPr>
          <a:xfrm xmlns:a="http://schemas.openxmlformats.org/drawingml/2006/main">
            <a:off x="571500" y="8763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Apply the task route — then check the boundary</a:t>
            </a:r>
          </a:p>
        </p:txBody>
      </p:sp>
      <p:sp>
        <p:nvSpPr>
          <p:cNvPr id="3" name="">
            <a:extLst xmlns:a="http://schemas.openxmlformats.org/drawingml/2006/main">
              <a:ext uri="{FF2B5EF4-FFF2-40B4-BE49-F238E27FC236}">
                <a16:creationId xmlns:a16="http://schemas.microsoft.com/office/drawing/2014/main" id="{91225F06-05D0-4C7A-B23E-1A9ECD2BA543}"/>
              </a:ext>
            </a:extLst>
          </p:cNvPr>
          <p:cNvSpPr>
            <a:spLocks xmlns:a="http://schemas.openxmlformats.org/drawingml/2006/main" noGrp="1"/>
          </p:cNvSpPr>
          <p:nvPr/>
        </p:nvSpPr>
        <p:spPr>
          <a:xfrm xmlns:a="http://schemas.openxmlformats.org/drawingml/2006/main">
            <a:off x="571500" y="1809750"/>
            <a:ext cx="4095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3EEDF"/>
                </a:solidFill>
              </a:defRPr>
            </a:pPr>
            <a:r>
              <a:rPr sz="1650" b="1">
                <a:solidFill>
                  <a:srgbClr val="F3EEDF"/>
                </a:solidFill>
              </a:rPr>
              <a:t>01  Components and system concepts</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02  Hazards, isolation authority and exclusion</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03  Fault reasoning from observable evidence</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04  Planning, records and safe handover</a:t>
            </a:r>
          </a:p>
        </p:txBody>
      </p:sp>
      <p:sp>
        <p:nvSpPr>
          <p:cNvPr id="4" name="">
            <a:extLst xmlns:a="http://schemas.openxmlformats.org/drawingml/2006/main">
              <a:ext uri="{FF2B5EF4-FFF2-40B4-BE49-F238E27FC236}">
                <a16:creationId xmlns:a16="http://schemas.microsoft.com/office/drawing/2014/main" id="{2B8ABBAC-9B95-4F95-A7B1-36EA0A4BE08E}"/>
              </a:ext>
            </a:extLst>
          </p:cNvPr>
          <p:cNvSpPr>
            <a:spLocks xmlns:a="http://schemas.openxmlformats.org/drawingml/2006/main" noGrp="1"/>
          </p:cNvSpPr>
          <p:nvPr/>
        </p:nvSpPr>
        <p:spPr>
          <a:xfrm xmlns:a="http://schemas.openxmlformats.org/drawingml/2006/main">
            <a:off x="5143500" y="1809750"/>
            <a:ext cx="6191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FFFFF"/>
                </a:solidFill>
              </a:defRPr>
            </a:pPr>
            <a:r>
              <a:rPr sz="1350" b="0">
                <a:solidFill>
                  <a:srgbClr val="FFFFFF"/>
                </a:solidFill>
              </a:rPr>
              <a:t>Build a conceptual component map</a:t>
            </a:r>
          </a:p>
          <a:p xmlns:a="http://schemas.openxmlformats.org/drawingml/2006/main">
            <a:pPr algn="l">
              <a:defRPr sz="1350" b="0">
                <a:solidFill>
                  <a:srgbClr val="FFFFFF"/>
                </a:solidFill>
              </a:defRPr>
            </a:pPr>
            <a:r>
              <a:rPr sz="1350" b="0">
                <a:solidFill>
                  <a:srgbClr val="FFFFFF"/>
                </a:solidFill>
              </a:rPr>
              <a:t>Label the parts of a teacher-supplied fictional diagram, draw relationship arrows and flag one missing or conflicting source detail.</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Mark the authority boundary</a:t>
            </a:r>
          </a:p>
          <a:p xmlns:a="http://schemas.openxmlformats.org/drawingml/2006/main">
            <a:pPr algn="l">
              <a:defRPr sz="1350" b="0">
                <a:solidFill>
                  <a:srgbClr val="FFFFFF"/>
                </a:solidFill>
              </a:defRPr>
            </a:pPr>
            <a:r>
              <a:rPr sz="1350" b="0">
                <a:solidFill>
                  <a:srgbClr val="FFFFFF"/>
                </a:solidFill>
              </a:rPr>
              <a:t>Annotate a fictional site photograph with safe observation location, controlled exclusion area, visible conditions, missing status evidence and the authorised decision owner.</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Build an evidence-first fault brief</a:t>
            </a:r>
          </a:p>
          <a:p xmlns:a="http://schemas.openxmlformats.org/drawingml/2006/main">
            <a:pPr algn="l">
              <a:defRPr sz="1350" b="0">
                <a:solidFill>
                  <a:srgbClr val="FFFFFF"/>
                </a:solidFill>
              </a:defRPr>
            </a:pPr>
            <a:r>
              <a:rPr sz="1350" b="0">
                <a:solidFill>
                  <a:srgbClr val="FFFFFF"/>
                </a:solidFill>
              </a:rPr>
              <a:t>Order fictional reports by date, link them to a conceptual component map and classify each claim as observed, plausible or unresolved.</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Prepare a controlled fictional handover</a:t>
            </a:r>
          </a:p>
          <a:p xmlns:a="http://schemas.openxmlformats.org/drawingml/2006/main">
            <a:pPr algn="l">
              <a:defRPr sz="1350" b="0">
                <a:solidFill>
                  <a:srgbClr val="FFFFFF"/>
                </a:solidFill>
              </a:defRPr>
            </a:pPr>
            <a:r>
              <a:rPr sz="1350" b="0">
                <a:solidFill>
                  <a:srgbClr val="FFFFFF"/>
                </a:solidFill>
              </a:rPr>
              <a:t>Audit a teacher-supplied document pack, mark matching revisions, list open status fields and write a closed-loop handover.</a:t>
            </a:r>
          </a:p>
        </p:txBody>
      </p:sp>
      <p:sp>
        <p:nvSpPr>
          <p:cNvPr id="5" name="">
            <a:extLst xmlns:a="http://schemas.openxmlformats.org/drawingml/2006/main">
              <a:ext uri="{FF2B5EF4-FFF2-40B4-BE49-F238E27FC236}">
                <a16:creationId xmlns:a16="http://schemas.microsoft.com/office/drawing/2014/main" id="{D29BDE01-DDF2-43E6-9AF9-550290455B48}"/>
              </a:ext>
            </a:extLst>
          </p:cNvPr>
          <p:cNvSpPr>
            <a:spLocks xmlns:a="http://schemas.openxmlformats.org/drawingml/2006/main" noGrp="1"/>
          </p:cNvSpPr>
          <p:nvPr/>
        </p:nvSpPr>
        <p:spPr>
          <a:xfrm xmlns:a="http://schemas.openxmlformats.org/drawingml/2006/main">
            <a:off x="571500" y="5391150"/>
            <a:ext cx="10763250" cy="876300"/>
          </a:xfrm>
          <a:prstGeom xmlns:a="http://schemas.openxmlformats.org/drawingml/2006/main" prst="roundRect">
            <a:avLst>
              <a:gd name="adj" fmla="val 19565"/>
            </a:avLst>
          </a:prstGeom>
          <a:solidFill xmlns:a="http://schemas.openxmlformats.org/drawingml/2006/main">
            <a:srgbClr val="F3EEDF"/>
          </a:solidFill>
          <a:ln xmlns:a="http://schemas.openxmlformats.org/drawingml/2006/main" w="9525">
            <a:solidFill>
              <a:srgbClr val="D4A62A"/>
            </a:solidFill>
            <a:prstDash val="solid"/>
          </a:ln>
        </p:spPr>
      </p:sp>
      <p:sp>
        <p:nvSpPr>
          <p:cNvPr id="6" name="">
            <a:extLst xmlns:a="http://schemas.openxmlformats.org/drawingml/2006/main">
              <a:ext uri="{FF2B5EF4-FFF2-40B4-BE49-F238E27FC236}">
                <a16:creationId xmlns:a16="http://schemas.microsoft.com/office/drawing/2014/main" id="{7E41C3FC-0571-44D9-B4BA-0CBFE2E0A91F}"/>
              </a:ext>
            </a:extLst>
          </p:cNvPr>
          <p:cNvSpPr>
            <a:spLocks xmlns:a="http://schemas.openxmlformats.org/drawingml/2006/main" noGrp="1"/>
          </p:cNvSpPr>
          <p:nvPr/>
        </p:nvSpPr>
        <p:spPr>
          <a:xfrm xmlns:a="http://schemas.openxmlformats.org/drawingml/2006/main">
            <a:off x="800100" y="5600700"/>
            <a:ext cx="1032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23E2A"/>
                </a:solidFill>
              </a:defRPr>
            </a:pPr>
            <a:r>
              <a:rPr sz="1425" b="1">
                <a:solidFill>
                  <a:srgbClr val="123E2A"/>
                </a:solidFill>
              </a:rPr>
              <a:t>NEXT STEP  Complete the teacher-nominated learning action. Use current local sources and supervision before any real practical decision. Website responses remain formative.</a:t>
            </a:r>
          </a:p>
        </p:txBody>
      </p:sp>
    </p:spTree>
    <p:extLst>
      <p:ext uri="{BB962C8B-B14F-4D97-AF65-F5344CB8AC3E}">
        <p14:creationId xmlns:p14="http://schemas.microsoft.com/office/powerpoint/2010/main" val="19234094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2026-08-21T09:51:31.8470000Z</dcterms:created>
  <dcterms:modified xsi:type="dcterms:W3CDTF">2026-08-21T09:51:31.8470000Z</dcterms:modified>
</coreProperties>
</file>