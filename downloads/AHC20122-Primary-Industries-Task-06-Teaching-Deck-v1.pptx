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50829088f4405a" /><Relationship Type="http://schemas.openxmlformats.org/officeDocument/2006/relationships/extended-properties" Target="/docProps/app.xml" Id="Rb8de71db08ce4d72" /><Relationship Type="http://schemas.openxmlformats.org/officeDocument/2006/relationships/officeDocument" Target="/ppt/presentation.xml" Id="R9291b47273c546ab" /></Relationships>
</file>

<file path=ppt/presentation.xml><?xml version="1.0" encoding="utf-8"?>
<p:presentation xmlns:p="http://schemas.openxmlformats.org/presentationml/2006/main">
  <p:sldMasterIdLst>
    <p:sldMasterId xmlns:r="http://schemas.openxmlformats.org/officeDocument/2006/relationships" id="2147483648" r:id="Rc1ea16e890344a0b"/>
  </p:sldMasterIdLst>
  <p:notesMasterIdLst>
    <p:notesMasterId xmlns:r="http://schemas.openxmlformats.org/officeDocument/2006/relationships" r:id="R3f8f2102d12d474e"/>
  </p:notesMasterIdLst>
  <p:sldIdLst>
    <p:sldId xmlns:r="http://schemas.openxmlformats.org/officeDocument/2006/relationships" id="256" r:id="R456fb6040d3b4bde"/>
    <p:sldId xmlns:r="http://schemas.openxmlformats.org/officeDocument/2006/relationships" id="257" r:id="R45adfd51c7d742f8"/>
    <p:sldId xmlns:r="http://schemas.openxmlformats.org/officeDocument/2006/relationships" id="258" r:id="R415c25c8d4ca43c0"/>
    <p:sldId xmlns:r="http://schemas.openxmlformats.org/officeDocument/2006/relationships" id="259" r:id="Rf69a99b00314484d"/>
    <p:sldId xmlns:r="http://schemas.openxmlformats.org/officeDocument/2006/relationships" id="260" r:id="R740af845056c44cd"/>
    <p:sldId xmlns:r="http://schemas.openxmlformats.org/officeDocument/2006/relationships" id="261" r:id="Ra0f2980c34ba4020"/>
    <p:sldId xmlns:r="http://schemas.openxmlformats.org/officeDocument/2006/relationships" id="262" r:id="Ra981599b00b34528"/>
    <p:sldId xmlns:r="http://schemas.openxmlformats.org/officeDocument/2006/relationships" id="263" r:id="R02ac5af197d84fb4"/>
    <p:sldId xmlns:r="http://schemas.openxmlformats.org/officeDocument/2006/relationships" id="264" r:id="R9aed198c5c2b4d0a"/>
    <p:sldId xmlns:r="http://schemas.openxmlformats.org/officeDocument/2006/relationships" id="265" r:id="R46f95f818fc8406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d8f31e042a440ec" /><Relationship Type="http://schemas.openxmlformats.org/officeDocument/2006/relationships/slideMaster" Target="/ppt/slideMasters/slideMaster1.xml" Id="Rc1ea16e890344a0b" /><Relationship Type="http://schemas.openxmlformats.org/officeDocument/2006/relationships/notesMaster" Target="/ppt/notesMasters/notesMaster1.xml" Id="R3f8f2102d12d474e" /><Relationship Type="http://schemas.openxmlformats.org/officeDocument/2006/relationships/presProps" Target="/ppt/presProps.xml" Id="Rcfce7556fb8c449a" /><Relationship Type="http://schemas.openxmlformats.org/officeDocument/2006/relationships/tableStyles" Target="/ppt/tableStyles.xml" Id="Rab2368b5272d4d24" /><Relationship Type="http://schemas.openxmlformats.org/officeDocument/2006/relationships/slide" Target="/ppt/slides/slide1.xml" Id="R456fb6040d3b4bde" /><Relationship Type="http://schemas.openxmlformats.org/officeDocument/2006/relationships/slide" Target="/ppt/slides/slide2.xml" Id="R45adfd51c7d742f8" /><Relationship Type="http://schemas.openxmlformats.org/officeDocument/2006/relationships/slide" Target="/ppt/slides/slide3.xml" Id="R415c25c8d4ca43c0" /><Relationship Type="http://schemas.openxmlformats.org/officeDocument/2006/relationships/slide" Target="/ppt/slides/slide4.xml" Id="Rf69a99b00314484d" /><Relationship Type="http://schemas.openxmlformats.org/officeDocument/2006/relationships/slide" Target="/ppt/slides/slide5.xml" Id="R740af845056c44cd" /><Relationship Type="http://schemas.openxmlformats.org/officeDocument/2006/relationships/slide" Target="/ppt/slides/slide6.xml" Id="Ra0f2980c34ba4020" /><Relationship Type="http://schemas.openxmlformats.org/officeDocument/2006/relationships/slide" Target="/ppt/slides/slide7.xml" Id="Ra981599b00b34528" /><Relationship Type="http://schemas.openxmlformats.org/officeDocument/2006/relationships/slide" Target="/ppt/slides/slide8.xml" Id="R02ac5af197d84fb4" /><Relationship Type="http://schemas.openxmlformats.org/officeDocument/2006/relationships/slide" Target="/ppt/slides/slide9.xml" Id="R9aed198c5c2b4d0a" /><Relationship Type="http://schemas.openxmlformats.org/officeDocument/2006/relationships/slide" Target="/ppt/slides/slide10.xml" Id="R46f95f818fc840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0c2376bf3b242f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5407399e7ee4edb" /><Relationship Type="http://schemas.openxmlformats.org/officeDocument/2006/relationships/notesMaster" Target="/ppt/notesMasters/notesMaster1.xml" Id="R6d1b18c1be514e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6a66aa563e4b9d" /><Relationship Type="http://schemas.openxmlformats.org/officeDocument/2006/relationships/notesMaster" Target="/ppt/notesMasters/notesMaster1.xml" Id="R43d9be8ae4f244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760a1923a5224b05" /><Relationship Type="http://schemas.openxmlformats.org/officeDocument/2006/relationships/notesMaster" Target="/ppt/notesMasters/notesMaster1.xml" Id="R46d0bdff0204402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8bcf5d154e43c8" /><Relationship Type="http://schemas.openxmlformats.org/officeDocument/2006/relationships/notesMaster" Target="/ppt/notesMasters/notesMaster1.xml" Id="R22897a30c34847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839024fda7446e" /><Relationship Type="http://schemas.openxmlformats.org/officeDocument/2006/relationships/notesMaster" Target="/ppt/notesMasters/notesMaster1.xml" Id="R376bfc89ecca4d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27551ea65a4d06" /><Relationship Type="http://schemas.openxmlformats.org/officeDocument/2006/relationships/notesMaster" Target="/ppt/notesMasters/notesMaster1.xml" Id="Rdcd86ce86cc044a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229a39244c4722" /><Relationship Type="http://schemas.openxmlformats.org/officeDocument/2006/relationships/notesMaster" Target="/ppt/notesMasters/notesMaster1.xml" Id="Rd4955f4fe4994b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1ad5dd7b76d40b5" /><Relationship Type="http://schemas.openxmlformats.org/officeDocument/2006/relationships/notesMaster" Target="/ppt/notesMasters/notesMaster1.xml" Id="Rea62001a94fa4d18"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b71e4e4a7b406a" /><Relationship Type="http://schemas.openxmlformats.org/officeDocument/2006/relationships/notesMaster" Target="/ppt/notesMasters/notesMaster1.xml" Id="R336b6992835e47c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41663c9f19749b8" /><Relationship Type="http://schemas.openxmlformats.org/officeDocument/2006/relationships/notesMaster" Target="/ppt/notesMasters/notesMaster1.xml" Id="R8b552908855848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connecting the task purpose to the four-module route. Ask students which module most clearly prepares them to notice evidence, make a source-led decision and report through authority.</a:t>
            </a:r>
          </a:p>
          <a:p xmlns:a="http://schemas.openxmlformats.org/drawingml/2006/main">
            <a:r>
              <a:t>Boundary: Supplementary learning is grounded in AHCLSK222 Release 1, the current NESA Livestock health and welfare focus area and the authorised teacher-posted livestock resource. Classroom materials still use the legacy AHCLSK202 code while current NESA, RTO and training.gov.au sources use AHCLSK222; the signed mapping remains Teacher/RTO to confirm. Current animal welfare and biosecurity requirements, veterinary advice, workplace plans, product sources, teacher demonstrations, supervision and the RTO assessment package control real work. This site supports observation, escalation and record literacy only; it provides no diagnosis, isolation, treatment, dosage, withholding number, emergency response or euthanasia instruction and does not demonstrate competency.</a:t>
            </a:r>
          </a:p>
          <a:p xmlns:a="http://schemas.openxmlformats.org/drawingml/2006/main">
            <a:r>
              <a:t>[Sources]</a:t>
            </a:r>
          </a:p>
          <a:p xmlns:a="http://schemas.openxmlformats.org/drawingml/2006/main">
            <a:r>
              <a:t>- Supplementary learning is grounded in AHCLSK222 Release 1, the current NESA Livestock health and welfare focus area and the authorised teacher-posted livestock resource. Classroom materials still use the legacy AHCLSK202 code while current NESA, RTO and training.gov.au sources use AHCLSK222; the signed mapping remains Teacher/RTO to confirm. Current animal welfare and biosecurity requirements, veterinary advice, workplace plans, product sources, teacher demonstrations, supervision and the RTO assessment package control real work. This site supports observation, escalation and record literacy only; it provides no diagnosis, isolation, treatment, dosage, withholding number, emergency response or euthanasia instruction and does not demonstrate competency.</a:t>
            </a:r>
          </a:p>
          <a:p xmlns:a="http://schemas.openxmlformats.org/drawingml/2006/main">
            <a:r>
              <a:t>- Course hero: Generated for this course using OpenAI ImageGen on 21 August 2026.</a:t>
            </a:r>
          </a:p>
          <a:p xmlns:a="http://schemas.openxmlformats.org/drawingml/2006/main">
            <a:r>
              <a:t>- Course data: work/pi/site-data/course.json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Report what could be observed and counted, not a cause or motive. Look for an identifier, visible cue and repeated pattern.</a:t>
            </a:r>
          </a:p>
          <a:p xmlns:a="http://schemas.openxmlformats.org/drawingml/2006/main">
            <a:r>
              <a:t>Applied action: Build an indicator comparison. Compare two fictional teacher-provided livestock images or records. List matching context, changed appearance or behaviour cues and the facts that must be referred. Do not diagnose or propose a response.</a:t>
            </a:r>
          </a:p>
          <a:p xmlns:a="http://schemas.openxmlformats.org/drawingml/2006/main">
            <a:r>
              <a:t>Boundary: Supplementary learning is grounded in AHCLSK222 Release 1, the current NESA Livestock health and welfare focus area and the authorised teacher-posted livestock resource. Classroom materials still use the legacy AHCLSK202 code while current NESA, RTO and training.gov.au sources use AHCLSK222; the signed mapping remains Teacher/RTO to confirm. Current animal welfare and biosecurity requirements, veterinary advice, workplace plans, product sources, teacher demonstrations, supervision and the RTO assessment package control real work. This site supports observation, escalation and record literacy only; it provides no diagnosis, isolation, treatment, dosage, withholding number, emergency response or euthanasia instruction and does not demonstrate competency.</a:t>
            </a:r>
          </a:p>
          <a:p xmlns:a="http://schemas.openxmlformats.org/drawingml/2006/main">
            <a:r>
              <a:t>[Sources]</a:t>
            </a:r>
          </a:p>
          <a:p xmlns:a="http://schemas.openxmlformats.org/drawingml/2006/main">
            <a:r>
              <a:t>- Source basis: AHCLSK222 Release 1 regular health-and-welfare checking and reporting requirements, supported by the current NESA livestock focus-area concepts and authorised revision resource. Current enterprise baselines, workplace procedures and authorised animal-health advice control interpretation and response.</a:t>
            </a:r>
          </a:p>
          <a:p xmlns:a="http://schemas.openxmlformats.org/drawingml/2006/main">
            <a:r>
              <a:t>- Visual visual-task-06-01: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Report what could be observed and counted, not a cause or motive. Look for an identifier, visible cue and repeated pattern.
Applied action: Build an indicator comparison. Compare two fictional teacher-provided livestock images or records. List matching context, changed appearance or behaviour cues and the facts that must be referred. Do not diagnose or propose a response.
Boundary: Supplementary learning is grounded in AHCLSK222 Release 1, the current NESA Livestock health and welfare focus area and the authorised teacher-posted livestock resource. Classroom materials still use the legacy AHCLSK202 code while current NESA, RTO and training.gov.au sources use AHCLSK222; the signed mapping remains Teacher/RTO to confirm. Current animal welfare and biosecurity requirements, veterinary advice, workplace plans, product sources, teacher demonstrations, supervision and the RTO assessment package control real work. This site supports observation, escalation and record literacy only; it provides no diagnosis, isolation, treatment, dosage, withholding number, emergency response or euthanasia instruction and does not demonstrate competency.
[Sources]
- Source basis: AHCLSK222 Release 1 regular health-and-welfare checking and reporting requirements, supported by the current NESA livestock focus-area concepts and authorised revision resource. Current enterprise baselines, workplace procedures and authorised animal-health advice control interpretation and response.
- Visual visual-task-06-01: Generated locally from accepted Stage 05 module headings; no external image copied.
- Course visual manifest: work/pi/visuals/visual-manifest.json</a:t>
            </a:r>
          </a:p>
          <a:p xmlns:a="http://schemas.openxmlformats.org/drawingml/2006/main">
            <a:r>
              <a:t>Formative check answer: Animal R08 placed less weight on its rear left limb during three observed movements.</a:t>
            </a:r>
          </a:p>
          <a:p xmlns:a="http://schemas.openxmlformats.org/drawingml/2006/main">
            <a:r>
              <a:t>Correct feedback: You chose precise, repeatable evidence without crossing into diagnosis.</a:t>
            </a:r>
          </a:p>
          <a:p xmlns:a="http://schemas.openxmlformats.org/drawingml/2006/main">
            <a:r>
              <a:t>Corrective feedback: Report what could be observed and counted, not a cause or motive.</a:t>
            </a:r>
          </a:p>
          <a:p xmlns:a="http://schemas.openxmlformats.org/drawingml/2006/main">
            <a:r>
              <a:t>Full contextual example: Observed evidence: At fictional Green Hollow Farm, an observation sheet shows that animal R08 stayed with the group during yesterday's check. Today, from the approved viewing point, Asha records R08 standing apart for four timed intervals and placing noticeably less weight on one rear limb while moving. Decision and reason: Asha cannot identify the cause or severity from those cues. Safe action: She reports the identifier, comparison, repeated pattern, movement description and time. Result: The authorised supervisor reviews the concern. Next check or record: Asha enters the facts and records the direction received without adding treatment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Monitoring improves when its identity, context and fields stay traceable. Ask whether two records describe the same subject in a comparable way.</a:t>
            </a:r>
          </a:p>
          <a:p xmlns:a="http://schemas.openxmlformats.org/drawingml/2006/main">
            <a:r>
              <a:t>Applied action: Audit a monitoring sequence. Examine four fictional monitoring entries, identify the reliable trend, mark missing or non-comparable fields and compose a twenty-second escalation message. Do not infer a cause or close the concern yourself.</a:t>
            </a:r>
          </a:p>
          <a:p xmlns:a="http://schemas.openxmlformats.org/drawingml/2006/main">
            <a:r>
              <a:t>Boundary: Supplementary learning is grounded in AHCLSK222 Release 1, the current NESA Livestock health and welfare focus area and the authorised teacher-posted livestock resource. Classroom materials still use the legacy AHCLSK202 code while current NESA, RTO and training.gov.au sources use AHCLSK222; the signed mapping remains Teacher/RTO to confirm. Current animal welfare and biosecurity requirements, veterinary advice, workplace plans, product sources, teacher demonstrations, supervision and the RTO assessment package control real work. This site supports observation, escalation and record literacy only; it provides no diagnosis, isolation, treatment, dosage, withholding number, emergency response or euthanasia instruction and does not demonstrate competency.</a:t>
            </a:r>
          </a:p>
          <a:p xmlns:a="http://schemas.openxmlformats.org/drawingml/2006/main">
            <a:r>
              <a:t>[Sources]</a:t>
            </a:r>
          </a:p>
          <a:p xmlns:a="http://schemas.openxmlformats.org/drawingml/2006/main">
            <a:r>
              <a:t>- Source basis: AHCLSK222 Release 1 requirements to check livestock regularly, recognise and report poor health, injury or abnormal behaviour, monitor post-treatment and report abnormalities. Current workplace schedules, contacts, thresholds and response pathways remain authoritative.</a:t>
            </a:r>
          </a:p>
          <a:p xmlns:a="http://schemas.openxmlformats.org/drawingml/2006/main">
            <a:r>
              <a:t>- Visual visual-task-06-02: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Monitoring improves when its identity, context and fields stay traceable. Ask whether two records describe the same subject in a comparable way.
Applied action: Audit a monitoring sequence. Examine four fictional monitoring entries, identify the reliable trend, mark missing or non-comparable fields and compose a twenty-second escalation message. Do not infer a cause or close the concern yourself.
Boundary: Supplementary learning is grounded in AHCLSK222 Release 1, the current NESA Livestock health and welfare focus area and the authorised teacher-posted livestock resource. Classroom materials still use the legacy AHCLSK202 code while current NESA, RTO and training.gov.au sources use AHCLSK222; the signed mapping remains Teacher/RTO to confirm. Current animal welfare and biosecurity requirements, veterinary advice, workplace plans, product sources, teacher demonstrations, supervision and the RTO assessment package control real work. This site supports observation, escalation and record literacy only; it provides no diagnosis, isolation, treatment, dosage, withholding number, emergency response or euthanasia instruction and does not demonstrate competency.
[Sources]
- Source basis: AHCLSK222 Release 1 requirements to check livestock regularly, recognise and report poor health, injury or abnormal behaviour, monitor post-treatment and report abnormalities. Current workplace schedules, contacts, thresholds and response pathways remain authoritative.
- Visual visual-task-06-02: Generated locally from accepted Stage 05 module headings; no external image copied.
- Course visual manifest: work/pi/visuals/visual-manifest.json</a:t>
            </a:r>
          </a:p>
          <a:p xmlns:a="http://schemas.openxmlformats.org/drawingml/2006/main">
            <a:r>
              <a:t>Formative check answer: Consistent identifiers, fields, timing context and authorised baselines.</a:t>
            </a:r>
          </a:p>
          <a:p xmlns:a="http://schemas.openxmlformats.org/drawingml/2006/main">
            <a:r>
              <a:t>Correct feedback: You identified the foundations of a comparable monitoring record.</a:t>
            </a:r>
          </a:p>
          <a:p xmlns:a="http://schemas.openxmlformats.org/drawingml/2006/main">
            <a:r>
              <a:t>Corrective feedback: Monitoring improves when its identity, context and fields stay traceable.</a:t>
            </a:r>
          </a:p>
          <a:p xmlns:a="http://schemas.openxmlformats.org/drawingml/2006/main">
            <a:r>
              <a:t>Full contextual example: Monitoring context: On fictional Red Gum Farm, Liam conducts an approved record-review exercise and finds that three entries for group K show a repeated reduction in attendance at the recorded water-point check, while the fourth entry is blank. Decision and reason: The pattern deserves prompt authorised review, but the blank entry means he cannot claim four consecutive changes or identify a cause. Safe action: Liam reports the three confirmed entries, missing field, dates and group identifier. Result: The supervisor checks the source records and directs follow-up. Next check or record: Liam records the acknowledgement and avoids filling the blank from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A pathway shows possible connection; authorised sources determine status and action. Map what could connect, then identify who controls the decision.</a:t>
            </a:r>
          </a:p>
          <a:p xmlns:a="http://schemas.openxmlformats.org/drawingml/2006/main">
            <a:r>
              <a:t>Applied action: Trace a fictional pathway. Arrange teacher-provided fictional movement cards into a timeline, mark one record gap and identify the current authority needed to resolve it. Do not create a clean-down, isolation or treatment procedure.</a:t>
            </a:r>
          </a:p>
          <a:p xmlns:a="http://schemas.openxmlformats.org/drawingml/2006/main">
            <a:r>
              <a:t>Boundary: Supplementary learning is grounded in AHCLSK222 Release 1, the current NESA Livestock health and welfare focus area and the authorised teacher-posted livestock resource. Classroom materials still use the legacy AHCLSK202 code while current NESA, RTO and training.gov.au sources use AHCLSK222; the signed mapping remains Teacher/RTO to confirm. Current animal welfare and biosecurity requirements, veterinary advice, workplace plans, product sources, teacher demonstrations, supervision and the RTO assessment package control real work. This site supports observation, escalation and record literacy only; it provides no diagnosis, isolation, treatment, dosage, withholding number, emergency response or euthanasia instruction and does not demonstrate competency.</a:t>
            </a:r>
          </a:p>
          <a:p xmlns:a="http://schemas.openxmlformats.org/drawingml/2006/main">
            <a:r>
              <a:t>[Sources]</a:t>
            </a:r>
          </a:p>
          <a:p xmlns:a="http://schemas.openxmlformats.org/drawingml/2006/main">
            <a:r>
              <a:t>- Source basis: AHCLSK222 Release 1 requirements to follow biosecurity and hygiene procedures as instructed, plus current NESA livestock health-and-welfare concepts. The current property plan, legal requirements, supervisor and veterinary advice control every real biosecurity and livestock response.</a:t>
            </a:r>
          </a:p>
          <a:p xmlns:a="http://schemas.openxmlformats.org/drawingml/2006/main">
            <a:r>
              <a:t>- Visual visual-task-06-03: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A pathway shows possible connection; authorised sources determine status and action. Map what could connect, then identify who controls the decision.
Applied action: Trace a fictional pathway. Arrange teacher-provided fictional movement cards into a timeline, mark one record gap and identify the current authority needed to resolve it. Do not create a clean-down, isolation or treatment procedure.
Boundary: Supplementary learning is grounded in AHCLSK222 Release 1, the current NESA Livestock health and welfare focus area and the authorised teacher-posted livestock resource. Classroom materials still use the legacy AHCLSK202 code while current NESA, RTO and training.gov.au sources use AHCLSK222; the signed mapping remains Teacher/RTO to confirm. Current animal welfare and biosecurity requirements, veterinary advice, workplace plans, product sources, teacher demonstrations, supervision and the RTO assessment package control real work. This site supports observation, escalation and record literacy only; it provides no diagnosis, isolation, treatment, dosage, withholding number, emergency response or euthanasia instruction and does not demonstrate competency.
[Sources]
- Source basis: AHCLSK222 Release 1 requirements to follow biosecurity and hygiene procedures as instructed, plus current NESA livestock health-and-welfare concepts. The current property plan, legal requirements, supervisor and veterinary advice control every real biosecurity and livestock response.
- Visual visual-task-06-03: Generated locally from accepted Stage 05 module headings; no external image copied.
- Course visual manifest: work/pi/visuals/visual-manifest.json</a:t>
            </a:r>
          </a:p>
          <a:p xmlns:a="http://schemas.openxmlformats.org/drawingml/2006/main">
            <a:r>
              <a:t>Formative check answer: Possible connections that authorised people may need to assess.</a:t>
            </a:r>
          </a:p>
          <a:p xmlns:a="http://schemas.openxmlformats.org/drawingml/2006/main">
            <a:r>
              <a:t>Correct feedback: You treated the map as evidence for review, not proof of disease.</a:t>
            </a:r>
          </a:p>
          <a:p xmlns:a="http://schemas.openxmlformats.org/drawingml/2006/main">
            <a:r>
              <a:t>Corrective feedback: A pathway shows possible connection; authorised sources determine status and action.</a:t>
            </a:r>
          </a:p>
          <a:p xmlns:a="http://schemas.openxmlformats.org/drawingml/2006/main">
            <a:r>
              <a:t>Full contextual example: Pathway evidence: At fictional Blue Wren Farm, a shared equipment log shows use in Area A at 9:00 am and Area C at 10:15 am, but the required authorisation field between locations is blank. Decision and reason: Sophie cannot declare the equipment clean, contaminated or safe because the controlling biosecurity record is incomplete. Safe action: She holds the planning decision, preserves the route history and reports the missing authorisation to the supervisor. Result: The authorised person checks the current property source. Next check or record: Sophie records the confirmed status and direction without inventing a clean-down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A controlled product mismatch must be checked, not guessed or removed. Preserve both values and identify who can verify the current source.</a:t>
            </a:r>
          </a:p>
          <a:p xmlns:a="http://schemas.openxmlformats.org/drawingml/2006/main">
            <a:r>
              <a:t>Applied action: Audit a fictional treatment record. Compare a fictional authorised direction, event entry and follow-up note. Mark matching fields, unresolved conflicts and the current source needed for each decision. Do not calculate dosage or withholding and do not recommend treatment.</a:t>
            </a:r>
          </a:p>
          <a:p xmlns:a="http://schemas.openxmlformats.org/drawingml/2006/main">
            <a:r>
              <a:t>Boundary: Supplementary learning is grounded in AHCLSK222 Release 1, the current NESA Livestock health and welfare focus area and the authorised teacher-posted livestock resource. Classroom materials still use the legacy AHCLSK202 code while current NESA, RTO and training.gov.au sources use AHCLSK222; the signed mapping remains Teacher/RTO to confirm. Current animal welfare and biosecurity requirements, veterinary advice, workplace plans, product sources, teacher demonstrations, supervision and the RTO assessment package control real work. This site supports observation, escalation and record literacy only; it provides no diagnosis, isolation, treatment, dosage, withholding number, emergency response or euthanasia instruction and does not demonstrate competency.</a:t>
            </a:r>
          </a:p>
          <a:p xmlns:a="http://schemas.openxmlformats.org/drawingml/2006/main">
            <a:r>
              <a:t>[Sources]</a:t>
            </a:r>
          </a:p>
          <a:p xmlns:a="http://schemas.openxmlformats.org/drawingml/2006/main">
            <a:r>
              <a:t>- Source basis: AHCLSK222 Release 1 treatment-record, batch, expiry, monitoring and reporting requirements, interpreted only as record literacy. Current veterinary direction, product information, workplace procedures and authorised personnel control all treatment, dosage, withholding and follow-up decisions.</a:t>
            </a:r>
          </a:p>
          <a:p xmlns:a="http://schemas.openxmlformats.org/drawingml/2006/main">
            <a:r>
              <a:t>- Visual visual-task-06-04: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A controlled product mismatch must be checked, not guessed or removed. Preserve both values and identify who can verify the current source.
Applied action: Audit a fictional treatment record. Compare a fictional authorised direction, event entry and follow-up note. Mark matching fields, unresolved conflicts and the current source needed for each decision. Do not calculate dosage or withholding and do not recommend treatment.
Boundary: Supplementary learning is grounded in AHCLSK222 Release 1, the current NESA Livestock health and welfare focus area and the authorised teacher-posted livestock resource. Classroom materials still use the legacy AHCLSK202 code while current NESA, RTO and training.gov.au sources use AHCLSK222; the signed mapping remains Teacher/RTO to confirm. Current animal welfare and biosecurity requirements, veterinary advice, workplace plans, product sources, teacher demonstrations, supervision and the RTO assessment package control real work. This site supports observation, escalation and record literacy only; it provides no diagnosis, isolation, treatment, dosage, withholding number, emergency response or euthanasia instruction and does not demonstrate competency.
[Sources]
- Source basis: AHCLSK222 Release 1 treatment-record, batch, expiry, monitoring and reporting requirements, interpreted only as record literacy. Current veterinary direction, product information, workplace procedures and authorised personnel control all treatment, dosage, withholding and follow-up decisions.
- Visual visual-task-06-04: Generated locally from accepted Stage 05 module headings; no external image copied.
- Course visual manifest: work/pi/visuals/visual-manifest.json</a:t>
            </a:r>
          </a:p>
          <a:p xmlns:a="http://schemas.openxmlformats.org/drawingml/2006/main">
            <a:r>
              <a:t>Formative check answer: Preserve the mismatch and refer it to the authorised reviewer before use.</a:t>
            </a:r>
          </a:p>
          <a:p xmlns:a="http://schemas.openxmlformats.org/drawingml/2006/main">
            <a:r>
              <a:t>Correct feedback: You kept product identity evidence intact for authorised reconciliation.</a:t>
            </a:r>
          </a:p>
          <a:p xmlns:a="http://schemas.openxmlformats.org/drawingml/2006/main">
            <a:r>
              <a:t>Corrective feedback: A controlled product mismatch must be checked, not guessed or removed.</a:t>
            </a:r>
          </a:p>
          <a:p xmlns:a="http://schemas.openxmlformats.org/drawingml/2006/main">
            <a:r>
              <a:t>Full contextual example: Record evidence: In a fictional classroom record for animal group F12, the authorised direction names Product PX-4 and batch B318, while the event entry says PX-4 and batch B381. The withholding-status field is blank. Decision and reason: Kai cannot decide which batch is correct or infer any release date. Safe action: He circles both discrepancies and refers the record to the authorised supervisor. Result: The supervisor checks the current product and enterprise sources. Next check or record: Kai enters only the confirmed correction and source reference, with no invented dosage or withholding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one retrieval question from each module, then direct students to the teacher-nominated learning action. Re-state that site work is formative and that current workplace and RTO processes control real practice and assessment.</a:t>
            </a:r>
          </a:p>
          <a:p xmlns:a="http://schemas.openxmlformats.org/drawingml/2006/main">
            <a:r>
              <a:t>Boundary: Supplementary learning is grounded in AHCLSK222 Release 1, the current NESA Livestock health and welfare focus area and the authorised teacher-posted livestock resource. Classroom materials still use the legacy AHCLSK202 code while current NESA, RTO and training.gov.au sources use AHCLSK222; the signed mapping remains Teacher/RTO to confirm. Current animal welfare and biosecurity requirements, veterinary advice, workplace plans, product sources, teacher demonstrations, supervision and the RTO assessment package control real work. This site supports observation, escalation and record literacy only; it provides no diagnosis, isolation, treatment, dosage, withholding number, emergency response or euthanasia instruction and does not demonstrate competency.</a:t>
            </a:r>
          </a:p>
          <a:p xmlns:a="http://schemas.openxmlformats.org/drawingml/2006/main">
            <a:r>
              <a:t>[Sources]</a:t>
            </a:r>
          </a:p>
          <a:p xmlns:a="http://schemas.openxmlformats.org/drawingml/2006/main">
            <a:r>
              <a:t>- Source basis: AHCLSK222 Release 1 regular health-and-welfare checking and reporting requirements, supported by the current NESA livestock focus-area concepts and authorised revision resource. Current enterprise baselines, workplace procedures and authorised animal-health advice control interpretation and response.</a:t>
            </a:r>
          </a:p>
          <a:p xmlns:a="http://schemas.openxmlformats.org/drawingml/2006/main">
            <a:r>
              <a:t>- Source basis: AHCLSK222 Release 1 requirements to check livestock regularly, recognise and report poor health, injury or abnormal behaviour, monitor post-treatment and report abnormalities. Current workplace schedules, contacts, thresholds and response pathways remain authoritative.</a:t>
            </a:r>
          </a:p>
          <a:p xmlns:a="http://schemas.openxmlformats.org/drawingml/2006/main">
            <a:r>
              <a:t>- Source basis: AHCLSK222 Release 1 requirements to follow biosecurity and hygiene procedures as instructed, plus current NESA livestock health-and-welfare concepts. The current property plan, legal requirements, supervisor and veterinary advice control every real biosecurity and livestock response.</a:t>
            </a:r>
          </a:p>
          <a:p xmlns:a="http://schemas.openxmlformats.org/drawingml/2006/main">
            <a:r>
              <a:t>- Source basis: AHCLSK222 Release 1 treatment-record, batch, expiry, monitoring and reporting requirements, interpreted only as record literacy. Current veterinary direction, product information, workplace procedures and authorised personnel control all treatment, dosage, withholding and follow-up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d694c1a890465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8fbb4b8d304d03" /><Relationship Type="http://schemas.openxmlformats.org/officeDocument/2006/relationships/slideLayout" Target="/ppt/slideLayouts/slideLayout1.xml" Id="R532cb638931f45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2cb638931f45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8823a0f61f446db" /><Relationship Type="http://schemas.openxmlformats.org/officeDocument/2006/relationships/image" Target="/ppt/media/image.png" Id="Rcb70056035d44cb0" /><Relationship Type="http://schemas.openxmlformats.org/officeDocument/2006/relationships/notesSlide" Target="/ppt/notesSlides/notesSlide1.xml" Id="R458f09ddbdc547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96de28749cd4d87" /><Relationship Type="http://schemas.openxmlformats.org/officeDocument/2006/relationships/image" Target="/ppt/media/image2.png" Id="R18ca2b88b2684bfa" /><Relationship Type="http://schemas.openxmlformats.org/officeDocument/2006/relationships/image" Target="/ppt/media/image.svg" Id="R3941e1a43ec34175" /><Relationship Type="http://schemas.openxmlformats.org/officeDocument/2006/relationships/notesSlide" Target="/ppt/notesSlides/notesSlide2.xml" Id="R250827242acf46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feb8640f91d4e08" /><Relationship Type="http://schemas.openxmlformats.org/officeDocument/2006/relationships/notesSlide" Target="/ppt/notesSlides/notesSlide3.xml" Id="R03b9e5c852b34e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8083b3ef32445a" /><Relationship Type="http://schemas.openxmlformats.org/officeDocument/2006/relationships/image" Target="/ppt/media/image3.png" Id="R25dd94b18a414a12" /><Relationship Type="http://schemas.openxmlformats.org/officeDocument/2006/relationships/image" Target="/ppt/media/image2.svg" Id="Reef74523704649c1" /><Relationship Type="http://schemas.openxmlformats.org/officeDocument/2006/relationships/notesSlide" Target="/ppt/notesSlides/notesSlide4.xml" Id="R2abdcb65b2e34a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72b58752e5d4988" /><Relationship Type="http://schemas.openxmlformats.org/officeDocument/2006/relationships/notesSlide" Target="/ppt/notesSlides/notesSlide5.xml" Id="R049aeb1fb52544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655ed6e133541c3" /><Relationship Type="http://schemas.openxmlformats.org/officeDocument/2006/relationships/image" Target="/ppt/media/image4.png" Id="Recdab1302ca243dd" /><Relationship Type="http://schemas.openxmlformats.org/officeDocument/2006/relationships/image" Target="/ppt/media/image3.svg" Id="R2e4d030bca2f47ee" /><Relationship Type="http://schemas.openxmlformats.org/officeDocument/2006/relationships/notesSlide" Target="/ppt/notesSlides/notesSlide6.xml" Id="R96ef25f924bf4a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57e7c2459f746e5" /><Relationship Type="http://schemas.openxmlformats.org/officeDocument/2006/relationships/notesSlide" Target="/ppt/notesSlides/notesSlide7.xml" Id="R9d9a2fbfd42c4b6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98d2da965a04aa6" /><Relationship Type="http://schemas.openxmlformats.org/officeDocument/2006/relationships/image" Target="/ppt/media/image5.png" Id="Re5f16fa5a0534bc7" /><Relationship Type="http://schemas.openxmlformats.org/officeDocument/2006/relationships/image" Target="/ppt/media/image4.svg" Id="R3f95115690884529" /><Relationship Type="http://schemas.openxmlformats.org/officeDocument/2006/relationships/notesSlide" Target="/ppt/notesSlides/notesSlide8.xml" Id="Rdb2792544c7a419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8bd558ebda04fa8" /><Relationship Type="http://schemas.openxmlformats.org/officeDocument/2006/relationships/notesSlide" Target="/ppt/notesSlides/notesSlide9.xml" Id="R8073a642441f4ce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0da17ba1bdc4cef" /><Relationship Type="http://schemas.openxmlformats.org/officeDocument/2006/relationships/notesSlide" Target="/ppt/notesSlides/notesSlide10.xml" Id="R0e66d1831f754054" /></Relationships>
</file>

<file path=ppt/slides/slide1.xml><?xml version="1.0" encoding="utf-8"?>
<p:sld xmlns:p="http://schemas.openxmlformats.org/presentationml/2006/main">
  <p:cSld>
    <p:bg>
      <p:bgPr>
        <a:solidFill xmlns:a="http://schemas.openxmlformats.org/drawingml/2006/main">
          <a:srgbClr val="123E2A"/>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b70056035d44cb0"/>
          <a:srcRect xmlns:a="http://schemas.openxmlformats.org/drawingml/2006/main" l="21860" t="0" r="2186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7C4284C-6855-4E04-8806-EF0BB6CE18C0}"/>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3" name="">
            <a:extLst xmlns:a="http://schemas.openxmlformats.org/drawingml/2006/main">
              <a:ext uri="{FF2B5EF4-FFF2-40B4-BE49-F238E27FC236}">
                <a16:creationId xmlns:a16="http://schemas.microsoft.com/office/drawing/2014/main" id="{69808870-52CF-4936-B51E-2053DEC3B44D}"/>
              </a:ext>
            </a:extLst>
          </p:cNvPr>
          <p:cNvSpPr>
            <a:spLocks xmlns:a="http://schemas.openxmlformats.org/drawingml/2006/main" noGrp="1"/>
          </p:cNvSpPr>
          <p:nvPr/>
        </p:nvSpPr>
        <p:spPr>
          <a:xfrm xmlns:a="http://schemas.openxmlformats.org/drawingml/2006/main">
            <a:off x="552450" y="5334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4A62A"/>
                </a:solidFill>
              </a:defRPr>
            </a:pPr>
            <a:r>
              <a:rPr sz="1200" b="1">
                <a:solidFill>
                  <a:srgbClr val="D4A62A"/>
                </a:solidFill>
              </a:rPr>
              <a:t>AHC20122 • CERTIFICATE II IN AGRICULTURE</a:t>
            </a:r>
          </a:p>
        </p:txBody>
      </p:sp>
      <p:sp>
        <p:nvSpPr>
          <p:cNvPr id="4" name="deck-title">
            <a:extLst xmlns:a="http://schemas.openxmlformats.org/drawingml/2006/main">
              <a:ext uri="{FF2B5EF4-FFF2-40B4-BE49-F238E27FC236}">
                <a16:creationId xmlns:a16="http://schemas.microsoft.com/office/drawing/2014/main" id="{0567CBCC-2BD7-41F4-A54E-613BA64407B4}"/>
              </a:ext>
            </a:extLst>
          </p:cNvPr>
          <p:cNvSpPr>
            <a:spLocks xmlns:a="http://schemas.openxmlformats.org/drawingml/2006/main" noGrp="1"/>
          </p:cNvSpPr>
          <p:nvPr/>
        </p:nvSpPr>
        <p:spPr>
          <a:xfrm xmlns:a="http://schemas.openxmlformats.org/drawingml/2006/main">
            <a:off x="552450" y="1066800"/>
            <a:ext cx="4857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FFFFFF"/>
                </a:solidFill>
              </a:defRPr>
            </a:pPr>
            <a:r>
              <a:rPr sz="4050" b="1">
                <a:solidFill>
                  <a:srgbClr val="FFFFFF"/>
                </a:solidFill>
              </a:rPr>
              <a:t>Task 6 · Care for livestock</a:t>
            </a:r>
          </a:p>
        </p:txBody>
      </p:sp>
      <p:sp>
        <p:nvSpPr>
          <p:cNvPr id="5" name="">
            <a:extLst xmlns:a="http://schemas.openxmlformats.org/drawingml/2006/main">
              <a:ext uri="{FF2B5EF4-FFF2-40B4-BE49-F238E27FC236}">
                <a16:creationId xmlns:a16="http://schemas.microsoft.com/office/drawing/2014/main" id="{E09FB73D-CA6D-41AF-BC75-9A237930E69D}"/>
              </a:ext>
            </a:extLst>
          </p:cNvPr>
          <p:cNvSpPr>
            <a:spLocks xmlns:a="http://schemas.openxmlformats.org/drawingml/2006/main" noGrp="1"/>
          </p:cNvSpPr>
          <p:nvPr/>
        </p:nvSpPr>
        <p:spPr>
          <a:xfrm xmlns:a="http://schemas.openxmlformats.org/drawingml/2006/main">
            <a:off x="552450" y="2400300"/>
            <a:ext cx="4667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3EEDF"/>
                </a:solidFill>
              </a:defRPr>
            </a:pPr>
            <a:r>
              <a:rPr sz="1650" b="0">
                <a:solidFill>
                  <a:srgbClr val="F3EEDF"/>
                </a:solidFill>
              </a:rPr>
              <a:t>Observe health and welfare indicators, report concerns, understand authorised response pathways and maintain accurate records.</a:t>
            </a:r>
          </a:p>
        </p:txBody>
      </p:sp>
      <p:sp>
        <p:nvSpPr>
          <p:cNvPr id="6" name="">
            <a:extLst xmlns:a="http://schemas.openxmlformats.org/drawingml/2006/main">
              <a:ext uri="{FF2B5EF4-FFF2-40B4-BE49-F238E27FC236}">
                <a16:creationId xmlns:a16="http://schemas.microsoft.com/office/drawing/2014/main" id="{784E37F6-64D5-434D-A822-5C1ADE0AF618}"/>
              </a:ext>
            </a:extLst>
          </p:cNvPr>
          <p:cNvSpPr>
            <a:spLocks xmlns:a="http://schemas.openxmlformats.org/drawingml/2006/main" noGrp="1"/>
          </p:cNvSpPr>
          <p:nvPr/>
        </p:nvSpPr>
        <p:spPr>
          <a:xfrm xmlns:a="http://schemas.openxmlformats.org/drawingml/2006/main">
            <a:off x="552450" y="35623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LEARNING ROUTE</a:t>
            </a:r>
          </a:p>
        </p:txBody>
      </p:sp>
      <p:sp>
        <p:nvSpPr>
          <p:cNvPr id="7" name="">
            <a:extLst xmlns:a="http://schemas.openxmlformats.org/drawingml/2006/main">
              <a:ext uri="{FF2B5EF4-FFF2-40B4-BE49-F238E27FC236}">
                <a16:creationId xmlns:a16="http://schemas.microsoft.com/office/drawing/2014/main" id="{C7873783-B882-4E0E-8F6C-07237F677212}"/>
              </a:ext>
            </a:extLst>
          </p:cNvPr>
          <p:cNvSpPr>
            <a:spLocks xmlns:a="http://schemas.openxmlformats.org/drawingml/2006/main" noGrp="1"/>
          </p:cNvSpPr>
          <p:nvPr/>
        </p:nvSpPr>
        <p:spPr>
          <a:xfrm xmlns:a="http://schemas.openxmlformats.org/drawingml/2006/main">
            <a:off x="552450" y="3886200"/>
            <a:ext cx="47625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01  Health and welfare indicators</a:t>
            </a:r>
          </a:p>
          <a:p xmlns:a="http://schemas.openxmlformats.org/drawingml/2006/main">
            <a:pPr algn="l">
              <a:defRPr sz="1425" b="1">
                <a:solidFill>
                  <a:srgbClr val="FFFFFF"/>
                </a:solidFill>
              </a:defRPr>
            </a:pPr>
            <a:r>
              <a:rPr sz="1425" b="1">
                <a:solidFill>
                  <a:srgbClr val="FFFFFF"/>
                </a:solidFill>
              </a:rPr>
              <a:t>02  Routine monitoring and escalation</a:t>
            </a:r>
          </a:p>
          <a:p xmlns:a="http://schemas.openxmlformats.org/drawingml/2006/main">
            <a:pPr algn="l">
              <a:defRPr sz="1425" b="1">
                <a:solidFill>
                  <a:srgbClr val="FFFFFF"/>
                </a:solidFill>
              </a:defRPr>
            </a:pPr>
            <a:r>
              <a:rPr sz="1425" b="1">
                <a:solidFill>
                  <a:srgbClr val="FFFFFF"/>
                </a:solidFill>
              </a:rPr>
              <a:t>03  Biosecurity and authorised response</a:t>
            </a:r>
          </a:p>
          <a:p xmlns:a="http://schemas.openxmlformats.org/drawingml/2006/main">
            <a:pPr algn="l">
              <a:defRPr sz="1425" b="1">
                <a:solidFill>
                  <a:srgbClr val="FFFFFF"/>
                </a:solidFill>
              </a:defRPr>
            </a:pPr>
            <a:r>
              <a:rPr sz="1425" b="1">
                <a:solidFill>
                  <a:srgbClr val="FFFFFF"/>
                </a:solidFill>
              </a:rPr>
              <a:t>04  Treatment records, withholding concepts and follow-up</a:t>
            </a:r>
          </a:p>
        </p:txBody>
      </p:sp>
      <p:sp>
        <p:nvSpPr>
          <p:cNvPr id="8" name="">
            <a:extLst xmlns:a="http://schemas.openxmlformats.org/drawingml/2006/main">
              <a:ext uri="{FF2B5EF4-FFF2-40B4-BE49-F238E27FC236}">
                <a16:creationId xmlns:a16="http://schemas.microsoft.com/office/drawing/2014/main" id="{BA6BB1D4-EA79-43B6-9539-D6A428D13645}"/>
              </a:ext>
            </a:extLst>
          </p:cNvPr>
          <p:cNvSpPr>
            <a:spLocks xmlns:a="http://schemas.openxmlformats.org/drawingml/2006/main" noGrp="1"/>
          </p:cNvSpPr>
          <p:nvPr/>
        </p:nvSpPr>
        <p:spPr>
          <a:xfrm xmlns:a="http://schemas.openxmlformats.org/drawingml/2006/main">
            <a:off x="552450" y="61722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BD6D0"/>
                </a:solidFill>
              </a:defRPr>
            </a:pPr>
            <a:r>
              <a:rPr sz="1050" b="0">
                <a:solidFill>
                  <a:srgbClr val="BBD6D0"/>
                </a:solidFill>
              </a:rPr>
              <a:t>Supplementary learning • current local sources and supervision control real work</a:t>
            </a:r>
          </a:p>
        </p:txBody>
      </p:sp>
    </p:spTree>
    <p:extLst>
      <p:ext uri="{BB962C8B-B14F-4D97-AF65-F5344CB8AC3E}">
        <p14:creationId xmlns:p14="http://schemas.microsoft.com/office/powerpoint/2010/main" val="278823974"/>
      </p:ext>
    </p:extLst>
  </p:cSld>
</p:sld>
</file>

<file path=ppt/slides/slide2.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A69A53B-D24A-401F-9318-1814433CB284}"/>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2">
            <a:extLst xmlns:a="http://schemas.openxmlformats.org/drawingml/2006/main">
              <a:ext uri="{FF2B5EF4-FFF2-40B4-BE49-F238E27FC236}">
                <a16:creationId xmlns:a16="http://schemas.microsoft.com/office/drawing/2014/main" id="{4CB34268-883B-4AA9-B3C3-24FF48303828}"/>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06  •  PRIMARY INDUSTRIES</a:t>
            </a:r>
          </a:p>
        </p:txBody>
      </p:sp>
      <p:sp>
        <p:nvSpPr>
          <p:cNvPr id="3" name="title-2">
            <a:extLst xmlns:a="http://schemas.openxmlformats.org/drawingml/2006/main">
              <a:ext uri="{FF2B5EF4-FFF2-40B4-BE49-F238E27FC236}">
                <a16:creationId xmlns:a16="http://schemas.microsoft.com/office/drawing/2014/main" id="{9112B54C-2BCF-4793-9DAA-85063EB65946}"/>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Health and welfare indicators</a:t>
            </a:r>
          </a:p>
        </p:txBody>
      </p:sp>
      <p:sp>
        <p:nvSpPr>
          <p:cNvPr id="4" name="">
            <a:extLst xmlns:a="http://schemas.openxmlformats.org/drawingml/2006/main">
              <a:ext uri="{FF2B5EF4-FFF2-40B4-BE49-F238E27FC236}">
                <a16:creationId xmlns:a16="http://schemas.microsoft.com/office/drawing/2014/main" id="{BE14523C-BFCD-406C-AAB1-94A605FD769E}"/>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6</a:t>
            </a:r>
          </a:p>
        </p:txBody>
      </p:sp>
      <p:sp>
        <p:nvSpPr>
          <p:cNvPr id="5" name="">
            <a:extLst xmlns:a="http://schemas.openxmlformats.org/drawingml/2006/main">
              <a:ext uri="{FF2B5EF4-FFF2-40B4-BE49-F238E27FC236}">
                <a16:creationId xmlns:a16="http://schemas.microsoft.com/office/drawing/2014/main" id="{FBC377B0-F90E-4114-939D-A5AA9DC2B5FB}"/>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2/10</a:t>
            </a:r>
          </a:p>
        </p:txBody>
      </p:sp>
      <p:sp>
        <p:nvSpPr>
          <p:cNvPr id="6" name="">
            <a:extLst xmlns:a="http://schemas.openxmlformats.org/drawingml/2006/main">
              <a:ext uri="{FF2B5EF4-FFF2-40B4-BE49-F238E27FC236}">
                <a16:creationId xmlns:a16="http://schemas.microsoft.com/office/drawing/2014/main" id="{ED65D972-8002-4A48-B131-E9361CFA6442}"/>
              </a:ext>
            </a:extLst>
          </p:cNvPr>
          <p:cNvSpPr>
            <a:spLocks xmlns:a="http://schemas.openxmlformats.org/drawingml/2006/main" noGrp="1"/>
          </p:cNvSpPr>
          <p:nvPr/>
        </p:nvSpPr>
        <p:spPr>
          <a:xfrm xmlns:a="http://schemas.openxmlformats.org/drawingml/2006/main">
            <a:off x="4191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8ca2b88b2684bfa">
            <a:extLst>
              <a:ext uri="{96DAC541-7B7A-43D3-8B79-37D633B846F1}">
                <asvg:svgBlip xmlns:asvg="http://schemas.microsoft.com/office/drawing/2016/SVG/main" r:embed="R3941e1a43ec34175"/>
              </a:ext>
            </a:extLst>
          </a:blip>
          <a:stretch xmlns:a="http://schemas.openxmlformats.org/drawingml/2006/main"/>
        </p:blipFill>
        <p:spPr>
          <a:xfrm xmlns:a="http://schemas.openxmlformats.org/drawingml/2006/main">
            <a:off x="5143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6DDBBEB-2FA5-404C-A783-CEA23C6FA8BE}"/>
              </a:ext>
            </a:extLst>
          </p:cNvPr>
          <p:cNvSpPr>
            <a:spLocks xmlns:a="http://schemas.openxmlformats.org/drawingml/2006/main" noGrp="1"/>
          </p:cNvSpPr>
          <p:nvPr/>
        </p:nvSpPr>
        <p:spPr>
          <a:xfrm xmlns:a="http://schemas.openxmlformats.org/drawingml/2006/main">
            <a:off x="68389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E5664CAB-304B-471F-85E5-CFE67CB73357}"/>
              </a:ext>
            </a:extLst>
          </p:cNvPr>
          <p:cNvSpPr>
            <a:spLocks xmlns:a="http://schemas.openxmlformats.org/drawingml/2006/main" noGrp="1"/>
          </p:cNvSpPr>
          <p:nvPr/>
        </p:nvSpPr>
        <p:spPr>
          <a:xfrm xmlns:a="http://schemas.openxmlformats.org/drawingml/2006/main">
            <a:off x="68389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Health and welfare are observed through patterns</a:t>
            </a:r>
          </a:p>
          <a:p xmlns:a="http://schemas.openxmlformats.org/drawingml/2006/main">
            <a:pPr algn="l">
              <a:defRPr sz="1725" b="1">
                <a:solidFill>
                  <a:srgbClr val="123E2A"/>
                </a:solidFill>
              </a:defRPr>
            </a:pPr>
            <a:r>
              <a:rPr sz="1725" b="1">
                <a:solidFill>
                  <a:srgbClr val="123E2A"/>
                </a:solidFill>
              </a:rPr>
              <a:t>• Normal depends on context</a:t>
            </a:r>
          </a:p>
        </p:txBody>
      </p:sp>
      <p:sp>
        <p:nvSpPr>
          <p:cNvPr id="10" name="">
            <a:extLst xmlns:a="http://schemas.openxmlformats.org/drawingml/2006/main">
              <a:ext uri="{FF2B5EF4-FFF2-40B4-BE49-F238E27FC236}">
                <a16:creationId xmlns:a16="http://schemas.microsoft.com/office/drawing/2014/main" id="{23851605-E762-4A42-A268-106D497F411C}"/>
              </a:ext>
            </a:extLst>
          </p:cNvPr>
          <p:cNvSpPr>
            <a:spLocks xmlns:a="http://schemas.openxmlformats.org/drawingml/2006/main" noGrp="1"/>
          </p:cNvSpPr>
          <p:nvPr/>
        </p:nvSpPr>
        <p:spPr>
          <a:xfrm xmlns:a="http://schemas.openxmlformats.org/drawingml/2006/main">
            <a:off x="68389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Livestock health and welfare monitoring draws on patterns across appearance, behaviour, movement, group position, intake-related observations and environmental conditions. A normal reference comes from current species information, enterprise records, supervisor knowledge and comparable observations.</a:t>
            </a:r>
          </a:p>
        </p:txBody>
      </p:sp>
      <p:sp>
        <p:nvSpPr>
          <p:cNvPr id="11" name="">
            <a:extLst xmlns:a="http://schemas.openxmlformats.org/drawingml/2006/main">
              <a:ext uri="{FF2B5EF4-FFF2-40B4-BE49-F238E27FC236}">
                <a16:creationId xmlns:a16="http://schemas.microsoft.com/office/drawing/2014/main" id="{3957E087-8DD9-4CEB-AC7B-8176AE577C46}"/>
              </a:ext>
            </a:extLst>
          </p:cNvPr>
          <p:cNvSpPr>
            <a:spLocks xmlns:a="http://schemas.openxmlformats.org/drawingml/2006/main" noGrp="1"/>
          </p:cNvSpPr>
          <p:nvPr/>
        </p:nvSpPr>
        <p:spPr>
          <a:xfrm xmlns:a="http://schemas.openxmlformats.org/drawingml/2006/main">
            <a:off x="68389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442202F0-91E5-4B0A-AA06-37B2A0A74D4B}"/>
              </a:ext>
            </a:extLst>
          </p:cNvPr>
          <p:cNvSpPr>
            <a:spLocks xmlns:a="http://schemas.openxmlformats.org/drawingml/2006/main" noGrp="1"/>
          </p:cNvSpPr>
          <p:nvPr/>
        </p:nvSpPr>
        <p:spPr>
          <a:xfrm xmlns:a="http://schemas.openxmlformats.org/drawingml/2006/main">
            <a:off x="70104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68BDFDC9-3034-4D69-AA24-A41081DB5ABB}"/>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1227123365"/>
      </p:ext>
    </p:extLst>
  </p:cSld>
</p:sld>
</file>

<file path=ppt/slides/slide3.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F5FD735-6687-490E-A6AF-F9E8D9343D59}"/>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3">
            <a:extLst xmlns:a="http://schemas.openxmlformats.org/drawingml/2006/main">
              <a:ext uri="{FF2B5EF4-FFF2-40B4-BE49-F238E27FC236}">
                <a16:creationId xmlns:a16="http://schemas.microsoft.com/office/drawing/2014/main" id="{D7B0CE3D-6093-4DA1-B058-D74D1A360F3A}"/>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06  •  PRIMARY INDUSTRIES</a:t>
            </a:r>
          </a:p>
        </p:txBody>
      </p:sp>
      <p:sp>
        <p:nvSpPr>
          <p:cNvPr id="3" name="title-3">
            <a:extLst xmlns:a="http://schemas.openxmlformats.org/drawingml/2006/main">
              <a:ext uri="{FF2B5EF4-FFF2-40B4-BE49-F238E27FC236}">
                <a16:creationId xmlns:a16="http://schemas.microsoft.com/office/drawing/2014/main" id="{945FB06A-3455-4298-8E64-99E09C38A5EF}"/>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75" b="1">
                <a:solidFill>
                  <a:srgbClr val="FFFFFF"/>
                </a:solidFill>
              </a:defRPr>
            </a:pPr>
            <a:r>
              <a:rPr sz="2475" b="1">
                <a:solidFill>
                  <a:srgbClr val="FFFFFF"/>
                </a:solidFill>
              </a:rPr>
              <a:t>Health and welfare indicators: decide from evidence</a:t>
            </a:r>
          </a:p>
        </p:txBody>
      </p:sp>
      <p:sp>
        <p:nvSpPr>
          <p:cNvPr id="4" name="">
            <a:extLst xmlns:a="http://schemas.openxmlformats.org/drawingml/2006/main">
              <a:ext uri="{FF2B5EF4-FFF2-40B4-BE49-F238E27FC236}">
                <a16:creationId xmlns:a16="http://schemas.microsoft.com/office/drawing/2014/main" id="{FD7F20AC-75A7-491E-916C-E6D6CAD30819}"/>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6</a:t>
            </a:r>
          </a:p>
        </p:txBody>
      </p:sp>
      <p:sp>
        <p:nvSpPr>
          <p:cNvPr id="5" name="">
            <a:extLst xmlns:a="http://schemas.openxmlformats.org/drawingml/2006/main">
              <a:ext uri="{FF2B5EF4-FFF2-40B4-BE49-F238E27FC236}">
                <a16:creationId xmlns:a16="http://schemas.microsoft.com/office/drawing/2014/main" id="{C6E2E441-CFE3-4141-AF2A-1CB2EBCFE6FE}"/>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3/10</a:t>
            </a:r>
          </a:p>
        </p:txBody>
      </p:sp>
      <p:sp>
        <p:nvSpPr>
          <p:cNvPr id="6" name="">
            <a:extLst xmlns:a="http://schemas.openxmlformats.org/drawingml/2006/main">
              <a:ext uri="{FF2B5EF4-FFF2-40B4-BE49-F238E27FC236}">
                <a16:creationId xmlns:a16="http://schemas.microsoft.com/office/drawing/2014/main" id="{8B7CBE69-73AE-47C0-814F-4F48CCA9F40C}"/>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564A7549-7093-4E9D-A6BF-1BA3F6C5AFED}"/>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C9D27A98-D7BA-480C-B929-B6F77B3A929A}"/>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At fictional Green Hollow Farm, an observation sheet shows that animal R08 stayed with the group during yesterday's check. Today, from the approved viewing point, Asha records R08 standing apart for four timed intervals and placing noticeably less…</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Asha cannot identify the cause or severity from those cues.</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She reports the identifier, comparison, repeated pattern, movement description and time.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Asha enters the facts and records the direction received without adding treatment advice.</a:t>
            </a:r>
          </a:p>
        </p:txBody>
      </p:sp>
      <p:sp>
        <p:nvSpPr>
          <p:cNvPr id="9" name="">
            <a:extLst xmlns:a="http://schemas.openxmlformats.org/drawingml/2006/main">
              <a:ext uri="{FF2B5EF4-FFF2-40B4-BE49-F238E27FC236}">
                <a16:creationId xmlns:a16="http://schemas.microsoft.com/office/drawing/2014/main" id="{086D33D8-7E97-42A6-9CA4-E4A083E9995C}"/>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94B972E6-CAD1-483F-81A4-D076F0178AB2}"/>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DDA49FC6-DECE-4652-A390-E718F7187B06}"/>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Which statement is an objective health or welfare observation?</a:t>
            </a:r>
          </a:p>
        </p:txBody>
      </p:sp>
      <p:sp>
        <p:nvSpPr>
          <p:cNvPr id="12" name="">
            <a:extLst xmlns:a="http://schemas.openxmlformats.org/drawingml/2006/main">
              <a:ext uri="{FF2B5EF4-FFF2-40B4-BE49-F238E27FC236}">
                <a16:creationId xmlns:a16="http://schemas.microsoft.com/office/drawing/2014/main" id="{0F94D5BA-DB00-42C8-A8B6-5B36C0DEBABD}"/>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The animal is definitely suffering from an infection.</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Animal R08 placed less weight on its rear left limb during three observed movements.</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The animal has decided not to cooperate.</a:t>
            </a:r>
          </a:p>
        </p:txBody>
      </p:sp>
      <p:sp>
        <p:nvSpPr>
          <p:cNvPr id="13" name="">
            <a:extLst xmlns:a="http://schemas.openxmlformats.org/drawingml/2006/main">
              <a:ext uri="{FF2B5EF4-FFF2-40B4-BE49-F238E27FC236}">
                <a16:creationId xmlns:a16="http://schemas.microsoft.com/office/drawing/2014/main" id="{9E43A793-C287-460F-8ED4-05620FE4A765}"/>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Look for an identifier, visible cue and repeated pattern.</a:t>
            </a:r>
          </a:p>
        </p:txBody>
      </p:sp>
    </p:spTree>
    <p:extLst>
      <p:ext uri="{BB962C8B-B14F-4D97-AF65-F5344CB8AC3E}">
        <p14:creationId xmlns:p14="http://schemas.microsoft.com/office/powerpoint/2010/main" val="207214507"/>
      </p:ext>
    </p:extLst>
  </p:cSld>
</p:sld>
</file>

<file path=ppt/slides/slide4.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A31E5C5-A9C3-461B-BB6C-2BC3F7C57519}"/>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4">
            <a:extLst xmlns:a="http://schemas.openxmlformats.org/drawingml/2006/main">
              <a:ext uri="{FF2B5EF4-FFF2-40B4-BE49-F238E27FC236}">
                <a16:creationId xmlns:a16="http://schemas.microsoft.com/office/drawing/2014/main" id="{2F2BF4A3-D3BF-492C-A579-38FB66DB0D94}"/>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06  •  PRIMARY INDUSTRIES</a:t>
            </a:r>
          </a:p>
        </p:txBody>
      </p:sp>
      <p:sp>
        <p:nvSpPr>
          <p:cNvPr id="3" name="title-4">
            <a:extLst xmlns:a="http://schemas.openxmlformats.org/drawingml/2006/main">
              <a:ext uri="{FF2B5EF4-FFF2-40B4-BE49-F238E27FC236}">
                <a16:creationId xmlns:a16="http://schemas.microsoft.com/office/drawing/2014/main" id="{89E6F129-2B09-4E26-8F0D-4C4BC41A89CF}"/>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Routine monitoring and escalation</a:t>
            </a:r>
          </a:p>
        </p:txBody>
      </p:sp>
      <p:sp>
        <p:nvSpPr>
          <p:cNvPr id="4" name="">
            <a:extLst xmlns:a="http://schemas.openxmlformats.org/drawingml/2006/main">
              <a:ext uri="{FF2B5EF4-FFF2-40B4-BE49-F238E27FC236}">
                <a16:creationId xmlns:a16="http://schemas.microsoft.com/office/drawing/2014/main" id="{E251C471-CCA9-4637-B92C-A616DE95BB56}"/>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6</a:t>
            </a:r>
          </a:p>
        </p:txBody>
      </p:sp>
      <p:sp>
        <p:nvSpPr>
          <p:cNvPr id="5" name="">
            <a:extLst xmlns:a="http://schemas.openxmlformats.org/drawingml/2006/main">
              <a:ext uri="{FF2B5EF4-FFF2-40B4-BE49-F238E27FC236}">
                <a16:creationId xmlns:a16="http://schemas.microsoft.com/office/drawing/2014/main" id="{4A8730C6-897C-4284-A1EF-F6DEBF29387C}"/>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4/10</a:t>
            </a:r>
          </a:p>
        </p:txBody>
      </p:sp>
      <p:sp>
        <p:nvSpPr>
          <p:cNvPr id="6" name="">
            <a:extLst xmlns:a="http://schemas.openxmlformats.org/drawingml/2006/main">
              <a:ext uri="{FF2B5EF4-FFF2-40B4-BE49-F238E27FC236}">
                <a16:creationId xmlns:a16="http://schemas.microsoft.com/office/drawing/2014/main" id="{2F593C47-B178-4BFD-AF48-D1C925DE1A9B}"/>
              </a:ext>
            </a:extLst>
          </p:cNvPr>
          <p:cNvSpPr>
            <a:spLocks xmlns:a="http://schemas.openxmlformats.org/drawingml/2006/main" noGrp="1"/>
          </p:cNvSpPr>
          <p:nvPr/>
        </p:nvSpPr>
        <p:spPr>
          <a:xfrm xmlns:a="http://schemas.openxmlformats.org/drawingml/2006/main">
            <a:off x="56769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5dd94b18a414a12">
            <a:extLst>
              <a:ext uri="{96DAC541-7B7A-43D3-8B79-37D633B846F1}">
                <asvg:svgBlip xmlns:asvg="http://schemas.microsoft.com/office/drawing/2016/SVG/main" r:embed="Reef74523704649c1"/>
              </a:ext>
            </a:extLst>
          </a:blip>
          <a:stretch xmlns:a="http://schemas.openxmlformats.org/drawingml/2006/main"/>
        </p:blipFill>
        <p:spPr>
          <a:xfrm xmlns:a="http://schemas.openxmlformats.org/drawingml/2006/main">
            <a:off x="57721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33D258A-7B65-41C2-A66D-052DFC99D0C7}"/>
              </a:ext>
            </a:extLst>
          </p:cNvPr>
          <p:cNvSpPr>
            <a:spLocks xmlns:a="http://schemas.openxmlformats.org/drawingml/2006/main" noGrp="1"/>
          </p:cNvSpPr>
          <p:nvPr/>
        </p:nvSpPr>
        <p:spPr>
          <a:xfrm xmlns:a="http://schemas.openxmlformats.org/drawingml/2006/main">
            <a:off x="5143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36CDB770-21F5-40CE-8BEC-1F38668CFA93}"/>
              </a:ext>
            </a:extLst>
          </p:cNvPr>
          <p:cNvSpPr>
            <a:spLocks xmlns:a="http://schemas.openxmlformats.org/drawingml/2006/main" noGrp="1"/>
          </p:cNvSpPr>
          <p:nvPr/>
        </p:nvSpPr>
        <p:spPr>
          <a:xfrm xmlns:a="http://schemas.openxmlformats.org/drawingml/2006/main">
            <a:off x="5143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Monitoring is a planned comparison</a:t>
            </a:r>
          </a:p>
          <a:p xmlns:a="http://schemas.openxmlformats.org/drawingml/2006/main">
            <a:pPr algn="l">
              <a:defRPr sz="1725" b="1">
                <a:solidFill>
                  <a:srgbClr val="123E2A"/>
                </a:solidFill>
              </a:defRPr>
            </a:pPr>
            <a:r>
              <a:rPr sz="1725" b="1">
                <a:solidFill>
                  <a:srgbClr val="123E2A"/>
                </a:solidFill>
              </a:rPr>
              <a:t>• Priority comes from evidence and the plan</a:t>
            </a:r>
          </a:p>
        </p:txBody>
      </p:sp>
      <p:sp>
        <p:nvSpPr>
          <p:cNvPr id="10" name="">
            <a:extLst xmlns:a="http://schemas.openxmlformats.org/drawingml/2006/main">
              <a:ext uri="{FF2B5EF4-FFF2-40B4-BE49-F238E27FC236}">
                <a16:creationId xmlns:a16="http://schemas.microsoft.com/office/drawing/2014/main" id="{12F4CC19-4346-49D0-A761-914EEB4ECD19}"/>
              </a:ext>
            </a:extLst>
          </p:cNvPr>
          <p:cNvSpPr>
            <a:spLocks xmlns:a="http://schemas.openxmlformats.org/drawingml/2006/main" noGrp="1"/>
          </p:cNvSpPr>
          <p:nvPr/>
        </p:nvSpPr>
        <p:spPr>
          <a:xfrm xmlns:a="http://schemas.openxmlformats.org/drawingml/2006/main">
            <a:off x="5143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Routine monitoring uses a defined schedule, identified animals or groups and consistent record fields. A learner considers the observable change, how many animals are involved, whether the pattern is new or worsening, and whether the current plan identifies a prompt reporting trigger.</a:t>
            </a:r>
          </a:p>
        </p:txBody>
      </p:sp>
      <p:sp>
        <p:nvSpPr>
          <p:cNvPr id="11" name="">
            <a:extLst xmlns:a="http://schemas.openxmlformats.org/drawingml/2006/main">
              <a:ext uri="{FF2B5EF4-FFF2-40B4-BE49-F238E27FC236}">
                <a16:creationId xmlns:a16="http://schemas.microsoft.com/office/drawing/2014/main" id="{0E4D20D6-95D5-4C36-B68B-9B29EF52E347}"/>
              </a:ext>
            </a:extLst>
          </p:cNvPr>
          <p:cNvSpPr>
            <a:spLocks xmlns:a="http://schemas.openxmlformats.org/drawingml/2006/main" noGrp="1"/>
          </p:cNvSpPr>
          <p:nvPr/>
        </p:nvSpPr>
        <p:spPr>
          <a:xfrm xmlns:a="http://schemas.openxmlformats.org/drawingml/2006/main">
            <a:off x="5143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34D7E8C3-091F-4CE1-B69A-F1142F461ECD}"/>
              </a:ext>
            </a:extLst>
          </p:cNvPr>
          <p:cNvSpPr>
            <a:spLocks xmlns:a="http://schemas.openxmlformats.org/drawingml/2006/main" noGrp="1"/>
          </p:cNvSpPr>
          <p:nvPr/>
        </p:nvSpPr>
        <p:spPr>
          <a:xfrm xmlns:a="http://schemas.openxmlformats.org/drawingml/2006/main">
            <a:off x="6858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C2248179-C3F4-4DA4-B66B-E884E9460497}"/>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1495858743"/>
      </p:ext>
    </p:extLst>
  </p:cSld>
</p:sld>
</file>

<file path=ppt/slides/slide5.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D2572D1-A9B1-4743-A418-BB9A4FE9C1A4}"/>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5">
            <a:extLst xmlns:a="http://schemas.openxmlformats.org/drawingml/2006/main">
              <a:ext uri="{FF2B5EF4-FFF2-40B4-BE49-F238E27FC236}">
                <a16:creationId xmlns:a16="http://schemas.microsoft.com/office/drawing/2014/main" id="{A1C3C0FB-9323-4705-9EAA-0EA73AED5CBF}"/>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06  •  PRIMARY INDUSTRIES</a:t>
            </a:r>
          </a:p>
        </p:txBody>
      </p:sp>
      <p:sp>
        <p:nvSpPr>
          <p:cNvPr id="3" name="title-5">
            <a:extLst xmlns:a="http://schemas.openxmlformats.org/drawingml/2006/main">
              <a:ext uri="{FF2B5EF4-FFF2-40B4-BE49-F238E27FC236}">
                <a16:creationId xmlns:a16="http://schemas.microsoft.com/office/drawing/2014/main" id="{DE83CAB8-568B-414F-B583-C47A5165E19B}"/>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75" b="1">
                <a:solidFill>
                  <a:srgbClr val="FFFFFF"/>
                </a:solidFill>
              </a:defRPr>
            </a:pPr>
            <a:r>
              <a:rPr sz="2475" b="1">
                <a:solidFill>
                  <a:srgbClr val="FFFFFF"/>
                </a:solidFill>
              </a:rPr>
              <a:t>Routine monitoring and escalation: decide from evidence</a:t>
            </a:r>
          </a:p>
        </p:txBody>
      </p:sp>
      <p:sp>
        <p:nvSpPr>
          <p:cNvPr id="4" name="">
            <a:extLst xmlns:a="http://schemas.openxmlformats.org/drawingml/2006/main">
              <a:ext uri="{FF2B5EF4-FFF2-40B4-BE49-F238E27FC236}">
                <a16:creationId xmlns:a16="http://schemas.microsoft.com/office/drawing/2014/main" id="{B0C481FA-1206-442D-BF5C-6001360FA6EA}"/>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6</a:t>
            </a:r>
          </a:p>
        </p:txBody>
      </p:sp>
      <p:sp>
        <p:nvSpPr>
          <p:cNvPr id="5" name="">
            <a:extLst xmlns:a="http://schemas.openxmlformats.org/drawingml/2006/main">
              <a:ext uri="{FF2B5EF4-FFF2-40B4-BE49-F238E27FC236}">
                <a16:creationId xmlns:a16="http://schemas.microsoft.com/office/drawing/2014/main" id="{48FD65B2-0A88-474D-92B6-F9AC38BD59D9}"/>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5/10</a:t>
            </a:r>
          </a:p>
        </p:txBody>
      </p:sp>
      <p:sp>
        <p:nvSpPr>
          <p:cNvPr id="6" name="">
            <a:extLst xmlns:a="http://schemas.openxmlformats.org/drawingml/2006/main">
              <a:ext uri="{FF2B5EF4-FFF2-40B4-BE49-F238E27FC236}">
                <a16:creationId xmlns:a16="http://schemas.microsoft.com/office/drawing/2014/main" id="{6237C623-8A7D-4AC5-A578-42EE95019A1C}"/>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AC70CF06-9402-4961-A7A5-BF3AFF5ECBBD}"/>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4FFFF305-01B9-4AA1-9F54-34DC6B9E7C84}"/>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On fictional Red Gum Farm, Liam conducts an approved record-review exercise and finds that three entries for group K show a repeated reduction in attendance at the recorded water-point check, while the fourth entry is blank.</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The pattern deserves prompt authorised review, but the blank entry means he cannot claim four consecutive changes or identify a cause.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Liam reports the three confirmed entries, missing field, dates and group identifier.</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Liam records the acknowledgement and avoids filling the blank from memory.</a:t>
            </a:r>
          </a:p>
        </p:txBody>
      </p:sp>
      <p:sp>
        <p:nvSpPr>
          <p:cNvPr id="9" name="">
            <a:extLst xmlns:a="http://schemas.openxmlformats.org/drawingml/2006/main">
              <a:ext uri="{FF2B5EF4-FFF2-40B4-BE49-F238E27FC236}">
                <a16:creationId xmlns:a16="http://schemas.microsoft.com/office/drawing/2014/main" id="{F829B057-732C-44EF-965B-3EC5CECC31D8}"/>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F28449D7-1119-4854-BD98-C37186813B00}"/>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81D1B89C-6CFF-4ABD-9DFF-27A08D4F11E3}"/>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makes routine livestock monitoring useful for comparison?</a:t>
            </a:r>
          </a:p>
        </p:txBody>
      </p:sp>
      <p:sp>
        <p:nvSpPr>
          <p:cNvPr id="12" name="">
            <a:extLst xmlns:a="http://schemas.openxmlformats.org/drawingml/2006/main">
              <a:ext uri="{FF2B5EF4-FFF2-40B4-BE49-F238E27FC236}">
                <a16:creationId xmlns:a16="http://schemas.microsoft.com/office/drawing/2014/main" id="{3037ABBB-5F64-48AC-86EE-DA7CA40CBD8E}"/>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Consistent identifiers, fields, timing context and authorised baselines.</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Replacing missing entries with what probably happened.</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Using a different description style at every check.</a:t>
            </a:r>
          </a:p>
        </p:txBody>
      </p:sp>
      <p:sp>
        <p:nvSpPr>
          <p:cNvPr id="13" name="">
            <a:extLst xmlns:a="http://schemas.openxmlformats.org/drawingml/2006/main">
              <a:ext uri="{FF2B5EF4-FFF2-40B4-BE49-F238E27FC236}">
                <a16:creationId xmlns:a16="http://schemas.microsoft.com/office/drawing/2014/main" id="{A88DE5A2-A336-4C9A-8AE2-4F7BC5B166A1}"/>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Ask whether two records describe the same subject in a comparable way.</a:t>
            </a:r>
          </a:p>
        </p:txBody>
      </p:sp>
    </p:spTree>
    <p:extLst>
      <p:ext uri="{BB962C8B-B14F-4D97-AF65-F5344CB8AC3E}">
        <p14:creationId xmlns:p14="http://schemas.microsoft.com/office/powerpoint/2010/main" val="716187647"/>
      </p:ext>
    </p:extLst>
  </p:cSld>
</p:sld>
</file>

<file path=ppt/slides/slide6.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EBB1C00-EF78-4B48-8D6F-5B495A4677BB}"/>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6">
            <a:extLst xmlns:a="http://schemas.openxmlformats.org/drawingml/2006/main">
              <a:ext uri="{FF2B5EF4-FFF2-40B4-BE49-F238E27FC236}">
                <a16:creationId xmlns:a16="http://schemas.microsoft.com/office/drawing/2014/main" id="{EEDA5EC9-993C-4976-B258-97C4F819EE7C}"/>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06  •  PRIMARY INDUSTRIES</a:t>
            </a:r>
          </a:p>
        </p:txBody>
      </p:sp>
      <p:sp>
        <p:nvSpPr>
          <p:cNvPr id="3" name="title-6">
            <a:extLst xmlns:a="http://schemas.openxmlformats.org/drawingml/2006/main">
              <a:ext uri="{FF2B5EF4-FFF2-40B4-BE49-F238E27FC236}">
                <a16:creationId xmlns:a16="http://schemas.microsoft.com/office/drawing/2014/main" id="{42849DD0-A348-41C6-9072-33FF482F1552}"/>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Biosecurity and authorised response</a:t>
            </a:r>
          </a:p>
        </p:txBody>
      </p:sp>
      <p:sp>
        <p:nvSpPr>
          <p:cNvPr id="4" name="">
            <a:extLst xmlns:a="http://schemas.openxmlformats.org/drawingml/2006/main">
              <a:ext uri="{FF2B5EF4-FFF2-40B4-BE49-F238E27FC236}">
                <a16:creationId xmlns:a16="http://schemas.microsoft.com/office/drawing/2014/main" id="{D385C9FD-2030-4C34-84E2-CA0116C8FB39}"/>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6</a:t>
            </a:r>
          </a:p>
        </p:txBody>
      </p:sp>
      <p:sp>
        <p:nvSpPr>
          <p:cNvPr id="5" name="">
            <a:extLst xmlns:a="http://schemas.openxmlformats.org/drawingml/2006/main">
              <a:ext uri="{FF2B5EF4-FFF2-40B4-BE49-F238E27FC236}">
                <a16:creationId xmlns:a16="http://schemas.microsoft.com/office/drawing/2014/main" id="{0FED4D67-EE5D-4D7B-87A2-A88C884058EC}"/>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6/10</a:t>
            </a:r>
          </a:p>
        </p:txBody>
      </p:sp>
      <p:sp>
        <p:nvSpPr>
          <p:cNvPr id="6" name="">
            <a:extLst xmlns:a="http://schemas.openxmlformats.org/drawingml/2006/main">
              <a:ext uri="{FF2B5EF4-FFF2-40B4-BE49-F238E27FC236}">
                <a16:creationId xmlns:a16="http://schemas.microsoft.com/office/drawing/2014/main" id="{B0E277CC-33D5-46CC-8252-089DEF4FCD7C}"/>
              </a:ext>
            </a:extLst>
          </p:cNvPr>
          <p:cNvSpPr>
            <a:spLocks xmlns:a="http://schemas.openxmlformats.org/drawingml/2006/main" noGrp="1"/>
          </p:cNvSpPr>
          <p:nvPr/>
        </p:nvSpPr>
        <p:spPr>
          <a:xfrm xmlns:a="http://schemas.openxmlformats.org/drawingml/2006/main">
            <a:off x="4191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cdab1302ca243dd">
            <a:extLst>
              <a:ext uri="{96DAC541-7B7A-43D3-8B79-37D633B846F1}">
                <asvg:svgBlip xmlns:asvg="http://schemas.microsoft.com/office/drawing/2016/SVG/main" r:embed="R2e4d030bca2f47ee"/>
              </a:ext>
            </a:extLst>
          </a:blip>
          <a:stretch xmlns:a="http://schemas.openxmlformats.org/drawingml/2006/main"/>
        </p:blipFill>
        <p:spPr>
          <a:xfrm xmlns:a="http://schemas.openxmlformats.org/drawingml/2006/main">
            <a:off x="5143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09DE13A-C515-4BF5-B6F5-DF1ADF8D8694}"/>
              </a:ext>
            </a:extLst>
          </p:cNvPr>
          <p:cNvSpPr>
            <a:spLocks xmlns:a="http://schemas.openxmlformats.org/drawingml/2006/main" noGrp="1"/>
          </p:cNvSpPr>
          <p:nvPr/>
        </p:nvSpPr>
        <p:spPr>
          <a:xfrm xmlns:a="http://schemas.openxmlformats.org/drawingml/2006/main">
            <a:off x="68389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EB5A9729-3AF4-4269-9C77-39F146D74325}"/>
              </a:ext>
            </a:extLst>
          </p:cNvPr>
          <p:cNvSpPr>
            <a:spLocks xmlns:a="http://schemas.openxmlformats.org/drawingml/2006/main" noGrp="1"/>
          </p:cNvSpPr>
          <p:nvPr/>
        </p:nvSpPr>
        <p:spPr>
          <a:xfrm xmlns:a="http://schemas.openxmlformats.org/drawingml/2006/main">
            <a:off x="68389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Biosecurity protects connected systems</a:t>
            </a:r>
          </a:p>
          <a:p xmlns:a="http://schemas.openxmlformats.org/drawingml/2006/main">
            <a:pPr algn="l">
              <a:defRPr sz="1725" b="1">
                <a:solidFill>
                  <a:srgbClr val="123E2A"/>
                </a:solidFill>
              </a:defRPr>
            </a:pPr>
            <a:r>
              <a:rPr sz="1725" b="1">
                <a:solidFill>
                  <a:srgbClr val="123E2A"/>
                </a:solidFill>
              </a:rPr>
              <a:t>• Map source, pathway and destination</a:t>
            </a:r>
          </a:p>
        </p:txBody>
      </p:sp>
      <p:sp>
        <p:nvSpPr>
          <p:cNvPr id="10" name="">
            <a:extLst xmlns:a="http://schemas.openxmlformats.org/drawingml/2006/main">
              <a:ext uri="{FF2B5EF4-FFF2-40B4-BE49-F238E27FC236}">
                <a16:creationId xmlns:a16="http://schemas.microsoft.com/office/drawing/2014/main" id="{BC2BBB7F-A29C-450C-AAD9-E05B4F6AE511}"/>
              </a:ext>
            </a:extLst>
          </p:cNvPr>
          <p:cNvSpPr>
            <a:spLocks xmlns:a="http://schemas.openxmlformats.org/drawingml/2006/main" noGrp="1"/>
          </p:cNvSpPr>
          <p:nvPr/>
        </p:nvSpPr>
        <p:spPr>
          <a:xfrm xmlns:a="http://schemas.openxmlformats.org/drawingml/2006/main">
            <a:off x="68389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Livestock biosecurity considers how biological hazards could move among animals, people, equipment, vehicles, feed, water, waste and environments. A pathway map names a possible source, the carrier or movement route and the destination that could be exposed.</a:t>
            </a:r>
          </a:p>
        </p:txBody>
      </p:sp>
      <p:sp>
        <p:nvSpPr>
          <p:cNvPr id="11" name="">
            <a:extLst xmlns:a="http://schemas.openxmlformats.org/drawingml/2006/main">
              <a:ext uri="{FF2B5EF4-FFF2-40B4-BE49-F238E27FC236}">
                <a16:creationId xmlns:a16="http://schemas.microsoft.com/office/drawing/2014/main" id="{F44D0F68-E441-407B-8407-A382D3420E85}"/>
              </a:ext>
            </a:extLst>
          </p:cNvPr>
          <p:cNvSpPr>
            <a:spLocks xmlns:a="http://schemas.openxmlformats.org/drawingml/2006/main" noGrp="1"/>
          </p:cNvSpPr>
          <p:nvPr/>
        </p:nvSpPr>
        <p:spPr>
          <a:xfrm xmlns:a="http://schemas.openxmlformats.org/drawingml/2006/main">
            <a:off x="68389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AC2E4CB7-B84E-40E6-B198-CF8C869B071B}"/>
              </a:ext>
            </a:extLst>
          </p:cNvPr>
          <p:cNvSpPr>
            <a:spLocks xmlns:a="http://schemas.openxmlformats.org/drawingml/2006/main" noGrp="1"/>
          </p:cNvSpPr>
          <p:nvPr/>
        </p:nvSpPr>
        <p:spPr>
          <a:xfrm xmlns:a="http://schemas.openxmlformats.org/drawingml/2006/main">
            <a:off x="70104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351C6B1B-2507-45E1-A1E9-030F3BE6460C}"/>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392143305"/>
      </p:ext>
    </p:extLst>
  </p:cSld>
</p:sld>
</file>

<file path=ppt/slides/slide7.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FCB7CE5-1503-4F34-80F0-EE3537E47457}"/>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7">
            <a:extLst xmlns:a="http://schemas.openxmlformats.org/drawingml/2006/main">
              <a:ext uri="{FF2B5EF4-FFF2-40B4-BE49-F238E27FC236}">
                <a16:creationId xmlns:a16="http://schemas.microsoft.com/office/drawing/2014/main" id="{63F52AD7-6306-4070-A15E-9F1B32677C66}"/>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06  •  PRIMARY INDUSTRIES</a:t>
            </a:r>
          </a:p>
        </p:txBody>
      </p:sp>
      <p:sp>
        <p:nvSpPr>
          <p:cNvPr id="3" name="title-7">
            <a:extLst xmlns:a="http://schemas.openxmlformats.org/drawingml/2006/main">
              <a:ext uri="{FF2B5EF4-FFF2-40B4-BE49-F238E27FC236}">
                <a16:creationId xmlns:a16="http://schemas.microsoft.com/office/drawing/2014/main" id="{979C1CE7-4B97-4D24-96C8-00EB0C56E0F1}"/>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Biosecurity and authorised response: decide from evidence</a:t>
            </a:r>
          </a:p>
        </p:txBody>
      </p:sp>
      <p:sp>
        <p:nvSpPr>
          <p:cNvPr id="4" name="">
            <a:extLst xmlns:a="http://schemas.openxmlformats.org/drawingml/2006/main">
              <a:ext uri="{FF2B5EF4-FFF2-40B4-BE49-F238E27FC236}">
                <a16:creationId xmlns:a16="http://schemas.microsoft.com/office/drawing/2014/main" id="{55E4E929-F8BF-4CD9-9141-0AB95E52AB86}"/>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6</a:t>
            </a:r>
          </a:p>
        </p:txBody>
      </p:sp>
      <p:sp>
        <p:nvSpPr>
          <p:cNvPr id="5" name="">
            <a:extLst xmlns:a="http://schemas.openxmlformats.org/drawingml/2006/main">
              <a:ext uri="{FF2B5EF4-FFF2-40B4-BE49-F238E27FC236}">
                <a16:creationId xmlns:a16="http://schemas.microsoft.com/office/drawing/2014/main" id="{9078CB96-67D3-4932-862F-943871ABE4DC}"/>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7/10</a:t>
            </a:r>
          </a:p>
        </p:txBody>
      </p:sp>
      <p:sp>
        <p:nvSpPr>
          <p:cNvPr id="6" name="">
            <a:extLst xmlns:a="http://schemas.openxmlformats.org/drawingml/2006/main">
              <a:ext uri="{FF2B5EF4-FFF2-40B4-BE49-F238E27FC236}">
                <a16:creationId xmlns:a16="http://schemas.microsoft.com/office/drawing/2014/main" id="{BA36FE4D-DB8E-4122-85BA-F5D2B38C22CB}"/>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C7B3DDBF-445F-4A57-B3D7-7DBA950FA553}"/>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605C57F9-E9FF-4F9B-A44B-00FF61FDA934}"/>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At fictional Blue Wren Farm, a shared equipment log shows use in Area A at 9:00 am and Area C at 10:15 am, but the required authorisation field between locations is blank.</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Sophie cannot declare the equipment clean, contaminated or safe because the controlling biosecurity record is incomplete.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She holds the planning decision, preserves the route history and reports the missing authorisation to the supervisor.</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Sophie records the confirmed status and direction without inventing a clean-down step.</a:t>
            </a:r>
          </a:p>
        </p:txBody>
      </p:sp>
      <p:sp>
        <p:nvSpPr>
          <p:cNvPr id="9" name="">
            <a:extLst xmlns:a="http://schemas.openxmlformats.org/drawingml/2006/main">
              <a:ext uri="{FF2B5EF4-FFF2-40B4-BE49-F238E27FC236}">
                <a16:creationId xmlns:a16="http://schemas.microsoft.com/office/drawing/2014/main" id="{C35FB6CA-0D31-4EA1-B69F-905449222D9A}"/>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A581E74C-E211-444D-8286-BC81EAA2B669}"/>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D3C8D1CF-657E-4B88-AD94-8A34D19C70FB}"/>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does a livestock biosecurity pathway map establish?</a:t>
            </a:r>
          </a:p>
        </p:txBody>
      </p:sp>
      <p:sp>
        <p:nvSpPr>
          <p:cNvPr id="12" name="">
            <a:extLst xmlns:a="http://schemas.openxmlformats.org/drawingml/2006/main">
              <a:ext uri="{FF2B5EF4-FFF2-40B4-BE49-F238E27FC236}">
                <a16:creationId xmlns:a16="http://schemas.microsoft.com/office/drawing/2014/main" id="{360064F8-B821-4B7B-91C0-99C95521A9D9}"/>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Possible connections that authorised people may need to assess.</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A confirmed diagnosis for every animal at the destination.</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A universal procedure that applies unchanged on every property.</a:t>
            </a:r>
          </a:p>
        </p:txBody>
      </p:sp>
      <p:sp>
        <p:nvSpPr>
          <p:cNvPr id="13" name="">
            <a:extLst xmlns:a="http://schemas.openxmlformats.org/drawingml/2006/main">
              <a:ext uri="{FF2B5EF4-FFF2-40B4-BE49-F238E27FC236}">
                <a16:creationId xmlns:a16="http://schemas.microsoft.com/office/drawing/2014/main" id="{121F99D0-39DF-4684-9BE5-7A1FB3626313}"/>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Map what could connect, then identify who controls the decision.</a:t>
            </a:r>
          </a:p>
        </p:txBody>
      </p:sp>
    </p:spTree>
    <p:extLst>
      <p:ext uri="{BB962C8B-B14F-4D97-AF65-F5344CB8AC3E}">
        <p14:creationId xmlns:p14="http://schemas.microsoft.com/office/powerpoint/2010/main" val="1153128690"/>
      </p:ext>
    </p:extLst>
  </p:cSld>
</p:sld>
</file>

<file path=ppt/slides/slide8.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D202883-23B8-4E23-9189-DDF5E1E45EAF}"/>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8">
            <a:extLst xmlns:a="http://schemas.openxmlformats.org/drawingml/2006/main">
              <a:ext uri="{FF2B5EF4-FFF2-40B4-BE49-F238E27FC236}">
                <a16:creationId xmlns:a16="http://schemas.microsoft.com/office/drawing/2014/main" id="{2CF8B8D6-B4FC-4C76-AE1A-193E9E6BAB44}"/>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06  •  PRIMARY INDUSTRIES</a:t>
            </a:r>
          </a:p>
        </p:txBody>
      </p:sp>
      <p:sp>
        <p:nvSpPr>
          <p:cNvPr id="3" name="title-8">
            <a:extLst xmlns:a="http://schemas.openxmlformats.org/drawingml/2006/main">
              <a:ext uri="{FF2B5EF4-FFF2-40B4-BE49-F238E27FC236}">
                <a16:creationId xmlns:a16="http://schemas.microsoft.com/office/drawing/2014/main" id="{BA841C75-E027-44D9-8E12-2D8B6C33905E}"/>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75" b="1">
                <a:solidFill>
                  <a:srgbClr val="FFFFFF"/>
                </a:solidFill>
              </a:defRPr>
            </a:pPr>
            <a:r>
              <a:rPr sz="2475" b="1">
                <a:solidFill>
                  <a:srgbClr val="FFFFFF"/>
                </a:solidFill>
              </a:rPr>
              <a:t>Treatment records, withholding concepts and follow-up</a:t>
            </a:r>
          </a:p>
        </p:txBody>
      </p:sp>
      <p:sp>
        <p:nvSpPr>
          <p:cNvPr id="4" name="">
            <a:extLst xmlns:a="http://schemas.openxmlformats.org/drawingml/2006/main">
              <a:ext uri="{FF2B5EF4-FFF2-40B4-BE49-F238E27FC236}">
                <a16:creationId xmlns:a16="http://schemas.microsoft.com/office/drawing/2014/main" id="{28047524-1118-4870-A63B-F7C76E592DF7}"/>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6</a:t>
            </a:r>
          </a:p>
        </p:txBody>
      </p:sp>
      <p:sp>
        <p:nvSpPr>
          <p:cNvPr id="5" name="">
            <a:extLst xmlns:a="http://schemas.openxmlformats.org/drawingml/2006/main">
              <a:ext uri="{FF2B5EF4-FFF2-40B4-BE49-F238E27FC236}">
                <a16:creationId xmlns:a16="http://schemas.microsoft.com/office/drawing/2014/main" id="{70F5FEF1-79AD-4ABA-8B94-F7A20D21D1F7}"/>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8/10</a:t>
            </a:r>
          </a:p>
        </p:txBody>
      </p:sp>
      <p:sp>
        <p:nvSpPr>
          <p:cNvPr id="6" name="">
            <a:extLst xmlns:a="http://schemas.openxmlformats.org/drawingml/2006/main">
              <a:ext uri="{FF2B5EF4-FFF2-40B4-BE49-F238E27FC236}">
                <a16:creationId xmlns:a16="http://schemas.microsoft.com/office/drawing/2014/main" id="{8CDEA681-7F52-4F91-8C22-81A721694230}"/>
              </a:ext>
            </a:extLst>
          </p:cNvPr>
          <p:cNvSpPr>
            <a:spLocks xmlns:a="http://schemas.openxmlformats.org/drawingml/2006/main" noGrp="1"/>
          </p:cNvSpPr>
          <p:nvPr/>
        </p:nvSpPr>
        <p:spPr>
          <a:xfrm xmlns:a="http://schemas.openxmlformats.org/drawingml/2006/main">
            <a:off x="56769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5f16fa5a0534bc7">
            <a:extLst>
              <a:ext uri="{96DAC541-7B7A-43D3-8B79-37D633B846F1}">
                <asvg:svgBlip xmlns:asvg="http://schemas.microsoft.com/office/drawing/2016/SVG/main" r:embed="R3f95115690884529"/>
              </a:ext>
            </a:extLst>
          </a:blip>
          <a:stretch xmlns:a="http://schemas.openxmlformats.org/drawingml/2006/main"/>
        </p:blipFill>
        <p:spPr>
          <a:xfrm xmlns:a="http://schemas.openxmlformats.org/drawingml/2006/main">
            <a:off x="57721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9FD86A86-B5FD-4EE8-9A4F-1C997EDEC5AB}"/>
              </a:ext>
            </a:extLst>
          </p:cNvPr>
          <p:cNvSpPr>
            <a:spLocks xmlns:a="http://schemas.openxmlformats.org/drawingml/2006/main" noGrp="1"/>
          </p:cNvSpPr>
          <p:nvPr/>
        </p:nvSpPr>
        <p:spPr>
          <a:xfrm xmlns:a="http://schemas.openxmlformats.org/drawingml/2006/main">
            <a:off x="5143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1E424029-6682-4BC2-86EE-AFCD44EC7065}"/>
              </a:ext>
            </a:extLst>
          </p:cNvPr>
          <p:cNvSpPr>
            <a:spLocks xmlns:a="http://schemas.openxmlformats.org/drawingml/2006/main" noGrp="1"/>
          </p:cNvSpPr>
          <p:nvPr/>
        </p:nvSpPr>
        <p:spPr>
          <a:xfrm xmlns:a="http://schemas.openxmlformats.org/drawingml/2006/main">
            <a:off x="5143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Treatment records protect traceability</a:t>
            </a:r>
          </a:p>
          <a:p xmlns:a="http://schemas.openxmlformats.org/drawingml/2006/main">
            <a:pPr algn="l">
              <a:defRPr sz="1725" b="1">
                <a:solidFill>
                  <a:srgbClr val="123E2A"/>
                </a:solidFill>
              </a:defRPr>
            </a:pPr>
            <a:r>
              <a:rPr sz="1725" b="1">
                <a:solidFill>
                  <a:srgbClr val="123E2A"/>
                </a:solidFill>
              </a:rPr>
              <a:t>• Identity must match across sources</a:t>
            </a:r>
          </a:p>
        </p:txBody>
      </p:sp>
      <p:sp>
        <p:nvSpPr>
          <p:cNvPr id="10" name="">
            <a:extLst xmlns:a="http://schemas.openxmlformats.org/drawingml/2006/main">
              <a:ext uri="{FF2B5EF4-FFF2-40B4-BE49-F238E27FC236}">
                <a16:creationId xmlns:a16="http://schemas.microsoft.com/office/drawing/2014/main" id="{90B7A9B4-A801-40DD-B5B1-F5020D8F1A9D}"/>
              </a:ext>
            </a:extLst>
          </p:cNvPr>
          <p:cNvSpPr>
            <a:spLocks xmlns:a="http://schemas.openxmlformats.org/drawingml/2006/main" noGrp="1"/>
          </p:cNvSpPr>
          <p:nvPr/>
        </p:nvSpPr>
        <p:spPr>
          <a:xfrm xmlns:a="http://schemas.openxmlformats.org/drawingml/2006/main">
            <a:off x="5143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A livestock treatment record connects an identified animal or group with the authorised direction, product identity, treatment event, responsible person and required follow-up fields. Traceability requires the animal or group identifier to match the authorised direction and enterprise record.</a:t>
            </a:r>
          </a:p>
        </p:txBody>
      </p:sp>
      <p:sp>
        <p:nvSpPr>
          <p:cNvPr id="11" name="">
            <a:extLst xmlns:a="http://schemas.openxmlformats.org/drawingml/2006/main">
              <a:ext uri="{FF2B5EF4-FFF2-40B4-BE49-F238E27FC236}">
                <a16:creationId xmlns:a16="http://schemas.microsoft.com/office/drawing/2014/main" id="{6A180D5A-884F-4B43-A442-221DC1C96082}"/>
              </a:ext>
            </a:extLst>
          </p:cNvPr>
          <p:cNvSpPr>
            <a:spLocks xmlns:a="http://schemas.openxmlformats.org/drawingml/2006/main" noGrp="1"/>
          </p:cNvSpPr>
          <p:nvPr/>
        </p:nvSpPr>
        <p:spPr>
          <a:xfrm xmlns:a="http://schemas.openxmlformats.org/drawingml/2006/main">
            <a:off x="5143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E335F5DD-33EA-4662-9F16-A6F872EA17B7}"/>
              </a:ext>
            </a:extLst>
          </p:cNvPr>
          <p:cNvSpPr>
            <a:spLocks xmlns:a="http://schemas.openxmlformats.org/drawingml/2006/main" noGrp="1"/>
          </p:cNvSpPr>
          <p:nvPr/>
        </p:nvSpPr>
        <p:spPr>
          <a:xfrm xmlns:a="http://schemas.openxmlformats.org/drawingml/2006/main">
            <a:off x="6858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F27DDC14-0344-4E59-A985-317A86B94B59}"/>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1135332384"/>
      </p:ext>
    </p:extLst>
  </p:cSld>
</p:sld>
</file>

<file path=ppt/slides/slide9.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D3AEEC0-43B9-45B7-9DB5-45FE0A60EFF9}"/>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9">
            <a:extLst xmlns:a="http://schemas.openxmlformats.org/drawingml/2006/main">
              <a:ext uri="{FF2B5EF4-FFF2-40B4-BE49-F238E27FC236}">
                <a16:creationId xmlns:a16="http://schemas.microsoft.com/office/drawing/2014/main" id="{CB594DC7-DC33-4ABA-91B4-B8D3E23B7461}"/>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06  •  PRIMARY INDUSTRIES</a:t>
            </a:r>
          </a:p>
        </p:txBody>
      </p:sp>
      <p:sp>
        <p:nvSpPr>
          <p:cNvPr id="3" name="title-9">
            <a:extLst xmlns:a="http://schemas.openxmlformats.org/drawingml/2006/main">
              <a:ext uri="{FF2B5EF4-FFF2-40B4-BE49-F238E27FC236}">
                <a16:creationId xmlns:a16="http://schemas.microsoft.com/office/drawing/2014/main" id="{E35C5DB8-C302-4BF2-A484-902A7EBB16BB}"/>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FFFFF"/>
                </a:solidFill>
              </a:defRPr>
            </a:pPr>
            <a:r>
              <a:rPr sz="2025" b="1">
                <a:solidFill>
                  <a:srgbClr val="FFFFFF"/>
                </a:solidFill>
              </a:rPr>
              <a:t>Treatment records, withholding concepts and follow-up: decide from evidence</a:t>
            </a:r>
          </a:p>
        </p:txBody>
      </p:sp>
      <p:sp>
        <p:nvSpPr>
          <p:cNvPr id="4" name="">
            <a:extLst xmlns:a="http://schemas.openxmlformats.org/drawingml/2006/main">
              <a:ext uri="{FF2B5EF4-FFF2-40B4-BE49-F238E27FC236}">
                <a16:creationId xmlns:a16="http://schemas.microsoft.com/office/drawing/2014/main" id="{2B8A33B7-AC10-4F7E-A4F6-9B3D9D943F50}"/>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6</a:t>
            </a:r>
          </a:p>
        </p:txBody>
      </p:sp>
      <p:sp>
        <p:nvSpPr>
          <p:cNvPr id="5" name="">
            <a:extLst xmlns:a="http://schemas.openxmlformats.org/drawingml/2006/main">
              <a:ext uri="{FF2B5EF4-FFF2-40B4-BE49-F238E27FC236}">
                <a16:creationId xmlns:a16="http://schemas.microsoft.com/office/drawing/2014/main" id="{FD50F62C-766A-4C78-8418-8A0B6E002A8F}"/>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9/10</a:t>
            </a:r>
          </a:p>
        </p:txBody>
      </p:sp>
      <p:sp>
        <p:nvSpPr>
          <p:cNvPr id="6" name="">
            <a:extLst xmlns:a="http://schemas.openxmlformats.org/drawingml/2006/main">
              <a:ext uri="{FF2B5EF4-FFF2-40B4-BE49-F238E27FC236}">
                <a16:creationId xmlns:a16="http://schemas.microsoft.com/office/drawing/2014/main" id="{C8C47FBB-138C-4253-8EC0-53B6BEE8D9EA}"/>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933F050E-5CA9-4B42-937F-472169ECC8B3}"/>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CA5ED0BF-23C6-4319-AB12-E2708BC0412C}"/>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In a fictional classroom record for animal group F12, the authorised direction names Product PX-4 and batch B318, while the event entry says PX-4 and batch B381. The withholding-status field is blank.</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Kai cannot decide which batch is correct or infer any release date.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He circles both discrepancies and refers the record to the authorised supervisor.</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Kai enters only the confirmed correction and source reference, with no invented dosage or withholding number.</a:t>
            </a:r>
          </a:p>
        </p:txBody>
      </p:sp>
      <p:sp>
        <p:nvSpPr>
          <p:cNvPr id="9" name="">
            <a:extLst xmlns:a="http://schemas.openxmlformats.org/drawingml/2006/main">
              <a:ext uri="{FF2B5EF4-FFF2-40B4-BE49-F238E27FC236}">
                <a16:creationId xmlns:a16="http://schemas.microsoft.com/office/drawing/2014/main" id="{7114D448-D474-4B24-BCA8-AC866C6DEFD0}"/>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CFDF5B1F-BA0F-4550-A77A-379AA2F14C03}"/>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7DFD8725-1242-4079-982B-4E6AFE34F27D}"/>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Two treatment sources show different batch numbers. What should the learner do?</a:t>
            </a:r>
          </a:p>
        </p:txBody>
      </p:sp>
      <p:sp>
        <p:nvSpPr>
          <p:cNvPr id="12" name="">
            <a:extLst xmlns:a="http://schemas.openxmlformats.org/drawingml/2006/main">
              <a:ext uri="{FF2B5EF4-FFF2-40B4-BE49-F238E27FC236}">
                <a16:creationId xmlns:a16="http://schemas.microsoft.com/office/drawing/2014/main" id="{65A62A5B-4A92-45C8-84F2-F7AB856072D6}"/>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Choose the number that differs by the fewest digits.</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Preserve the mismatch and refer it to the authorised reviewer before use.</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Delete the batch field because it is not relevant to traceability.</a:t>
            </a:r>
          </a:p>
        </p:txBody>
      </p:sp>
      <p:sp>
        <p:nvSpPr>
          <p:cNvPr id="13" name="">
            <a:extLst xmlns:a="http://schemas.openxmlformats.org/drawingml/2006/main">
              <a:ext uri="{FF2B5EF4-FFF2-40B4-BE49-F238E27FC236}">
                <a16:creationId xmlns:a16="http://schemas.microsoft.com/office/drawing/2014/main" id="{0F21CBE3-78BC-4165-8267-E5B92BEE5B9A}"/>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Preserve both values and identify who can verify the current source.</a:t>
            </a:r>
          </a:p>
        </p:txBody>
      </p:sp>
    </p:spTree>
    <p:extLst>
      <p:ext uri="{BB962C8B-B14F-4D97-AF65-F5344CB8AC3E}">
        <p14:creationId xmlns:p14="http://schemas.microsoft.com/office/powerpoint/2010/main" val="1437548708"/>
      </p:ext>
    </p:extLst>
  </p:cSld>
</p:sld>
</file>

<file path=ppt/slides/slide10.xml><?xml version="1.0" encoding="utf-8"?>
<p:sld xmlns:p="http://schemas.openxmlformats.org/presentationml/2006/main">
  <p:cSld>
    <p:bg>
      <p:bgPr>
        <a:solidFill xmlns:a="http://schemas.openxmlformats.org/drawingml/2006/main">
          <a:srgbClr val="123E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089D8B-4DC7-4156-925D-6887B8D4E55A}"/>
              </a:ext>
            </a:extLst>
          </p:cNvPr>
          <p:cNvSpPr>
            <a:spLocks xmlns:a="http://schemas.openxmlformats.org/drawingml/2006/main" noGrp="1"/>
          </p:cNvSpPr>
          <p:nvPr/>
        </p:nvSpPr>
        <p:spPr>
          <a:xfrm xmlns:a="http://schemas.openxmlformats.org/drawingml/2006/main">
            <a:off x="571500" y="4572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4A62A"/>
                </a:solidFill>
              </a:defRPr>
            </a:pPr>
            <a:r>
              <a:rPr sz="1200" b="1">
                <a:solidFill>
                  <a:srgbClr val="D4A62A"/>
                </a:solidFill>
              </a:rPr>
              <a:t>CLOSE THE LOOP WITH EVIDENCE</a:t>
            </a:r>
          </a:p>
        </p:txBody>
      </p:sp>
      <p:sp>
        <p:nvSpPr>
          <p:cNvPr id="2" name="">
            <a:extLst xmlns:a="http://schemas.openxmlformats.org/drawingml/2006/main">
              <a:ext uri="{FF2B5EF4-FFF2-40B4-BE49-F238E27FC236}">
                <a16:creationId xmlns:a16="http://schemas.microsoft.com/office/drawing/2014/main" id="{29ADE51D-081B-4C4D-B291-13932E92DE5D}"/>
              </a:ext>
            </a:extLst>
          </p:cNvPr>
          <p:cNvSpPr>
            <a:spLocks xmlns:a="http://schemas.openxmlformats.org/drawingml/2006/main" noGrp="1"/>
          </p:cNvSpPr>
          <p:nvPr/>
        </p:nvSpPr>
        <p:spPr>
          <a:xfrm xmlns:a="http://schemas.openxmlformats.org/drawingml/2006/main">
            <a:off x="571500" y="8763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Apply the task route — then check the boundary</a:t>
            </a:r>
          </a:p>
        </p:txBody>
      </p:sp>
      <p:sp>
        <p:nvSpPr>
          <p:cNvPr id="3" name="">
            <a:extLst xmlns:a="http://schemas.openxmlformats.org/drawingml/2006/main">
              <a:ext uri="{FF2B5EF4-FFF2-40B4-BE49-F238E27FC236}">
                <a16:creationId xmlns:a16="http://schemas.microsoft.com/office/drawing/2014/main" id="{57DF15CB-D1B9-43B4-B678-9D35E8E27237}"/>
              </a:ext>
            </a:extLst>
          </p:cNvPr>
          <p:cNvSpPr>
            <a:spLocks xmlns:a="http://schemas.openxmlformats.org/drawingml/2006/main" noGrp="1"/>
          </p:cNvSpPr>
          <p:nvPr/>
        </p:nvSpPr>
        <p:spPr>
          <a:xfrm xmlns:a="http://schemas.openxmlformats.org/drawingml/2006/main">
            <a:off x="571500" y="1809750"/>
            <a:ext cx="4095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3EEDF"/>
                </a:solidFill>
              </a:defRPr>
            </a:pPr>
            <a:r>
              <a:rPr sz="1650" b="1">
                <a:solidFill>
                  <a:srgbClr val="F3EEDF"/>
                </a:solidFill>
              </a:rPr>
              <a:t>01  Health and welfare indicators</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02  Routine monitoring and escalation</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03  Biosecurity and authorised response</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04  Treatment records, withholding concepts and follow-up</a:t>
            </a:r>
          </a:p>
        </p:txBody>
      </p:sp>
      <p:sp>
        <p:nvSpPr>
          <p:cNvPr id="4" name="">
            <a:extLst xmlns:a="http://schemas.openxmlformats.org/drawingml/2006/main">
              <a:ext uri="{FF2B5EF4-FFF2-40B4-BE49-F238E27FC236}">
                <a16:creationId xmlns:a16="http://schemas.microsoft.com/office/drawing/2014/main" id="{F140E491-92E9-4FE5-ADF9-A9A57B3313C8}"/>
              </a:ext>
            </a:extLst>
          </p:cNvPr>
          <p:cNvSpPr>
            <a:spLocks xmlns:a="http://schemas.openxmlformats.org/drawingml/2006/main" noGrp="1"/>
          </p:cNvSpPr>
          <p:nvPr/>
        </p:nvSpPr>
        <p:spPr>
          <a:xfrm xmlns:a="http://schemas.openxmlformats.org/drawingml/2006/main">
            <a:off x="5143500" y="1809750"/>
            <a:ext cx="619125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FFFFF"/>
                </a:solidFill>
              </a:defRPr>
            </a:pPr>
            <a:r>
              <a:rPr sz="1350" b="0">
                <a:solidFill>
                  <a:srgbClr val="FFFFFF"/>
                </a:solidFill>
              </a:rPr>
              <a:t>Build an indicator comparison</a:t>
            </a:r>
          </a:p>
          <a:p xmlns:a="http://schemas.openxmlformats.org/drawingml/2006/main">
            <a:pPr algn="l">
              <a:defRPr sz="1350" b="0">
                <a:solidFill>
                  <a:srgbClr val="FFFFFF"/>
                </a:solidFill>
              </a:defRPr>
            </a:pPr>
            <a:r>
              <a:rPr sz="1350" b="0">
                <a:solidFill>
                  <a:srgbClr val="FFFFFF"/>
                </a:solidFill>
              </a:rPr>
              <a:t>Compare two fictional teacher-provided livestock images or records.</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Audit a monitoring sequence</a:t>
            </a:r>
          </a:p>
          <a:p xmlns:a="http://schemas.openxmlformats.org/drawingml/2006/main">
            <a:pPr algn="l">
              <a:defRPr sz="1350" b="0">
                <a:solidFill>
                  <a:srgbClr val="FFFFFF"/>
                </a:solidFill>
              </a:defRPr>
            </a:pPr>
            <a:r>
              <a:rPr sz="1350" b="0">
                <a:solidFill>
                  <a:srgbClr val="FFFFFF"/>
                </a:solidFill>
              </a:rPr>
              <a:t>Examine four fictional monitoring entries, identify the reliable trend, mark missing or non-comparable fields and compose a twenty-second escalation message.</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Trace a fictional pathway</a:t>
            </a:r>
          </a:p>
          <a:p xmlns:a="http://schemas.openxmlformats.org/drawingml/2006/main">
            <a:pPr algn="l">
              <a:defRPr sz="1350" b="0">
                <a:solidFill>
                  <a:srgbClr val="FFFFFF"/>
                </a:solidFill>
              </a:defRPr>
            </a:pPr>
            <a:r>
              <a:rPr sz="1350" b="0">
                <a:solidFill>
                  <a:srgbClr val="FFFFFF"/>
                </a:solidFill>
              </a:rPr>
              <a:t>Arrange teacher-provided fictional movement cards into a timeline, mark one record gap and identify the current authority needed to resolve it.</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Audit a fictional treatment record</a:t>
            </a:r>
          </a:p>
          <a:p xmlns:a="http://schemas.openxmlformats.org/drawingml/2006/main">
            <a:pPr algn="l">
              <a:defRPr sz="1350" b="0">
                <a:solidFill>
                  <a:srgbClr val="FFFFFF"/>
                </a:solidFill>
              </a:defRPr>
            </a:pPr>
            <a:r>
              <a:rPr sz="1350" b="0">
                <a:solidFill>
                  <a:srgbClr val="FFFFFF"/>
                </a:solidFill>
              </a:rPr>
              <a:t>Compare a fictional authorised direction, event entry and follow-up note.</a:t>
            </a:r>
          </a:p>
        </p:txBody>
      </p:sp>
      <p:sp>
        <p:nvSpPr>
          <p:cNvPr id="5" name="">
            <a:extLst xmlns:a="http://schemas.openxmlformats.org/drawingml/2006/main">
              <a:ext uri="{FF2B5EF4-FFF2-40B4-BE49-F238E27FC236}">
                <a16:creationId xmlns:a16="http://schemas.microsoft.com/office/drawing/2014/main" id="{57E15CAA-65EE-4211-A026-0D4263B4E821}"/>
              </a:ext>
            </a:extLst>
          </p:cNvPr>
          <p:cNvSpPr>
            <a:spLocks xmlns:a="http://schemas.openxmlformats.org/drawingml/2006/main" noGrp="1"/>
          </p:cNvSpPr>
          <p:nvPr/>
        </p:nvSpPr>
        <p:spPr>
          <a:xfrm xmlns:a="http://schemas.openxmlformats.org/drawingml/2006/main">
            <a:off x="571500" y="5391150"/>
            <a:ext cx="10763250" cy="876300"/>
          </a:xfrm>
          <a:prstGeom xmlns:a="http://schemas.openxmlformats.org/drawingml/2006/main" prst="roundRect">
            <a:avLst>
              <a:gd name="adj" fmla="val 19565"/>
            </a:avLst>
          </a:prstGeom>
          <a:solidFill xmlns:a="http://schemas.openxmlformats.org/drawingml/2006/main">
            <a:srgbClr val="F3EEDF"/>
          </a:solidFill>
          <a:ln xmlns:a="http://schemas.openxmlformats.org/drawingml/2006/main" w="9525">
            <a:solidFill>
              <a:srgbClr val="D4A62A"/>
            </a:solidFill>
            <a:prstDash val="solid"/>
          </a:ln>
        </p:spPr>
      </p:sp>
      <p:sp>
        <p:nvSpPr>
          <p:cNvPr id="6" name="">
            <a:extLst xmlns:a="http://schemas.openxmlformats.org/drawingml/2006/main">
              <a:ext uri="{FF2B5EF4-FFF2-40B4-BE49-F238E27FC236}">
                <a16:creationId xmlns:a16="http://schemas.microsoft.com/office/drawing/2014/main" id="{DCE806B5-BF9E-4D03-AAA5-44500C95D7BF}"/>
              </a:ext>
            </a:extLst>
          </p:cNvPr>
          <p:cNvSpPr>
            <a:spLocks xmlns:a="http://schemas.openxmlformats.org/drawingml/2006/main" noGrp="1"/>
          </p:cNvSpPr>
          <p:nvPr/>
        </p:nvSpPr>
        <p:spPr>
          <a:xfrm xmlns:a="http://schemas.openxmlformats.org/drawingml/2006/main">
            <a:off x="800100" y="5600700"/>
            <a:ext cx="10325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23E2A"/>
                </a:solidFill>
              </a:defRPr>
            </a:pPr>
            <a:r>
              <a:rPr sz="1425" b="1">
                <a:solidFill>
                  <a:srgbClr val="123E2A"/>
                </a:solidFill>
              </a:rPr>
              <a:t>NEXT STEP  Complete the teacher-nominated learning action. Use current local sources and supervision before any real practical decision. Website responses remain formative.</a:t>
            </a:r>
          </a:p>
        </p:txBody>
      </p:sp>
    </p:spTree>
    <p:extLst>
      <p:ext uri="{BB962C8B-B14F-4D97-AF65-F5344CB8AC3E}">
        <p14:creationId xmlns:p14="http://schemas.microsoft.com/office/powerpoint/2010/main" val="1266893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2026-08-21T10:03:34.3370000Z</dcterms:created>
  <dcterms:modified xsi:type="dcterms:W3CDTF">2026-08-21T10:03:34.3370000Z</dcterms:modified>
</coreProperties>
</file>