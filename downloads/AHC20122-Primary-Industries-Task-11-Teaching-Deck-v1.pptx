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ccded90446540c0" /><Relationship Type="http://schemas.openxmlformats.org/officeDocument/2006/relationships/extended-properties" Target="/docProps/app.xml" Id="R0e7fd13ac6244065" /><Relationship Type="http://schemas.openxmlformats.org/officeDocument/2006/relationships/officeDocument" Target="/ppt/presentation.xml" Id="Rc476c8ef2d114a9a" /></Relationships>
</file>

<file path=ppt/presentation.xml><?xml version="1.0" encoding="utf-8"?>
<p:presentation xmlns:p="http://schemas.openxmlformats.org/presentationml/2006/main">
  <p:sldMasterIdLst>
    <p:sldMasterId xmlns:r="http://schemas.openxmlformats.org/officeDocument/2006/relationships" id="2147483648" r:id="R53b968a8bdf04825"/>
  </p:sldMasterIdLst>
  <p:notesMasterIdLst>
    <p:notesMasterId xmlns:r="http://schemas.openxmlformats.org/officeDocument/2006/relationships" r:id="R83d201768c4a49db"/>
  </p:notesMasterIdLst>
  <p:sldIdLst>
    <p:sldId xmlns:r="http://schemas.openxmlformats.org/officeDocument/2006/relationships" id="256" r:id="R9125bd75a7e541bd"/>
    <p:sldId xmlns:r="http://schemas.openxmlformats.org/officeDocument/2006/relationships" id="257" r:id="R59ed3e7b280945f1"/>
    <p:sldId xmlns:r="http://schemas.openxmlformats.org/officeDocument/2006/relationships" id="258" r:id="R9ec438a9779c410d"/>
    <p:sldId xmlns:r="http://schemas.openxmlformats.org/officeDocument/2006/relationships" id="259" r:id="Rdfdc6076d0e24b7b"/>
    <p:sldId xmlns:r="http://schemas.openxmlformats.org/officeDocument/2006/relationships" id="260" r:id="R72b4348991234fd3"/>
    <p:sldId xmlns:r="http://schemas.openxmlformats.org/officeDocument/2006/relationships" id="261" r:id="R16c777c44c074f84"/>
    <p:sldId xmlns:r="http://schemas.openxmlformats.org/officeDocument/2006/relationships" id="262" r:id="Ree18f849252a46cf"/>
    <p:sldId xmlns:r="http://schemas.openxmlformats.org/officeDocument/2006/relationships" id="263" r:id="R053006f5be754d17"/>
    <p:sldId xmlns:r="http://schemas.openxmlformats.org/officeDocument/2006/relationships" id="264" r:id="Rb0a056706c064124"/>
    <p:sldId xmlns:r="http://schemas.openxmlformats.org/officeDocument/2006/relationships" id="265" r:id="R66485e6f62ee48e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21e7dbb90364bca" /><Relationship Type="http://schemas.openxmlformats.org/officeDocument/2006/relationships/slideMaster" Target="/ppt/slideMasters/slideMaster1.xml" Id="R53b968a8bdf04825" /><Relationship Type="http://schemas.openxmlformats.org/officeDocument/2006/relationships/notesMaster" Target="/ppt/notesMasters/notesMaster1.xml" Id="R83d201768c4a49db" /><Relationship Type="http://schemas.openxmlformats.org/officeDocument/2006/relationships/presProps" Target="/ppt/presProps.xml" Id="Ra561ddd563b6438d" /><Relationship Type="http://schemas.openxmlformats.org/officeDocument/2006/relationships/tableStyles" Target="/ppt/tableStyles.xml" Id="Rc02bed9d255d4c7b" /><Relationship Type="http://schemas.openxmlformats.org/officeDocument/2006/relationships/slide" Target="/ppt/slides/slide1.xml" Id="R9125bd75a7e541bd" /><Relationship Type="http://schemas.openxmlformats.org/officeDocument/2006/relationships/slide" Target="/ppt/slides/slide2.xml" Id="R59ed3e7b280945f1" /><Relationship Type="http://schemas.openxmlformats.org/officeDocument/2006/relationships/slide" Target="/ppt/slides/slide3.xml" Id="R9ec438a9779c410d" /><Relationship Type="http://schemas.openxmlformats.org/officeDocument/2006/relationships/slide" Target="/ppt/slides/slide4.xml" Id="Rdfdc6076d0e24b7b" /><Relationship Type="http://schemas.openxmlformats.org/officeDocument/2006/relationships/slide" Target="/ppt/slides/slide5.xml" Id="R72b4348991234fd3" /><Relationship Type="http://schemas.openxmlformats.org/officeDocument/2006/relationships/slide" Target="/ppt/slides/slide6.xml" Id="R16c777c44c074f84" /><Relationship Type="http://schemas.openxmlformats.org/officeDocument/2006/relationships/slide" Target="/ppt/slides/slide7.xml" Id="Ree18f849252a46cf" /><Relationship Type="http://schemas.openxmlformats.org/officeDocument/2006/relationships/slide" Target="/ppt/slides/slide8.xml" Id="R053006f5be754d17" /><Relationship Type="http://schemas.openxmlformats.org/officeDocument/2006/relationships/slide" Target="/ppt/slides/slide9.xml" Id="Rb0a056706c064124" /><Relationship Type="http://schemas.openxmlformats.org/officeDocument/2006/relationships/slide" Target="/ppt/slides/slide10.xml" Id="R66485e6f62ee48e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5aa8dce8cc7441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d784e8217e94fe8" /><Relationship Type="http://schemas.openxmlformats.org/officeDocument/2006/relationships/notesMaster" Target="/ppt/notesMasters/notesMaster1.xml" Id="R81193f1ce779476e" /></Relationships>
</file>

<file path=ppt/notesSlides/_rels/notesSlide2.xml.rels>&#65279;<?xml version="1.0" encoding="utf-8"?><Relationships xmlns="http://schemas.openxmlformats.org/package/2006/relationships"><Relationship Type="http://schemas.openxmlformats.org/officeDocument/2006/relationships/slide" Target="/ppt/slides/slide2.xml" Id="R7b7adebce431407e" /><Relationship Type="http://schemas.openxmlformats.org/officeDocument/2006/relationships/notesMaster" Target="/ppt/notesMasters/notesMaster1.xml" Id="R9174d77b863c465f" /></Relationships>
</file>

<file path=ppt/notesSlides/_rels/notesSlide3.xml.rels>&#65279;<?xml version="1.0" encoding="utf-8"?><Relationships xmlns="http://schemas.openxmlformats.org/package/2006/relationships"><Relationship Type="http://schemas.openxmlformats.org/officeDocument/2006/relationships/slide" Target="/ppt/slides/slide3.xml" Id="Rf699fa461d6b4eb8" /><Relationship Type="http://schemas.openxmlformats.org/officeDocument/2006/relationships/notesMaster" Target="/ppt/notesMasters/notesMaster1.xml" Id="Rc909a51f28624d7d" /></Relationships>
</file>

<file path=ppt/notesSlides/_rels/notesSlide4.xml.rels>&#65279;<?xml version="1.0" encoding="utf-8"?><Relationships xmlns="http://schemas.openxmlformats.org/package/2006/relationships"><Relationship Type="http://schemas.openxmlformats.org/officeDocument/2006/relationships/slide" Target="/ppt/slides/slide4.xml" Id="Rbbf0ac4fbe194db4" /><Relationship Type="http://schemas.openxmlformats.org/officeDocument/2006/relationships/notesMaster" Target="/ppt/notesMasters/notesMaster1.xml" Id="Rad054a948e094a9e" /></Relationships>
</file>

<file path=ppt/notesSlides/_rels/notesSlide5.xml.rels>&#65279;<?xml version="1.0" encoding="utf-8"?><Relationships xmlns="http://schemas.openxmlformats.org/package/2006/relationships"><Relationship Type="http://schemas.openxmlformats.org/officeDocument/2006/relationships/slide" Target="/ppt/slides/slide5.xml" Id="R3141db6eea054bfe" /><Relationship Type="http://schemas.openxmlformats.org/officeDocument/2006/relationships/notesMaster" Target="/ppt/notesMasters/notesMaster1.xml" Id="R16d89c9775be42a0" /></Relationships>
</file>

<file path=ppt/notesSlides/_rels/notesSlide6.xml.rels>&#65279;<?xml version="1.0" encoding="utf-8"?><Relationships xmlns="http://schemas.openxmlformats.org/package/2006/relationships"><Relationship Type="http://schemas.openxmlformats.org/officeDocument/2006/relationships/slide" Target="/ppt/slides/slide6.xml" Id="R492612026c0546ff" /><Relationship Type="http://schemas.openxmlformats.org/officeDocument/2006/relationships/notesMaster" Target="/ppt/notesMasters/notesMaster1.xml" Id="Rcb82351d493d4b89" /></Relationships>
</file>

<file path=ppt/notesSlides/_rels/notesSlide7.xml.rels>&#65279;<?xml version="1.0" encoding="utf-8"?><Relationships xmlns="http://schemas.openxmlformats.org/package/2006/relationships"><Relationship Type="http://schemas.openxmlformats.org/officeDocument/2006/relationships/slide" Target="/ppt/slides/slide7.xml" Id="R2a91f24552244df8" /><Relationship Type="http://schemas.openxmlformats.org/officeDocument/2006/relationships/notesMaster" Target="/ppt/notesMasters/notesMaster1.xml" Id="R8a8a04a6eef24e46" /></Relationships>
</file>

<file path=ppt/notesSlides/_rels/notesSlide8.xml.rels>&#65279;<?xml version="1.0" encoding="utf-8"?><Relationships xmlns="http://schemas.openxmlformats.org/package/2006/relationships"><Relationship Type="http://schemas.openxmlformats.org/officeDocument/2006/relationships/slide" Target="/ppt/slides/slide8.xml" Id="R3a13e32c05344313" /><Relationship Type="http://schemas.openxmlformats.org/officeDocument/2006/relationships/notesMaster" Target="/ppt/notesMasters/notesMaster1.xml" Id="R10f375b79a064532" /></Relationships>
</file>

<file path=ppt/notesSlides/_rels/notesSlide9.xml.rels>&#65279;<?xml version="1.0" encoding="utf-8"?><Relationships xmlns="http://schemas.openxmlformats.org/package/2006/relationships"><Relationship Type="http://schemas.openxmlformats.org/officeDocument/2006/relationships/slide" Target="/ppt/slides/slide9.xml" Id="Rd23c46b40322474d" /><Relationship Type="http://schemas.openxmlformats.org/officeDocument/2006/relationships/notesMaster" Target="/ppt/notesMasters/notesMaster1.xml" Id="Rdcfad732546448d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4f9bb1091994be5" /><Relationship Type="http://schemas.openxmlformats.org/officeDocument/2006/relationships/notesMaster" Target="/ppt/notesMasters/notesMaster1.xml" Id="Rdcf3161711d84dc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by connecting the task purpose to the four-module route. Ask students which module most clearly prepares them to notice evidence, make a source-led decision and report through authority.</a:t>
            </a:r>
          </a:p>
          <a:p xmlns:a="http://schemas.openxmlformats.org/drawingml/2006/main">
            <a:r>
              <a:t>Boundary: Supplementary learning is grounded in AHCWRK211 Release 1, the NESA Sustainability focus area and authorised teacher-posted sustainability notes. The site teaches environmental pathways, factual reporting, resource measurement and improvement reasoning with fictional data. Current workplace procedures, legal notification requirements, incident response, waste handling, environmental limits and property-specific controls remain controlled by authorised local sources and the supervisor. Site responses are formative and do not demonstrate competency.</a:t>
            </a:r>
          </a:p>
          <a:p xmlns:a="http://schemas.openxmlformats.org/drawingml/2006/main">
            <a:r>
              <a:t>[Sources]</a:t>
            </a:r>
          </a:p>
          <a:p xmlns:a="http://schemas.openxmlformats.org/drawingml/2006/main">
            <a:r>
              <a:t>- Supplementary learning is grounded in AHCWRK211 Release 1, the NESA Sustainability focus area and authorised teacher-posted sustainability notes. The site teaches environmental pathways, factual reporting, resource measurement and improvement reasoning with fictional data. Current workplace procedures, legal notification requirements, incident response, waste handling, environmental limits and property-specific controls remain controlled by authorised local sources and the supervisor. Site responses are formative and do not demonstrate competency.</a:t>
            </a:r>
          </a:p>
          <a:p xmlns:a="http://schemas.openxmlformats.org/drawingml/2006/main">
            <a:r>
              <a:t>- Course hero: Generated for this course using OpenAI ImageGen on 21 August 2026.</a:t>
            </a:r>
          </a:p>
          <a:p xmlns:a="http://schemas.openxmlformats.org/drawingml/2006/main">
            <a:r>
              <a:t>- Course data: work/pi/site-data/course.json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move (theory and visual): Use the module visual and the fictional worked example to move students from observation to a source-led decision. Ask students to name the evidence, the authority gap and the next safe communication step.</a:t>
            </a:r>
          </a:p>
          <a:p xmlns:a="http://schemas.openxmlformats.org/drawingml/2006/main">
            <a:r>
              <a:t>Misconception and help: Follow the chain and identify what receives the possible movement. Source moves along a pathway towards a receptor.</a:t>
            </a:r>
          </a:p>
          <a:p xmlns:a="http://schemas.openxmlformats.org/drawingml/2006/main">
            <a:r>
              <a:t>Applied action: Build a fictional pathway map. Annotate a teacher-provided privacy-safe farm scene with two source–pathway–receptor chains, one changed condition and one supervisor referral. Do not propose a local response procedure.</a:t>
            </a:r>
          </a:p>
          <a:p xmlns:a="http://schemas.openxmlformats.org/drawingml/2006/main">
            <a:r>
              <a:t>Boundary: Supplementary learning is grounded in AHCWRK211 Release 1, the NESA Sustainability focus area and authorised teacher-posted sustainability notes. The site teaches environmental pathways, factual reporting, resource measurement and improvement reasoning with fictional data. Current workplace procedures, legal notification requirements, incident response, waste handling, environmental limits and property-specific controls remain controlled by authorised local sources and the supervisor. Site responses are formative and do not demonstrate competency.</a:t>
            </a:r>
          </a:p>
          <a:p xmlns:a="http://schemas.openxmlformats.org/drawingml/2006/main">
            <a:r>
              <a:t>[Sources]</a:t>
            </a:r>
          </a:p>
          <a:p xmlns:a="http://schemas.openxmlformats.org/drawingml/2006/main">
            <a:r>
              <a:t>- Source basis: AHCWRK211 Release 1 requirements to identify and report environmental hazards and follow workplace practices, plus the NESA Sustainability focus area and authorised teacher-posted sustainability notes. Local response and notification remain controlled.</a:t>
            </a:r>
          </a:p>
          <a:p xmlns:a="http://schemas.openxmlformats.org/drawingml/2006/main">
            <a:r>
              <a:t>- Visual visual-task-11-01: Generated locally from accepted Stage 05 module headings; no external image copied.</a:t>
            </a:r>
          </a:p>
          <a:p xmlns:a="http://schemas.openxmlformats.org/drawingml/2006/main">
            <a:r>
              <a:t>- Course visual manifest: work/pi/visuals/visual-manifest.json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move (worked example and formative check): Use the module visual and the fictional worked example to move students from observation to a source-led decision. Ask students to name the evidence, the authority gap and the next safe communication step.
Misconception and help: Follow the chain and identify what receives the possible movement. Source moves along a pathway towards a receptor.
Applied action: Build a fictional pathway map. Annotate a teacher-provided privacy-safe farm scene with two source–pathway–receptor chains, one changed condition and one supervisor referral. Do not propose a local response procedure.
Boundary: Supplementary learning is grounded in AHCWRK211 Release 1, the NESA Sustainability focus area and authorised teacher-posted sustainability notes. The site teaches environmental pathways, factual reporting, resource measurement and improvement reasoning with fictional data. Current workplace procedures, legal notification requirements, incident response, waste handling, environmental limits and property-specific controls remain controlled by authorised local sources and the supervisor. Site responses are formative and do not demonstrate competency.
[Sources]
- Source basis: AHCWRK211 Release 1 requirements to identify and report environmental hazards and follow workplace practices, plus the NESA Sustainability focus area and authorised teacher-posted sustainability notes. Local response and notification remain controlled.
- Visual visual-task-11-01: Generated locally from accepted Stage 05 module headings; no external image copied.
- Course visual manifest: work/pi/visuals/visual-manifest.json</a:t>
            </a:r>
          </a:p>
          <a:p xmlns:a="http://schemas.openxmlformats.org/drawingml/2006/main">
            <a:r>
              <a:t>Formative check answer: The receptor that could be affected.</a:t>
            </a:r>
          </a:p>
          <a:p xmlns:a="http://schemas.openxmlformats.org/drawingml/2006/main">
            <a:r>
              <a:t>Correct feedback: You correctly distinguished the receptor from the source and impact.</a:t>
            </a:r>
          </a:p>
          <a:p xmlns:a="http://schemas.openxmlformats.org/drawingml/2006/main">
            <a:r>
              <a:t>Corrective feedback: Follow the chain and identify what receives the possible movement.</a:t>
            </a:r>
          </a:p>
          <a:p xmlns:a="http://schemas.openxmlformats.org/drawingml/2006/main">
            <a:r>
              <a:t>Full contextual example: Observed evidence: On 16 May 2027, a fictional training map shows a stockpile of fine soil uphill from a shallow flow path, with rain forecast in the saved class scenario and a dam marked downslope. Decision and reason: Ben identifies a possible soil–runoff–dam pathway but does not claim that contamination has occurred or redesign the site. Safe action: He reports the location, visible condition, map relationship and source time to the supervisor. Result: The supervisor checks the current property plan and confirms the authorised work response. Next check or record: Ben records the observation, receptor and confirmed control owner, then notes the later inspection result without inventing environmental measurements.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move (theory and visual): Use the module visual and the fictional worked example to move students from observation to a source-led decision. Ask students to name the evidence, the authority gap and the next safe communication step.</a:t>
            </a:r>
          </a:p>
          <a:p xmlns:a="http://schemas.openxmlformats.org/drawingml/2006/main">
            <a:r>
              <a:t>Misconception and help: Compare preventing movement with trying to address its effects later. Earlier in the chain is usually easier to control.</a:t>
            </a:r>
          </a:p>
          <a:p xmlns:a="http://schemas.openxmlformats.org/drawingml/2006/main">
            <a:r>
              <a:t>Applied action: Compare two fictional prevention options. Use a privacy-safe farm scene and teacher-supplied option cards. Complete a comparison of pathway, receptor, likely benefit, limitation and monitoring question. Do not write a property procedure.</a:t>
            </a:r>
          </a:p>
          <a:p xmlns:a="http://schemas.openxmlformats.org/drawingml/2006/main">
            <a:r>
              <a:t>Boundary: Supplementary learning is grounded in AHCWRK211 Release 1, the NESA Sustainability focus area and authorised teacher-posted sustainability notes. The site teaches environmental pathways, factual reporting, resource measurement and improvement reasoning with fictional data. Current workplace procedures, legal notification requirements, incident response, waste handling, environmental limits and property-specific controls remain controlled by authorised local sources and the supervisor. Site responses are formative and do not demonstrate competency.</a:t>
            </a:r>
          </a:p>
          <a:p xmlns:a="http://schemas.openxmlformats.org/drawingml/2006/main">
            <a:r>
              <a:t>[Sources]</a:t>
            </a:r>
          </a:p>
          <a:p xmlns:a="http://schemas.openxmlformats.org/drawingml/2006/main">
            <a:r>
              <a:t>- Source basis: AHCWRK211 Release 1 environmental practice and improvement requirements, the NESA Sustainability focus area and authorised teacher-posted sustainability notes. Property-specific soil, water, habitat and waste controls remain authorised locally.</a:t>
            </a:r>
          </a:p>
          <a:p xmlns:a="http://schemas.openxmlformats.org/drawingml/2006/main">
            <a:r>
              <a:t>- Visual visual-task-11-02: Generated locally from accepted Stage 05 module headings; no external image copied.</a:t>
            </a:r>
          </a:p>
          <a:p xmlns:a="http://schemas.openxmlformats.org/drawingml/2006/main">
            <a:r>
              <a:t>- Course visual manifest: work/pi/visuals/visual-manifest.json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move (worked example and formative check): Use the module visual and the fictional worked example to move students from observation to a source-led decision. Ask students to name the evidence, the authority gap and the next safe communication step.
Misconception and help: Compare preventing movement with trying to address its effects later. Earlier in the chain is usually easier to control.
Applied action: Compare two fictional prevention options. Use a privacy-safe farm scene and teacher-supplied option cards. Complete a comparison of pathway, receptor, likely benefit, limitation and monitoring question. Do not write a property procedure.
Boundary: Supplementary learning is grounded in AHCWRK211 Release 1, the NESA Sustainability focus area and authorised teacher-posted sustainability notes. The site teaches environmental pathways, factual reporting, resource measurement and improvement reasoning with fictional data. Current workplace procedures, legal notification requirements, incident response, waste handling, environmental limits and property-specific controls remain controlled by authorised local sources and the supervisor. Site responses are formative and do not demonstrate competency.
[Sources]
- Source basis: AHCWRK211 Release 1 environmental practice and improvement requirements, the NESA Sustainability focus area and authorised teacher-posted sustainability notes. Property-specific soil, water, habitat and waste controls remain authorised locally.
- Visual visual-task-11-02: Generated locally from accepted Stage 05 module headings; no external image copied.
- Course visual manifest: work/pi/visuals/visual-manifest.json</a:t>
            </a:r>
          </a:p>
          <a:p xmlns:a="http://schemas.openxmlformats.org/drawingml/2006/main">
            <a:r>
              <a:t>Formative check answer: It can remove or reduce the source–pathway connection before a receptor is affected.</a:t>
            </a:r>
          </a:p>
          <a:p xmlns:a="http://schemas.openxmlformats.org/drawingml/2006/main">
            <a:r>
              <a:t>Correct feedback: You identified the advantage of acting before the pathway is active.</a:t>
            </a:r>
          </a:p>
          <a:p xmlns:a="http://schemas.openxmlformats.org/drawingml/2006/main">
            <a:r>
              <a:t>Corrective feedback: Compare preventing movement with trying to address its effects later.</a:t>
            </a:r>
          </a:p>
          <a:p xmlns:a="http://schemas.openxmlformats.org/drawingml/2006/main">
            <a:r>
              <a:t>Full contextual example: Observed evidence: A fictional job brief dated 2 June 2027 proposes storing clean packaging beside a shed for one week. The map shows the space crosses a vegetated drainage edge used as a movement corridor after rain. Decision and reason: Sienna compares the convenience of the location with possible obstruction, litter movement and habitat disturbance but does not select a new site herself. Safe action: She presents two prevention-focused questions to the supervisor: whether an authorised existing storage zone can be used and how the corridor boundary is identified in the property plan. Result: The supervisor confirms the controlled storage location. Next check or record: Sienna records the agreed location and a later observable check for escaped packaging, without inventing waste-handling rules.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move (theory and visual): Use the module visual and the fictional worked example to move students from observation to a source-led decision. Ask students to name the evidence, the authority gap and the next safe communication step.</a:t>
            </a:r>
          </a:p>
          <a:p xmlns:a="http://schemas.openxmlformats.org/drawingml/2006/main">
            <a:r>
              <a:t>Misconception and help: Name the resource, activity, place and period before using the number. Measure what, where, during what work and for how long?</a:t>
            </a:r>
          </a:p>
          <a:p xmlns:a="http://schemas.openxmlformats.org/drawingml/2006/main">
            <a:r>
              <a:t>Applied action: Build a fictional resource baseline. Calculate totals and one per-output ratio from a supplied dataset, mark any comparability gap and draft a supervisor-reviewed improvement question. Do not access real meters or equipment.</a:t>
            </a:r>
          </a:p>
          <a:p xmlns:a="http://schemas.openxmlformats.org/drawingml/2006/main">
            <a:r>
              <a:t>Boundary: Supplementary learning is grounded in AHCWRK211 Release 1, the NESA Sustainability focus area and authorised teacher-posted sustainability notes. The site teaches environmental pathways, factual reporting, resource measurement and improvement reasoning with fictional data. Current workplace procedures, legal notification requirements, incident response, waste handling, environmental limits and property-specific controls remain controlled by authorised local sources and the supervisor. Site responses are formative and do not demonstrate competency.</a:t>
            </a:r>
          </a:p>
          <a:p xmlns:a="http://schemas.openxmlformats.org/drawingml/2006/main">
            <a:r>
              <a:t>[Sources]</a:t>
            </a:r>
          </a:p>
          <a:p xmlns:a="http://schemas.openxmlformats.org/drawingml/2006/main">
            <a:r>
              <a:t>- Source basis: AHCWRK211 Release 1 requirements to identify, measure, record and file resource use and seek improvements with a supervisor; NESA Sustainability focus-area resource-efficiency concepts; authorised teacher-posted sustainability notes.</a:t>
            </a:r>
          </a:p>
          <a:p xmlns:a="http://schemas.openxmlformats.org/drawingml/2006/main">
            <a:r>
              <a:t>- Visual visual-task-11-03: Generated locally from accepted Stage 05 module headings; no external image copied.</a:t>
            </a:r>
          </a:p>
          <a:p xmlns:a="http://schemas.openxmlformats.org/drawingml/2006/main">
            <a:r>
              <a:t>- Course visual manifest: work/pi/visuals/visual-manifest.json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move (worked example and formative check): Use the module visual and the fictional worked example to move students from observation to a source-led decision. Ask students to name the evidence, the authority gap and the next safe communication step.
Misconception and help: Name the resource, activity, place and period before using the number. Measure what, where, during what work and for how long?
Applied action: Build a fictional resource baseline. Calculate totals and one per-output ratio from a supplied dataset, mark any comparability gap and draft a supervisor-reviewed improvement question. Do not access real meters or equipment.
Boundary: Supplementary learning is grounded in AHCWRK211 Release 1, the NESA Sustainability focus area and authorised teacher-posted sustainability notes. The site teaches environmental pathways, factual reporting, resource measurement and improvement reasoning with fictional data. Current workplace procedures, legal notification requirements, incident response, waste handling, environmental limits and property-specific controls remain controlled by authorised local sources and the supervisor. Site responses are formative and do not demonstrate competency.
[Sources]
- Source basis: AHCWRK211 Release 1 requirements to identify, measure, record and file resource use and seek improvements with a supervisor; NESA Sustainability focus-area resource-efficiency concepts; authorised teacher-posted sustainability notes.
- Visual visual-task-11-03: Generated locally from accepted Stage 05 module headings; no external image copied.
- Course visual manifest: work/pi/visuals/visual-manifest.json</a:t>
            </a:r>
          </a:p>
          <a:p xmlns:a="http://schemas.openxmlformats.org/drawingml/2006/main">
            <a:r>
              <a:t>Formative check answer: So the data represents the work area, period and activity being compared.</a:t>
            </a:r>
          </a:p>
          <a:p xmlns:a="http://schemas.openxmlformats.org/drawingml/2006/main">
            <a:r>
              <a:t>Correct feedback: You established what the measurement actually represents.</a:t>
            </a:r>
          </a:p>
          <a:p xmlns:a="http://schemas.openxmlformats.org/drawingml/2006/main">
            <a:r>
              <a:t>Corrective feedback: Name the resource, activity, place and period before using the number.</a:t>
            </a:r>
          </a:p>
          <a:p xmlns:a="http://schemas.openxmlformats.org/drawingml/2006/main">
            <a:r>
              <a:t>Full contextual example: Observed evidence: A fictional wash-area record dated 1–5 June 2027 shows 4,800 L used for 120 reusable crates in the baseline period and 4,200 L for 120 crates after a supervisor-approved workflow change. Decision and reason: Arlo calculates 40 L per crate before and 35 L per crate after, a reduction of 5 L per crate, but does not claim the change caused the result from one comparison alone. Safe action: He checks that the task boundary, crate count and recording method match and reports one missing weather note. Result: The supervisor requests another comparable period before deciding whether to retain the change. Next check or record: Arlo records the method limitation and the agreed monitoring period.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move (theory and visual): Use the module visual and the fictional worked example to move students from observation to a source-led decision. Ask students to name the evidence, the authority gap and the next safe communication step.</a:t>
            </a:r>
          </a:p>
          <a:p xmlns:a="http://schemas.openxmlformats.org/drawingml/2006/main">
            <a:r>
              <a:t>Misconception and help: Record what can be observed now and refer what cannot be established. When, where, what seen, where moving, task status, who told.</a:t>
            </a:r>
          </a:p>
          <a:p xmlns:a="http://schemas.openxmlformats.org/drawingml/2006/main">
            <a:r>
              <a:t>Applied action: Separate report, review and improvement. Use a fictional environmental event card. Complete a factual first-report panel, an evidence-needed panel and a measurable improvement panel. Do not write a property response or external notification procedure.</a:t>
            </a:r>
          </a:p>
          <a:p xmlns:a="http://schemas.openxmlformats.org/drawingml/2006/main">
            <a:r>
              <a:t>Boundary: Supplementary learning is grounded in AHCWRK211 Release 1, the NESA Sustainability focus area and authorised teacher-posted sustainability notes. The site teaches environmental pathways, factual reporting, resource measurement and improvement reasoning with fictional data. Current workplace procedures, legal notification requirements, incident response, waste handling, environmental limits and property-specific controls remain controlled by authorised local sources and the supervisor. Site responses are formative and do not demonstrate competency.</a:t>
            </a:r>
          </a:p>
          <a:p xmlns:a="http://schemas.openxmlformats.org/drawingml/2006/main">
            <a:r>
              <a:t>[Sources]</a:t>
            </a:r>
          </a:p>
          <a:p xmlns:a="http://schemas.openxmlformats.org/drawingml/2006/main">
            <a:r>
              <a:t>- Source basis: AHCWRK211 Release 1 requirements to report hazards, breaches or possible breaches, follow workplace practices and suggest improvements; NESA Sustainability focus-area reporting concepts. Current local and regulatory sources control all real response and notification.</a:t>
            </a:r>
          </a:p>
          <a:p xmlns:a="http://schemas.openxmlformats.org/drawingml/2006/main">
            <a:r>
              <a:t>- Visual visual-task-11-04: Generated locally from accepted Stage 05 module headings; no external image copied.</a:t>
            </a:r>
          </a:p>
          <a:p xmlns:a="http://schemas.openxmlformats.org/drawingml/2006/main">
            <a:r>
              <a:t>- Course visual manifest: work/pi/visuals/visual-manifest.json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move (worked example and formative check): Use the module visual and the fictional worked example to move students from observation to a source-led decision. Ask students to name the evidence, the authority gap and the next safe communication step.
Misconception and help: Record what can be observed now and refer what cannot be established. When, where, what seen, where moving, task status, who told.
Applied action: Separate report, review and improvement. Use a fictional environmental event card. Complete a factual first-report panel, an evidence-needed panel and a measurable improvement panel. Do not write a property response or external notification procedure.
Boundary: Supplementary learning is grounded in AHCWRK211 Release 1, the NESA Sustainability focus area and authorised teacher-posted sustainability notes. The site teaches environmental pathways, factual reporting, resource measurement and improvement reasoning with fictional data. Current workplace procedures, legal notification requirements, incident response, waste handling, environmental limits and property-specific controls remain controlled by authorised local sources and the supervisor. Site responses are formative and do not demonstrate competency.
[Sources]
- Source basis: AHCWRK211 Release 1 requirements to report hazards, breaches or possible breaches, follow workplace practices and suggest improvements; NESA Sustainability focus-area reporting concepts. Current local and regulatory sources control all real response and notification.
- Visual visual-task-11-04: Generated locally from accepted Stage 05 module headings; no external image copied.
- Course visual manifest: work/pi/visuals/visual-manifest.json</a:t>
            </a:r>
          </a:p>
          <a:p xmlns:a="http://schemas.openxmlformats.org/drawingml/2006/main">
            <a:r>
              <a:t>Formative check answer: Record time, location, observable change, flow direction, task status and person notified.</a:t>
            </a:r>
          </a:p>
          <a:p xmlns:a="http://schemas.openxmlformats.org/drawingml/2006/main">
            <a:r>
              <a:t>Correct feedback: You selected a prompt factual report without unsupported conclusions.</a:t>
            </a:r>
          </a:p>
          <a:p xmlns:a="http://schemas.openxmlformats.org/drawingml/2006/main">
            <a:r>
              <a:t>Corrective feedback: Record what can be observed now and refer what cannot be established.</a:t>
            </a:r>
          </a:p>
          <a:p xmlns:a="http://schemas.openxmlformats.org/drawingml/2006/main">
            <a:r>
              <a:t>Full contextual example: Observed evidence: At 1:15 pm on 18 July 2027, a fictional training scene shows unusually cloudy water entering a marked drainage point beside a recently used wash area. The source is not visible. Decision and reason: Grace records an environmental concern but does not identify the substance, cause or legal status from appearance. Safe action: She remains outside the marked area and reports the time, location, colour change, flow direction and current task status through the fictional supervisor channel. Result: The supervisor applies the authorised property process and controls all further action. Next check or record: Grace completes only the factual fields she can verify and later contributes observations to a separate cause-review discussion.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one retrieval question from each module, then direct students to the teacher-nominated learning action. Re-state that site work is formative and that current workplace and RTO processes control real practice and assessment.</a:t>
            </a:r>
          </a:p>
          <a:p xmlns:a="http://schemas.openxmlformats.org/drawingml/2006/main">
            <a:r>
              <a:t>Boundary: Supplementary learning is grounded in AHCWRK211 Release 1, the NESA Sustainability focus area and authorised teacher-posted sustainability notes. The site teaches environmental pathways, factual reporting, resource measurement and improvement reasoning with fictional data. Current workplace procedures, legal notification requirements, incident response, waste handling, environmental limits and property-specific controls remain controlled by authorised local sources and the supervisor. Site responses are formative and do not demonstrate competency.</a:t>
            </a:r>
          </a:p>
          <a:p xmlns:a="http://schemas.openxmlformats.org/drawingml/2006/main">
            <a:r>
              <a:t>[Sources]</a:t>
            </a:r>
          </a:p>
          <a:p xmlns:a="http://schemas.openxmlformats.org/drawingml/2006/main">
            <a:r>
              <a:t>- Source basis: AHCWRK211 Release 1 requirements to identify and report environmental hazards and follow workplace practices, plus the NESA Sustainability focus area and authorised teacher-posted sustainability notes. Local response and notification remain controlled.</a:t>
            </a:r>
          </a:p>
          <a:p xmlns:a="http://schemas.openxmlformats.org/drawingml/2006/main">
            <a:r>
              <a:t>- Source basis: AHCWRK211 Release 1 environmental practice and improvement requirements, the NESA Sustainability focus area and authorised teacher-posted sustainability notes. Property-specific soil, water, habitat and waste controls remain authorised locally.</a:t>
            </a:r>
          </a:p>
          <a:p xmlns:a="http://schemas.openxmlformats.org/drawingml/2006/main">
            <a:r>
              <a:t>- Source basis: AHCWRK211 Release 1 requirements to identify, measure, record and file resource use and seek improvements with a supervisor; NESA Sustainability focus-area resource-efficiency concepts; authorised teacher-posted sustainability notes.</a:t>
            </a:r>
          </a:p>
          <a:p xmlns:a="http://schemas.openxmlformats.org/drawingml/2006/main">
            <a:r>
              <a:t>- Source basis: AHCWRK211 Release 1 requirements to report hazards, breaches or possible breaches, follow workplace practices and suggest improvements; NESA Sustainability focus-area reporting concepts. Current local and regulatory sources control all real response and notification.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d16683d84f0402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a2b9b2bd5864cf2" /><Relationship Type="http://schemas.openxmlformats.org/officeDocument/2006/relationships/slideLayout" Target="/ppt/slideLayouts/slideLayout1.xml" Id="R9ce9c5847d81433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ce9c5847d81433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615cb1d1c794b82" /><Relationship Type="http://schemas.openxmlformats.org/officeDocument/2006/relationships/image" Target="/ppt/media/image.png" Id="R054879ac08724eff" /><Relationship Type="http://schemas.openxmlformats.org/officeDocument/2006/relationships/notesSlide" Target="/ppt/notesSlides/notesSlide1.xml" Id="Rfada6a3adccb49c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577e47363bc4cc7" /><Relationship Type="http://schemas.openxmlformats.org/officeDocument/2006/relationships/image" Target="/ppt/media/image2.png" Id="R5fa628fa3a56494d" /><Relationship Type="http://schemas.openxmlformats.org/officeDocument/2006/relationships/image" Target="/ppt/media/image.svg" Id="Rfe1a427608834289" /><Relationship Type="http://schemas.openxmlformats.org/officeDocument/2006/relationships/notesSlide" Target="/ppt/notesSlides/notesSlide2.xml" Id="R3d85aa23098f466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d404cb33ab5401a" /><Relationship Type="http://schemas.openxmlformats.org/officeDocument/2006/relationships/notesSlide" Target="/ppt/notesSlides/notesSlide3.xml" Id="Rd65fd572f60340b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b5054f963be491a" /><Relationship Type="http://schemas.openxmlformats.org/officeDocument/2006/relationships/image" Target="/ppt/media/image3.png" Id="R2393939cd7634f0b" /><Relationship Type="http://schemas.openxmlformats.org/officeDocument/2006/relationships/image" Target="/ppt/media/image2.svg" Id="Rab990a9c41fb4c09" /><Relationship Type="http://schemas.openxmlformats.org/officeDocument/2006/relationships/notesSlide" Target="/ppt/notesSlides/notesSlide4.xml" Id="R27918d31b3c2485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e157095ed154d25" /><Relationship Type="http://schemas.openxmlformats.org/officeDocument/2006/relationships/notesSlide" Target="/ppt/notesSlides/notesSlide5.xml" Id="R5cf50f6ef8164cb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e00f3f68dae4c2c" /><Relationship Type="http://schemas.openxmlformats.org/officeDocument/2006/relationships/image" Target="/ppt/media/image4.png" Id="R6308934470b54170" /><Relationship Type="http://schemas.openxmlformats.org/officeDocument/2006/relationships/image" Target="/ppt/media/image3.svg" Id="Rbd750af970244e86" /><Relationship Type="http://schemas.openxmlformats.org/officeDocument/2006/relationships/notesSlide" Target="/ppt/notesSlides/notesSlide6.xml" Id="R94f5eb7b89114d7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80f10b631d44720" /><Relationship Type="http://schemas.openxmlformats.org/officeDocument/2006/relationships/notesSlide" Target="/ppt/notesSlides/notesSlide7.xml" Id="R32c75d7dcdb04e8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e80075e1c304c38" /><Relationship Type="http://schemas.openxmlformats.org/officeDocument/2006/relationships/image" Target="/ppt/media/image5.png" Id="R7e6bb1bdb5444385" /><Relationship Type="http://schemas.openxmlformats.org/officeDocument/2006/relationships/image" Target="/ppt/media/image4.svg" Id="Raa299d73c9604940" /><Relationship Type="http://schemas.openxmlformats.org/officeDocument/2006/relationships/notesSlide" Target="/ppt/notesSlides/notesSlide8.xml" Id="R00ba74103cfd4f4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1d618332cea4afd" /><Relationship Type="http://schemas.openxmlformats.org/officeDocument/2006/relationships/notesSlide" Target="/ppt/notesSlides/notesSlide9.xml" Id="R96ba0378abfe421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f07503b18ba4aa7" /><Relationship Type="http://schemas.openxmlformats.org/officeDocument/2006/relationships/notesSlide" Target="/ppt/notesSlides/notesSlide10.xml" Id="Rb98456ead0254ebb" /></Relationships>
</file>

<file path=ppt/slides/slide1.xml><?xml version="1.0" encoding="utf-8"?>
<p:sld xmlns:p="http://schemas.openxmlformats.org/presentationml/2006/main">
  <p:cSld>
    <p:bg>
      <p:bgPr>
        <a:solidFill xmlns:a="http://schemas.openxmlformats.org/drawingml/2006/main">
          <a:srgbClr val="123E2A"/>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054879ac08724eff"/>
          <a:srcRect xmlns:a="http://schemas.openxmlformats.org/drawingml/2006/main" l="21860" t="0" r="21860" b="0"/>
          <a:stretch xmlns:a="http://schemas.openxmlformats.org/drawingml/2006/main">
            <a:fillRect l="0" t="0" r="0" b="0"/>
          </a:stretch>
        </p:blipFill>
        <p:spPr>
          <a:xfrm xmlns:a="http://schemas.openxmlformats.org/drawingml/2006/main">
            <a:off x="5334000" y="0"/>
            <a:ext cx="6858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9530BA1-BEF7-4EE2-B603-26C31BFE7108}"/>
              </a:ext>
            </a:extLst>
          </p:cNvPr>
          <p:cNvSpPr>
            <a:spLocks xmlns:a="http://schemas.openxmlformats.org/drawingml/2006/main" noGrp="1"/>
          </p:cNvSpPr>
          <p:nvPr/>
        </p:nvSpPr>
        <p:spPr>
          <a:xfrm xmlns:a="http://schemas.openxmlformats.org/drawingml/2006/main">
            <a:off x="0" y="0"/>
            <a:ext cx="6191250" cy="6858000"/>
          </a:xfrm>
          <a:prstGeom xmlns:a="http://schemas.openxmlformats.org/drawingml/2006/main" prst="rect">
            <a:avLst/>
          </a:prstGeom>
          <a:solidFill xmlns:a="http://schemas.openxmlformats.org/drawingml/2006/main">
            <a:srgbClr val="123E2A"/>
          </a:solidFill>
          <a:ln xmlns:a="http://schemas.openxmlformats.org/drawingml/2006/main" w="0">
            <a:solidFill>
              <a:srgbClr val="123E2A"/>
            </a:solidFill>
            <a:prstDash val="solid"/>
          </a:ln>
        </p:spPr>
      </p:sp>
      <p:sp>
        <p:nvSpPr>
          <p:cNvPr id="3" name="">
            <a:extLst xmlns:a="http://schemas.openxmlformats.org/drawingml/2006/main">
              <a:ext uri="{FF2B5EF4-FFF2-40B4-BE49-F238E27FC236}">
                <a16:creationId xmlns:a16="http://schemas.microsoft.com/office/drawing/2014/main" id="{3D0F6018-767A-49F3-B9DE-FB635BF64D22}"/>
              </a:ext>
            </a:extLst>
          </p:cNvPr>
          <p:cNvSpPr>
            <a:spLocks xmlns:a="http://schemas.openxmlformats.org/drawingml/2006/main" noGrp="1"/>
          </p:cNvSpPr>
          <p:nvPr/>
        </p:nvSpPr>
        <p:spPr>
          <a:xfrm xmlns:a="http://schemas.openxmlformats.org/drawingml/2006/main">
            <a:off x="552450" y="53340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D4A62A"/>
                </a:solidFill>
              </a:defRPr>
            </a:pPr>
            <a:r>
              <a:rPr sz="1200" b="1">
                <a:solidFill>
                  <a:srgbClr val="D4A62A"/>
                </a:solidFill>
              </a:rPr>
              <a:t>AHC20122 • CERTIFICATE II IN AGRICULTURE</a:t>
            </a:r>
          </a:p>
        </p:txBody>
      </p:sp>
      <p:sp>
        <p:nvSpPr>
          <p:cNvPr id="4" name="deck-title">
            <a:extLst xmlns:a="http://schemas.openxmlformats.org/drawingml/2006/main">
              <a:ext uri="{FF2B5EF4-FFF2-40B4-BE49-F238E27FC236}">
                <a16:creationId xmlns:a16="http://schemas.microsoft.com/office/drawing/2014/main" id="{ABDDE18F-F9B8-418E-A936-26A9A3324D91}"/>
              </a:ext>
            </a:extLst>
          </p:cNvPr>
          <p:cNvSpPr>
            <a:spLocks xmlns:a="http://schemas.openxmlformats.org/drawingml/2006/main" noGrp="1"/>
          </p:cNvSpPr>
          <p:nvPr/>
        </p:nvSpPr>
        <p:spPr>
          <a:xfrm xmlns:a="http://schemas.openxmlformats.org/drawingml/2006/main">
            <a:off x="552450" y="914400"/>
            <a:ext cx="48577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450" b="1">
                <a:solidFill>
                  <a:srgbClr val="FFFFFF"/>
                </a:solidFill>
              </a:defRPr>
            </a:pPr>
            <a:r>
              <a:rPr sz="3450" b="1">
                <a:solidFill>
                  <a:srgbClr val="FFFFFF"/>
                </a:solidFill>
              </a:rPr>
              <a:t>Task 11 · Environmentally sustainable work</a:t>
            </a:r>
          </a:p>
        </p:txBody>
      </p:sp>
      <p:sp>
        <p:nvSpPr>
          <p:cNvPr id="5" name="">
            <a:extLst xmlns:a="http://schemas.openxmlformats.org/drawingml/2006/main">
              <a:ext uri="{FF2B5EF4-FFF2-40B4-BE49-F238E27FC236}">
                <a16:creationId xmlns:a16="http://schemas.microsoft.com/office/drawing/2014/main" id="{34A373D2-E541-46B8-8B70-0958B3286C98}"/>
              </a:ext>
            </a:extLst>
          </p:cNvPr>
          <p:cNvSpPr>
            <a:spLocks xmlns:a="http://schemas.openxmlformats.org/drawingml/2006/main" noGrp="1"/>
          </p:cNvSpPr>
          <p:nvPr/>
        </p:nvSpPr>
        <p:spPr>
          <a:xfrm xmlns:a="http://schemas.openxmlformats.org/drawingml/2006/main">
            <a:off x="552450" y="2647950"/>
            <a:ext cx="4667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F3EEDF"/>
                </a:solidFill>
              </a:defRPr>
            </a:pPr>
            <a:r>
              <a:rPr sz="1650" b="0">
                <a:solidFill>
                  <a:srgbClr val="F3EEDF"/>
                </a:solidFill>
              </a:rPr>
              <a:t>Recognise environmental pathways, measure resource use, report incidents and propose practical improvements within authority.</a:t>
            </a:r>
          </a:p>
        </p:txBody>
      </p:sp>
      <p:sp>
        <p:nvSpPr>
          <p:cNvPr id="6" name="">
            <a:extLst xmlns:a="http://schemas.openxmlformats.org/drawingml/2006/main">
              <a:ext uri="{FF2B5EF4-FFF2-40B4-BE49-F238E27FC236}">
                <a16:creationId xmlns:a16="http://schemas.microsoft.com/office/drawing/2014/main" id="{27D73741-6339-4BE8-A0C2-36F442D3B852}"/>
              </a:ext>
            </a:extLst>
          </p:cNvPr>
          <p:cNvSpPr>
            <a:spLocks xmlns:a="http://schemas.openxmlformats.org/drawingml/2006/main" noGrp="1"/>
          </p:cNvSpPr>
          <p:nvPr/>
        </p:nvSpPr>
        <p:spPr>
          <a:xfrm xmlns:a="http://schemas.openxmlformats.org/drawingml/2006/main">
            <a:off x="552450" y="371475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LEARNING ROUTE</a:t>
            </a:r>
          </a:p>
        </p:txBody>
      </p:sp>
      <p:sp>
        <p:nvSpPr>
          <p:cNvPr id="7" name="">
            <a:extLst xmlns:a="http://schemas.openxmlformats.org/drawingml/2006/main">
              <a:ext uri="{FF2B5EF4-FFF2-40B4-BE49-F238E27FC236}">
                <a16:creationId xmlns:a16="http://schemas.microsoft.com/office/drawing/2014/main" id="{B8879D20-7739-4A0D-9F78-2CE6BD44E9CA}"/>
              </a:ext>
            </a:extLst>
          </p:cNvPr>
          <p:cNvSpPr>
            <a:spLocks xmlns:a="http://schemas.openxmlformats.org/drawingml/2006/main" noGrp="1"/>
          </p:cNvSpPr>
          <p:nvPr/>
        </p:nvSpPr>
        <p:spPr>
          <a:xfrm xmlns:a="http://schemas.openxmlformats.org/drawingml/2006/main">
            <a:off x="552450" y="4000500"/>
            <a:ext cx="4762500" cy="1771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FFFFFF"/>
                </a:solidFill>
              </a:defRPr>
            </a:pPr>
            <a:r>
              <a:rPr sz="1425" b="1">
                <a:solidFill>
                  <a:srgbClr val="FFFFFF"/>
                </a:solidFill>
              </a:rPr>
              <a:t>01  Environmental hazards and pathways</a:t>
            </a:r>
          </a:p>
          <a:p xmlns:a="http://schemas.openxmlformats.org/drawingml/2006/main">
            <a:pPr algn="l">
              <a:defRPr sz="1425" b="1">
                <a:solidFill>
                  <a:srgbClr val="FFFFFF"/>
                </a:solidFill>
              </a:defRPr>
            </a:pPr>
            <a:r>
              <a:rPr sz="1425" b="1">
                <a:solidFill>
                  <a:srgbClr val="FFFFFF"/>
                </a:solidFill>
              </a:rPr>
              <a:t>02  Protect soil, water, habitat and resources</a:t>
            </a:r>
          </a:p>
          <a:p xmlns:a="http://schemas.openxmlformats.org/drawingml/2006/main">
            <a:pPr algn="l">
              <a:defRPr sz="1425" b="1">
                <a:solidFill>
                  <a:srgbClr val="FFFFFF"/>
                </a:solidFill>
              </a:defRPr>
            </a:pPr>
            <a:r>
              <a:rPr sz="1425" b="1">
                <a:solidFill>
                  <a:srgbClr val="FFFFFF"/>
                </a:solidFill>
              </a:rPr>
              <a:t>03  Measure resource use before improving it</a:t>
            </a:r>
          </a:p>
          <a:p xmlns:a="http://schemas.openxmlformats.org/drawingml/2006/main">
            <a:pPr algn="l">
              <a:defRPr sz="1425" b="1">
                <a:solidFill>
                  <a:srgbClr val="FFFFFF"/>
                </a:solidFill>
              </a:defRPr>
            </a:pPr>
            <a:r>
              <a:rPr sz="1425" b="1">
                <a:solidFill>
                  <a:srgbClr val="FFFFFF"/>
                </a:solidFill>
              </a:rPr>
              <a:t>04  Report an incident and propose improvement</a:t>
            </a:r>
          </a:p>
        </p:txBody>
      </p:sp>
      <p:sp>
        <p:nvSpPr>
          <p:cNvPr id="8" name="">
            <a:extLst xmlns:a="http://schemas.openxmlformats.org/drawingml/2006/main">
              <a:ext uri="{FF2B5EF4-FFF2-40B4-BE49-F238E27FC236}">
                <a16:creationId xmlns:a16="http://schemas.microsoft.com/office/drawing/2014/main" id="{628AB233-B04B-4D6A-B868-99CCA85D9187}"/>
              </a:ext>
            </a:extLst>
          </p:cNvPr>
          <p:cNvSpPr>
            <a:spLocks xmlns:a="http://schemas.openxmlformats.org/drawingml/2006/main" noGrp="1"/>
          </p:cNvSpPr>
          <p:nvPr/>
        </p:nvSpPr>
        <p:spPr>
          <a:xfrm xmlns:a="http://schemas.openxmlformats.org/drawingml/2006/main">
            <a:off x="552450" y="6172200"/>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BBD6D0"/>
                </a:solidFill>
              </a:defRPr>
            </a:pPr>
            <a:r>
              <a:rPr sz="1050" b="0">
                <a:solidFill>
                  <a:srgbClr val="BBD6D0"/>
                </a:solidFill>
              </a:rPr>
              <a:t>Supplementary learning • current local sources and supervision control real work</a:t>
            </a:r>
          </a:p>
        </p:txBody>
      </p:sp>
    </p:spTree>
    <p:extLst>
      <p:ext uri="{BB962C8B-B14F-4D97-AF65-F5344CB8AC3E}">
        <p14:creationId xmlns:p14="http://schemas.microsoft.com/office/powerpoint/2010/main" val="1153187982"/>
      </p:ext>
    </p:extLst>
  </p:cSld>
</p:sld>
</file>

<file path=ppt/slides/slide2.xml><?xml version="1.0" encoding="utf-8"?>
<p:sld xmlns:p="http://schemas.openxmlformats.org/presentationml/2006/main">
  <p:cSld>
    <p:bg>
      <p:bgPr>
        <a:solidFill xmlns:a="http://schemas.openxmlformats.org/drawingml/2006/main">
          <a:srgbClr val="FBF9F2"/>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F3BBCCB2-0A50-433A-84D5-F945138440FE}"/>
              </a:ext>
            </a:extLst>
          </p:cNvPr>
          <p:cNvSpPr>
            <a:spLocks xmlns:a="http://schemas.openxmlformats.org/drawingml/2006/main" noGrp="1"/>
          </p:cNvSpPr>
          <p:nvPr/>
        </p:nvSpPr>
        <p:spPr>
          <a:xfrm xmlns:a="http://schemas.openxmlformats.org/drawingml/2006/main">
            <a:off x="0" y="0"/>
            <a:ext cx="12192000" cy="742950"/>
          </a:xfrm>
          <a:prstGeom xmlns:a="http://schemas.openxmlformats.org/drawingml/2006/main" prst="rect">
            <a:avLst/>
          </a:prstGeom>
          <a:solidFill xmlns:a="http://schemas.openxmlformats.org/drawingml/2006/main">
            <a:srgbClr val="123E2A"/>
          </a:solidFill>
          <a:ln xmlns:a="http://schemas.openxmlformats.org/drawingml/2006/main" w="0">
            <a:solidFill>
              <a:srgbClr val="123E2A"/>
            </a:solidFill>
            <a:prstDash val="solid"/>
          </a:ln>
        </p:spPr>
      </p:sp>
      <p:sp>
        <p:nvSpPr>
          <p:cNvPr id="2" name="eyebrow-2">
            <a:extLst xmlns:a="http://schemas.openxmlformats.org/drawingml/2006/main">
              <a:ext uri="{FF2B5EF4-FFF2-40B4-BE49-F238E27FC236}">
                <a16:creationId xmlns:a16="http://schemas.microsoft.com/office/drawing/2014/main" id="{FC8F1660-F65F-4B0A-8283-957C54968A14}"/>
              </a:ext>
            </a:extLst>
          </p:cNvPr>
          <p:cNvSpPr>
            <a:spLocks xmlns:a="http://schemas.openxmlformats.org/drawingml/2006/main" noGrp="1"/>
          </p:cNvSpPr>
          <p:nvPr/>
        </p:nvSpPr>
        <p:spPr>
          <a:xfrm xmlns:a="http://schemas.openxmlformats.org/drawingml/2006/main">
            <a:off x="514350" y="11430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TASK 11  •  PRIMARY INDUSTRIES</a:t>
            </a:r>
          </a:p>
        </p:txBody>
      </p:sp>
      <p:sp>
        <p:nvSpPr>
          <p:cNvPr id="3" name="title-2">
            <a:extLst xmlns:a="http://schemas.openxmlformats.org/drawingml/2006/main">
              <a:ext uri="{FF2B5EF4-FFF2-40B4-BE49-F238E27FC236}">
                <a16:creationId xmlns:a16="http://schemas.microsoft.com/office/drawing/2014/main" id="{EFCEA62A-6026-4BCC-AF3B-C3FF7F907771}"/>
              </a:ext>
            </a:extLst>
          </p:cNvPr>
          <p:cNvSpPr>
            <a:spLocks xmlns:a="http://schemas.openxmlformats.org/drawingml/2006/main" noGrp="1"/>
          </p:cNvSpPr>
          <p:nvPr/>
        </p:nvSpPr>
        <p:spPr>
          <a:xfrm xmlns:a="http://schemas.openxmlformats.org/drawingml/2006/main">
            <a:off x="514350" y="333375"/>
            <a:ext cx="11144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FFFFFF"/>
                </a:solidFill>
              </a:defRPr>
            </a:pPr>
            <a:r>
              <a:rPr sz="2700" b="1">
                <a:solidFill>
                  <a:srgbClr val="FFFFFF"/>
                </a:solidFill>
              </a:rPr>
              <a:t>Environmental hazards and pathways</a:t>
            </a:r>
          </a:p>
        </p:txBody>
      </p:sp>
      <p:sp>
        <p:nvSpPr>
          <p:cNvPr id="4" name="">
            <a:extLst xmlns:a="http://schemas.openxmlformats.org/drawingml/2006/main">
              <a:ext uri="{FF2B5EF4-FFF2-40B4-BE49-F238E27FC236}">
                <a16:creationId xmlns:a16="http://schemas.microsoft.com/office/drawing/2014/main" id="{8002BA82-9DE6-4559-A028-B7CB86084FE9}"/>
              </a:ext>
            </a:extLst>
          </p:cNvPr>
          <p:cNvSpPr>
            <a:spLocks xmlns:a="http://schemas.openxmlformats.org/drawingml/2006/main" noGrp="1"/>
          </p:cNvSpPr>
          <p:nvPr/>
        </p:nvSpPr>
        <p:spPr>
          <a:xfrm xmlns:a="http://schemas.openxmlformats.org/drawingml/2006/main">
            <a:off x="514350" y="6515100"/>
            <a:ext cx="895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B6E65"/>
                </a:solidFill>
              </a:defRPr>
            </a:pPr>
            <a:r>
              <a:rPr sz="900" b="0">
                <a:solidFill>
                  <a:srgbClr val="5B6E65"/>
                </a:solidFill>
              </a:rPr>
              <a:t>AHC20122 PRIMARY INDUSTRIES  •  TASK 11</a:t>
            </a:r>
          </a:p>
        </p:txBody>
      </p:sp>
      <p:sp>
        <p:nvSpPr>
          <p:cNvPr id="5" name="">
            <a:extLst xmlns:a="http://schemas.openxmlformats.org/drawingml/2006/main">
              <a:ext uri="{FF2B5EF4-FFF2-40B4-BE49-F238E27FC236}">
                <a16:creationId xmlns:a16="http://schemas.microsoft.com/office/drawing/2014/main" id="{768E29E1-E9D3-4DE8-B272-1E8CA7078583}"/>
              </a:ext>
            </a:extLst>
          </p:cNvPr>
          <p:cNvSpPr>
            <a:spLocks xmlns:a="http://schemas.openxmlformats.org/drawingml/2006/main" noGrp="1"/>
          </p:cNvSpPr>
          <p:nvPr/>
        </p:nvSpPr>
        <p:spPr>
          <a:xfrm xmlns:a="http://schemas.openxmlformats.org/drawingml/2006/main">
            <a:off x="10953750" y="6515100"/>
            <a:ext cx="723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5B6E65"/>
                </a:solidFill>
              </a:defRPr>
            </a:pPr>
            <a:r>
              <a:rPr sz="900" b="1">
                <a:solidFill>
                  <a:srgbClr val="5B6E65"/>
                </a:solidFill>
              </a:rPr>
              <a:t>2/10</a:t>
            </a:r>
          </a:p>
        </p:txBody>
      </p:sp>
      <p:sp>
        <p:nvSpPr>
          <p:cNvPr id="6" name="">
            <a:extLst xmlns:a="http://schemas.openxmlformats.org/drawingml/2006/main">
              <a:ext uri="{FF2B5EF4-FFF2-40B4-BE49-F238E27FC236}">
                <a16:creationId xmlns:a16="http://schemas.microsoft.com/office/drawing/2014/main" id="{0F2959EA-08F4-496A-A47B-FD504ABD0939}"/>
              </a:ext>
            </a:extLst>
          </p:cNvPr>
          <p:cNvSpPr>
            <a:spLocks xmlns:a="http://schemas.openxmlformats.org/drawingml/2006/main" noGrp="1"/>
          </p:cNvSpPr>
          <p:nvPr/>
        </p:nvSpPr>
        <p:spPr>
          <a:xfrm xmlns:a="http://schemas.openxmlformats.org/drawingml/2006/main">
            <a:off x="419100" y="971550"/>
            <a:ext cx="6096000" cy="4667250"/>
          </a:xfrm>
          <a:prstGeom xmlns:a="http://schemas.openxmlformats.org/drawingml/2006/main" prst="roundRect">
            <a:avLst>
              <a:gd name="adj" fmla="val 3673"/>
            </a:avLst>
          </a:prstGeom>
          <a:solidFill xmlns:a="http://schemas.openxmlformats.org/drawingml/2006/main">
            <a:srgbClr val="FFFFFF"/>
          </a:solidFill>
          <a:ln xmlns:a="http://schemas.openxmlformats.org/drawingml/2006/main" w="9525">
            <a:solidFill>
              <a:srgbClr val="CBD4C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5fa628fa3a56494d">
            <a:extLst>
              <a:ext uri="{96DAC541-7B7A-43D3-8B79-37D633B846F1}">
                <asvg:svgBlip xmlns:asvg="http://schemas.microsoft.com/office/drawing/2016/SVG/main" r:embed="Rfe1a427608834289"/>
              </a:ext>
            </a:extLst>
          </a:blip>
          <a:stretch xmlns:a="http://schemas.openxmlformats.org/drawingml/2006/main"/>
        </p:blipFill>
        <p:spPr>
          <a:xfrm xmlns:a="http://schemas.openxmlformats.org/drawingml/2006/main">
            <a:off x="514350" y="1066800"/>
            <a:ext cx="5905500" cy="44767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B7DD4B1C-D6A2-413A-B15C-878CEB2C3316}"/>
              </a:ext>
            </a:extLst>
          </p:cNvPr>
          <p:cNvSpPr>
            <a:spLocks xmlns:a="http://schemas.openxmlformats.org/drawingml/2006/main" noGrp="1"/>
          </p:cNvSpPr>
          <p:nvPr/>
        </p:nvSpPr>
        <p:spPr>
          <a:xfrm xmlns:a="http://schemas.openxmlformats.org/drawingml/2006/main">
            <a:off x="6838950" y="1066800"/>
            <a:ext cx="4838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B45F3E"/>
                </a:solidFill>
              </a:defRPr>
            </a:pPr>
            <a:r>
              <a:rPr sz="1125" b="1">
                <a:solidFill>
                  <a:srgbClr val="B45F3E"/>
                </a:solidFill>
              </a:rPr>
              <a:t>NOTICE</a:t>
            </a:r>
          </a:p>
        </p:txBody>
      </p:sp>
      <p:sp>
        <p:nvSpPr>
          <p:cNvPr id="9" name="">
            <a:extLst xmlns:a="http://schemas.openxmlformats.org/drawingml/2006/main">
              <a:ext uri="{FF2B5EF4-FFF2-40B4-BE49-F238E27FC236}">
                <a16:creationId xmlns:a16="http://schemas.microsoft.com/office/drawing/2014/main" id="{7AFBC7F5-0FBE-4114-941B-85DA8AEE6818}"/>
              </a:ext>
            </a:extLst>
          </p:cNvPr>
          <p:cNvSpPr>
            <a:spLocks xmlns:a="http://schemas.openxmlformats.org/drawingml/2006/main" noGrp="1"/>
          </p:cNvSpPr>
          <p:nvPr/>
        </p:nvSpPr>
        <p:spPr>
          <a:xfrm xmlns:a="http://schemas.openxmlformats.org/drawingml/2006/main">
            <a:off x="6838950" y="1428750"/>
            <a:ext cx="48387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123E2A"/>
                </a:solidFill>
              </a:defRPr>
            </a:pPr>
            <a:r>
              <a:rPr sz="1725" b="1">
                <a:solidFill>
                  <a:srgbClr val="123E2A"/>
                </a:solidFill>
              </a:rPr>
              <a:t>• Sustainability joins present work to future capacity</a:t>
            </a:r>
          </a:p>
          <a:p xmlns:a="http://schemas.openxmlformats.org/drawingml/2006/main">
            <a:pPr algn="l">
              <a:defRPr sz="1725" b="1">
                <a:solidFill>
                  <a:srgbClr val="123E2A"/>
                </a:solidFill>
              </a:defRPr>
            </a:pPr>
            <a:r>
              <a:rPr sz="1725" b="1">
                <a:solidFill>
                  <a:srgbClr val="123E2A"/>
                </a:solidFill>
              </a:rPr>
              <a:t>• Separate hazard, pathway, receptor and impact</a:t>
            </a:r>
          </a:p>
        </p:txBody>
      </p:sp>
      <p:sp>
        <p:nvSpPr>
          <p:cNvPr id="10" name="">
            <a:extLst xmlns:a="http://schemas.openxmlformats.org/drawingml/2006/main">
              <a:ext uri="{FF2B5EF4-FFF2-40B4-BE49-F238E27FC236}">
                <a16:creationId xmlns:a16="http://schemas.microsoft.com/office/drawing/2014/main" id="{7A1C92F8-572B-4C0F-A931-6708317768EC}"/>
              </a:ext>
            </a:extLst>
          </p:cNvPr>
          <p:cNvSpPr>
            <a:spLocks xmlns:a="http://schemas.openxmlformats.org/drawingml/2006/main" noGrp="1"/>
          </p:cNvSpPr>
          <p:nvPr/>
        </p:nvSpPr>
        <p:spPr>
          <a:xfrm xmlns:a="http://schemas.openxmlformats.org/drawingml/2006/main">
            <a:off x="6838950" y="2438400"/>
            <a:ext cx="4838700" cy="1771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173128"/>
                </a:solidFill>
              </a:defRPr>
            </a:pPr>
            <a:r>
              <a:rPr sz="1500" b="0">
                <a:solidFill>
                  <a:srgbClr val="173128"/>
                </a:solidFill>
              </a:rPr>
              <a:t>Environmentally sustainable work aims to meet present needs while protecting the systems and resources needed later. An environmental hazard is a source or situation with potential to cause harm.</a:t>
            </a:r>
          </a:p>
        </p:txBody>
      </p:sp>
      <p:sp>
        <p:nvSpPr>
          <p:cNvPr id="11" name="">
            <a:extLst xmlns:a="http://schemas.openxmlformats.org/drawingml/2006/main">
              <a:ext uri="{FF2B5EF4-FFF2-40B4-BE49-F238E27FC236}">
                <a16:creationId xmlns:a16="http://schemas.microsoft.com/office/drawing/2014/main" id="{537DC44F-5066-4B8C-960F-1473D8FEF6C5}"/>
              </a:ext>
            </a:extLst>
          </p:cNvPr>
          <p:cNvSpPr>
            <a:spLocks xmlns:a="http://schemas.openxmlformats.org/drawingml/2006/main" noGrp="1"/>
          </p:cNvSpPr>
          <p:nvPr/>
        </p:nvSpPr>
        <p:spPr>
          <a:xfrm xmlns:a="http://schemas.openxmlformats.org/drawingml/2006/main">
            <a:off x="6838950" y="4400550"/>
            <a:ext cx="4838700" cy="1028700"/>
          </a:xfrm>
          <a:prstGeom xmlns:a="http://schemas.openxmlformats.org/drawingml/2006/main" prst="roundRect">
            <a:avLst>
              <a:gd name="adj" fmla="val 16667"/>
            </a:avLst>
          </a:prstGeom>
          <a:solidFill xmlns:a="http://schemas.openxmlformats.org/drawingml/2006/main">
            <a:srgbClr val="F3EEDF"/>
          </a:solidFill>
          <a:ln xmlns:a="http://schemas.openxmlformats.org/drawingml/2006/main" w="9525">
            <a:solidFill>
              <a:srgbClr val="D4A62A"/>
            </a:solidFill>
            <a:prstDash val="solid"/>
          </a:ln>
        </p:spPr>
      </p:sp>
      <p:sp>
        <p:nvSpPr>
          <p:cNvPr id="12" name="">
            <a:extLst xmlns:a="http://schemas.openxmlformats.org/drawingml/2006/main">
              <a:ext uri="{FF2B5EF4-FFF2-40B4-BE49-F238E27FC236}">
                <a16:creationId xmlns:a16="http://schemas.microsoft.com/office/drawing/2014/main" id="{C97C50EA-F035-4782-8E57-0AC151DA55EE}"/>
              </a:ext>
            </a:extLst>
          </p:cNvPr>
          <p:cNvSpPr>
            <a:spLocks xmlns:a="http://schemas.openxmlformats.org/drawingml/2006/main" noGrp="1"/>
          </p:cNvSpPr>
          <p:nvPr/>
        </p:nvSpPr>
        <p:spPr>
          <a:xfrm xmlns:a="http://schemas.openxmlformats.org/drawingml/2006/main">
            <a:off x="7010400" y="4533900"/>
            <a:ext cx="44958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123E2A"/>
                </a:solidFill>
              </a:defRPr>
            </a:pPr>
            <a:r>
              <a:rPr sz="1350" b="1">
                <a:solidFill>
                  <a:srgbClr val="123E2A"/>
                </a:solidFill>
              </a:rPr>
              <a:t>LOOK FOR</a:t>
            </a:r>
          </a:p>
          <a:p xmlns:a="http://schemas.openxmlformats.org/drawingml/2006/main">
            <a:pPr algn="l">
              <a:defRPr sz="1350" b="1">
                <a:solidFill>
                  <a:srgbClr val="123E2A"/>
                </a:solidFill>
              </a:defRPr>
            </a:pPr>
            <a:r>
              <a:rPr sz="1350" b="1">
                <a:solidFill>
                  <a:srgbClr val="123E2A"/>
                </a:solidFill>
              </a:rPr>
              <a:t>Connect the module's first four teaching ideas before students apply them to a fictional agricultural decision.</a:t>
            </a:r>
          </a:p>
        </p:txBody>
      </p:sp>
      <p:sp>
        <p:nvSpPr>
          <p:cNvPr id="13" name="">
            <a:extLst xmlns:a="http://schemas.openxmlformats.org/drawingml/2006/main">
              <a:ext uri="{FF2B5EF4-FFF2-40B4-BE49-F238E27FC236}">
                <a16:creationId xmlns:a16="http://schemas.microsoft.com/office/drawing/2014/main" id="{9F9563FD-6682-4E7E-945A-B25ECCACD0B4}"/>
              </a:ext>
            </a:extLst>
          </p:cNvPr>
          <p:cNvSpPr>
            <a:spLocks xmlns:a="http://schemas.openxmlformats.org/drawingml/2006/main" noGrp="1"/>
          </p:cNvSpPr>
          <p:nvPr/>
        </p:nvSpPr>
        <p:spPr>
          <a:xfrm xmlns:a="http://schemas.openxmlformats.org/drawingml/2006/main">
            <a:off x="628650" y="5829300"/>
            <a:ext cx="10953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5B6E65"/>
                </a:solidFill>
              </a:defRPr>
            </a:pPr>
            <a:r>
              <a:rPr sz="1125" b="0">
                <a:solidFill>
                  <a:srgbClr val="5B6E65"/>
                </a:solidFill>
              </a:rPr>
              <a:t>Use the map to connect the lesson ideas, then confirm any real procedure or decision through the current authorised source.</a:t>
            </a:r>
          </a:p>
        </p:txBody>
      </p:sp>
    </p:spTree>
    <p:extLst>
      <p:ext uri="{BB962C8B-B14F-4D97-AF65-F5344CB8AC3E}">
        <p14:creationId xmlns:p14="http://schemas.microsoft.com/office/powerpoint/2010/main" val="1236903162"/>
      </p:ext>
    </p:extLst>
  </p:cSld>
</p:sld>
</file>

<file path=ppt/slides/slide3.xml><?xml version="1.0" encoding="utf-8"?>
<p:sld xmlns:p="http://schemas.openxmlformats.org/presentationml/2006/main">
  <p:cSld>
    <p:bg>
      <p:bgPr>
        <a:solidFill xmlns:a="http://schemas.openxmlformats.org/drawingml/2006/main">
          <a:srgbClr val="F3EED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6AC7C54C-0FA5-4027-8F10-750077E96BA4}"/>
              </a:ext>
            </a:extLst>
          </p:cNvPr>
          <p:cNvSpPr>
            <a:spLocks xmlns:a="http://schemas.openxmlformats.org/drawingml/2006/main" noGrp="1"/>
          </p:cNvSpPr>
          <p:nvPr/>
        </p:nvSpPr>
        <p:spPr>
          <a:xfrm xmlns:a="http://schemas.openxmlformats.org/drawingml/2006/main">
            <a:off x="0" y="0"/>
            <a:ext cx="12192000" cy="742950"/>
          </a:xfrm>
          <a:prstGeom xmlns:a="http://schemas.openxmlformats.org/drawingml/2006/main" prst="rect">
            <a:avLst/>
          </a:prstGeom>
          <a:solidFill xmlns:a="http://schemas.openxmlformats.org/drawingml/2006/main">
            <a:srgbClr val="123E2A"/>
          </a:solidFill>
          <a:ln xmlns:a="http://schemas.openxmlformats.org/drawingml/2006/main" w="0">
            <a:solidFill>
              <a:srgbClr val="123E2A"/>
            </a:solidFill>
            <a:prstDash val="solid"/>
          </a:ln>
        </p:spPr>
      </p:sp>
      <p:sp>
        <p:nvSpPr>
          <p:cNvPr id="2" name="eyebrow-3">
            <a:extLst xmlns:a="http://schemas.openxmlformats.org/drawingml/2006/main">
              <a:ext uri="{FF2B5EF4-FFF2-40B4-BE49-F238E27FC236}">
                <a16:creationId xmlns:a16="http://schemas.microsoft.com/office/drawing/2014/main" id="{325D4D62-81D5-4786-B083-01683D676102}"/>
              </a:ext>
            </a:extLst>
          </p:cNvPr>
          <p:cNvSpPr>
            <a:spLocks xmlns:a="http://schemas.openxmlformats.org/drawingml/2006/main" noGrp="1"/>
          </p:cNvSpPr>
          <p:nvPr/>
        </p:nvSpPr>
        <p:spPr>
          <a:xfrm xmlns:a="http://schemas.openxmlformats.org/drawingml/2006/main">
            <a:off x="514350" y="11430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TASK 11  •  PRIMARY INDUSTRIES</a:t>
            </a:r>
          </a:p>
        </p:txBody>
      </p:sp>
      <p:sp>
        <p:nvSpPr>
          <p:cNvPr id="3" name="title-3">
            <a:extLst xmlns:a="http://schemas.openxmlformats.org/drawingml/2006/main">
              <a:ext uri="{FF2B5EF4-FFF2-40B4-BE49-F238E27FC236}">
                <a16:creationId xmlns:a16="http://schemas.microsoft.com/office/drawing/2014/main" id="{5F9ED831-1D12-44DE-8878-2BAAAE6587E4}"/>
              </a:ext>
            </a:extLst>
          </p:cNvPr>
          <p:cNvSpPr>
            <a:spLocks xmlns:a="http://schemas.openxmlformats.org/drawingml/2006/main" noGrp="1"/>
          </p:cNvSpPr>
          <p:nvPr/>
        </p:nvSpPr>
        <p:spPr>
          <a:xfrm xmlns:a="http://schemas.openxmlformats.org/drawingml/2006/main">
            <a:off x="514350" y="333375"/>
            <a:ext cx="11144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475" b="1">
                <a:solidFill>
                  <a:srgbClr val="FFFFFF"/>
                </a:solidFill>
              </a:defRPr>
            </a:pPr>
            <a:r>
              <a:rPr sz="2475" b="1">
                <a:solidFill>
                  <a:srgbClr val="FFFFFF"/>
                </a:solidFill>
              </a:rPr>
              <a:t>Environmental hazards and pathways: decide from evidence</a:t>
            </a:r>
          </a:p>
        </p:txBody>
      </p:sp>
      <p:sp>
        <p:nvSpPr>
          <p:cNvPr id="4" name="">
            <a:extLst xmlns:a="http://schemas.openxmlformats.org/drawingml/2006/main">
              <a:ext uri="{FF2B5EF4-FFF2-40B4-BE49-F238E27FC236}">
                <a16:creationId xmlns:a16="http://schemas.microsoft.com/office/drawing/2014/main" id="{03E62FCA-687E-4DA6-9F0A-61EF2DACFEB4}"/>
              </a:ext>
            </a:extLst>
          </p:cNvPr>
          <p:cNvSpPr>
            <a:spLocks xmlns:a="http://schemas.openxmlformats.org/drawingml/2006/main" noGrp="1"/>
          </p:cNvSpPr>
          <p:nvPr/>
        </p:nvSpPr>
        <p:spPr>
          <a:xfrm xmlns:a="http://schemas.openxmlformats.org/drawingml/2006/main">
            <a:off x="514350" y="6515100"/>
            <a:ext cx="895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B6E65"/>
                </a:solidFill>
              </a:defRPr>
            </a:pPr>
            <a:r>
              <a:rPr sz="900" b="0">
                <a:solidFill>
                  <a:srgbClr val="5B6E65"/>
                </a:solidFill>
              </a:rPr>
              <a:t>AHC20122 PRIMARY INDUSTRIES  •  TASK 11</a:t>
            </a:r>
          </a:p>
        </p:txBody>
      </p:sp>
      <p:sp>
        <p:nvSpPr>
          <p:cNvPr id="5" name="">
            <a:extLst xmlns:a="http://schemas.openxmlformats.org/drawingml/2006/main">
              <a:ext uri="{FF2B5EF4-FFF2-40B4-BE49-F238E27FC236}">
                <a16:creationId xmlns:a16="http://schemas.microsoft.com/office/drawing/2014/main" id="{E6910771-2154-4E42-8B99-E8959C243F05}"/>
              </a:ext>
            </a:extLst>
          </p:cNvPr>
          <p:cNvSpPr>
            <a:spLocks xmlns:a="http://schemas.openxmlformats.org/drawingml/2006/main" noGrp="1"/>
          </p:cNvSpPr>
          <p:nvPr/>
        </p:nvSpPr>
        <p:spPr>
          <a:xfrm xmlns:a="http://schemas.openxmlformats.org/drawingml/2006/main">
            <a:off x="10953750" y="6515100"/>
            <a:ext cx="723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5B6E65"/>
                </a:solidFill>
              </a:defRPr>
            </a:pPr>
            <a:r>
              <a:rPr sz="900" b="1">
                <a:solidFill>
                  <a:srgbClr val="5B6E65"/>
                </a:solidFill>
              </a:rPr>
              <a:t>3/10</a:t>
            </a:r>
          </a:p>
        </p:txBody>
      </p:sp>
      <p:sp>
        <p:nvSpPr>
          <p:cNvPr id="6" name="">
            <a:extLst xmlns:a="http://schemas.openxmlformats.org/drawingml/2006/main">
              <a:ext uri="{FF2B5EF4-FFF2-40B4-BE49-F238E27FC236}">
                <a16:creationId xmlns:a16="http://schemas.microsoft.com/office/drawing/2014/main" id="{00640FBC-E601-4772-B834-978A05CE2E45}"/>
              </a:ext>
            </a:extLst>
          </p:cNvPr>
          <p:cNvSpPr>
            <a:spLocks xmlns:a="http://schemas.openxmlformats.org/drawingml/2006/main" noGrp="1"/>
          </p:cNvSpPr>
          <p:nvPr/>
        </p:nvSpPr>
        <p:spPr>
          <a:xfrm xmlns:a="http://schemas.openxmlformats.org/drawingml/2006/main">
            <a:off x="514350" y="1028700"/>
            <a:ext cx="6800850" cy="5010150"/>
          </a:xfrm>
          <a:prstGeom xmlns:a="http://schemas.openxmlformats.org/drawingml/2006/main" prst="roundRect">
            <a:avLst>
              <a:gd name="adj" fmla="val 3422"/>
            </a:avLst>
          </a:prstGeom>
          <a:solidFill xmlns:a="http://schemas.openxmlformats.org/drawingml/2006/main">
            <a:srgbClr val="FFFFFF"/>
          </a:solidFill>
          <a:ln xmlns:a="http://schemas.openxmlformats.org/drawingml/2006/main" w="9525">
            <a:solidFill>
              <a:srgbClr val="CBD4C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D8DCDC2C-0468-402A-98EC-DDE586341C62}"/>
              </a:ext>
            </a:extLst>
          </p:cNvPr>
          <p:cNvSpPr>
            <a:spLocks xmlns:a="http://schemas.openxmlformats.org/drawingml/2006/main" noGrp="1"/>
          </p:cNvSpPr>
          <p:nvPr/>
        </p:nvSpPr>
        <p:spPr>
          <a:xfrm xmlns:a="http://schemas.openxmlformats.org/drawingml/2006/main">
            <a:off x="762000" y="125730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B45F3E"/>
                </a:solidFill>
              </a:defRPr>
            </a:pPr>
            <a:r>
              <a:rPr sz="1125" b="1">
                <a:solidFill>
                  <a:srgbClr val="B45F3E"/>
                </a:solidFill>
              </a:rPr>
              <a:t>FICTIONAL WORKPLACE EXAMPLE</a:t>
            </a:r>
          </a:p>
        </p:txBody>
      </p:sp>
      <p:sp>
        <p:nvSpPr>
          <p:cNvPr id="8" name="">
            <a:extLst xmlns:a="http://schemas.openxmlformats.org/drawingml/2006/main">
              <a:ext uri="{FF2B5EF4-FFF2-40B4-BE49-F238E27FC236}">
                <a16:creationId xmlns:a16="http://schemas.microsoft.com/office/drawing/2014/main" id="{AAECE2EE-5C8C-484F-B79C-38B5FCBE1DCD}"/>
              </a:ext>
            </a:extLst>
          </p:cNvPr>
          <p:cNvSpPr>
            <a:spLocks xmlns:a="http://schemas.openxmlformats.org/drawingml/2006/main" noGrp="1"/>
          </p:cNvSpPr>
          <p:nvPr/>
        </p:nvSpPr>
        <p:spPr>
          <a:xfrm xmlns:a="http://schemas.openxmlformats.org/drawingml/2006/main">
            <a:off x="762000" y="1657350"/>
            <a:ext cx="6191250" cy="396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173128"/>
                </a:solidFill>
              </a:defRPr>
            </a:pPr>
            <a:r>
              <a:rPr sz="1425" b="0">
                <a:solidFill>
                  <a:srgbClr val="173128"/>
                </a:solidFill>
              </a:rPr>
              <a:t>OBSERVE  On 16 May 2027, a fictional training map shows a stockpile of fine soil uphill from a shallow flow path, with rain forecast in the saved class scenario and a dam marked downslope.</a:t>
            </a:r>
          </a:p>
          <a:p xmlns:a="http://schemas.openxmlformats.org/drawingml/2006/main">
            <a:r>
              <a:t/>
            </a:r>
          </a:p>
          <a:p xmlns:a="http://schemas.openxmlformats.org/drawingml/2006/main">
            <a:pPr algn="l">
              <a:defRPr sz="1425" b="0">
                <a:solidFill>
                  <a:srgbClr val="173128"/>
                </a:solidFill>
              </a:defRPr>
            </a:pPr>
            <a:r>
              <a:rPr sz="1425" b="0">
                <a:solidFill>
                  <a:srgbClr val="173128"/>
                </a:solidFill>
              </a:rPr>
              <a:t>DECIDE   Ben identifies a possible soil–runoff–dam pathway but does not claim that contamination has occurred or redesign the site.</a:t>
            </a:r>
          </a:p>
          <a:p xmlns:a="http://schemas.openxmlformats.org/drawingml/2006/main">
            <a:r>
              <a:t/>
            </a:r>
          </a:p>
          <a:p xmlns:a="http://schemas.openxmlformats.org/drawingml/2006/main">
            <a:pPr algn="l">
              <a:defRPr sz="1425" b="0">
                <a:solidFill>
                  <a:srgbClr val="173128"/>
                </a:solidFill>
              </a:defRPr>
            </a:pPr>
            <a:r>
              <a:rPr sz="1425" b="0">
                <a:solidFill>
                  <a:srgbClr val="173128"/>
                </a:solidFill>
              </a:rPr>
              <a:t>ACT      He reports the location, visible condition, map relationship and source time to the supervisor.</a:t>
            </a:r>
          </a:p>
          <a:p xmlns:a="http://schemas.openxmlformats.org/drawingml/2006/main">
            <a:r>
              <a:t/>
            </a:r>
          </a:p>
          <a:p xmlns:a="http://schemas.openxmlformats.org/drawingml/2006/main">
            <a:pPr algn="l">
              <a:defRPr sz="1425" b="0">
                <a:solidFill>
                  <a:srgbClr val="173128"/>
                </a:solidFill>
              </a:defRPr>
            </a:pPr>
            <a:r>
              <a:rPr sz="1425" b="0">
                <a:solidFill>
                  <a:srgbClr val="173128"/>
                </a:solidFill>
              </a:rPr>
              <a:t>RECORD   Ben records the observation, receptor and confirmed control owner, then notes the later inspection result without inventing environmental measurements.</a:t>
            </a:r>
          </a:p>
        </p:txBody>
      </p:sp>
      <p:sp>
        <p:nvSpPr>
          <p:cNvPr id="9" name="">
            <a:extLst xmlns:a="http://schemas.openxmlformats.org/drawingml/2006/main">
              <a:ext uri="{FF2B5EF4-FFF2-40B4-BE49-F238E27FC236}">
                <a16:creationId xmlns:a16="http://schemas.microsoft.com/office/drawing/2014/main" id="{CD074793-95DB-4F17-8221-45C7404CA0D0}"/>
              </a:ext>
            </a:extLst>
          </p:cNvPr>
          <p:cNvSpPr>
            <a:spLocks xmlns:a="http://schemas.openxmlformats.org/drawingml/2006/main" noGrp="1"/>
          </p:cNvSpPr>
          <p:nvPr/>
        </p:nvSpPr>
        <p:spPr>
          <a:xfrm xmlns:a="http://schemas.openxmlformats.org/drawingml/2006/main">
            <a:off x="7658100" y="1028700"/>
            <a:ext cx="4019550" cy="5010150"/>
          </a:xfrm>
          <a:prstGeom xmlns:a="http://schemas.openxmlformats.org/drawingml/2006/main" prst="roundRect">
            <a:avLst>
              <a:gd name="adj" fmla="val 4265"/>
            </a:avLst>
          </a:prstGeom>
          <a:solidFill xmlns:a="http://schemas.openxmlformats.org/drawingml/2006/main">
            <a:srgbClr val="123E2A"/>
          </a:solidFill>
          <a:ln xmlns:a="http://schemas.openxmlformats.org/drawingml/2006/main" w="0">
            <a:solidFill>
              <a:srgbClr val="123E2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EFA2E92A-E658-436B-BBC1-CB751B8531B9}"/>
              </a:ext>
            </a:extLst>
          </p:cNvPr>
          <p:cNvSpPr>
            <a:spLocks xmlns:a="http://schemas.openxmlformats.org/drawingml/2006/main" noGrp="1"/>
          </p:cNvSpPr>
          <p:nvPr/>
        </p:nvSpPr>
        <p:spPr>
          <a:xfrm xmlns:a="http://schemas.openxmlformats.org/drawingml/2006/main">
            <a:off x="7905750" y="12573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CHECK YOUR DECISION</a:t>
            </a:r>
          </a:p>
        </p:txBody>
      </p:sp>
      <p:sp>
        <p:nvSpPr>
          <p:cNvPr id="11" name="">
            <a:extLst xmlns:a="http://schemas.openxmlformats.org/drawingml/2006/main">
              <a:ext uri="{FF2B5EF4-FFF2-40B4-BE49-F238E27FC236}">
                <a16:creationId xmlns:a16="http://schemas.microsoft.com/office/drawing/2014/main" id="{619C04B3-110D-4A16-9082-2E3D78A09438}"/>
              </a:ext>
            </a:extLst>
          </p:cNvPr>
          <p:cNvSpPr>
            <a:spLocks xmlns:a="http://schemas.openxmlformats.org/drawingml/2006/main" noGrp="1"/>
          </p:cNvSpPr>
          <p:nvPr/>
        </p:nvSpPr>
        <p:spPr>
          <a:xfrm xmlns:a="http://schemas.openxmlformats.org/drawingml/2006/main">
            <a:off x="7905750" y="1619250"/>
            <a:ext cx="3429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FFFFF"/>
                </a:solidFill>
              </a:defRPr>
            </a:pPr>
            <a:r>
              <a:rPr sz="1725" b="1">
                <a:solidFill>
                  <a:srgbClr val="FFFFFF"/>
                </a:solidFill>
              </a:rPr>
              <a:t>In the chain loose soil → runoff → dam → increased sediment, what is the dam?</a:t>
            </a:r>
          </a:p>
        </p:txBody>
      </p:sp>
      <p:sp>
        <p:nvSpPr>
          <p:cNvPr id="12" name="">
            <a:extLst xmlns:a="http://schemas.openxmlformats.org/drawingml/2006/main">
              <a:ext uri="{FF2B5EF4-FFF2-40B4-BE49-F238E27FC236}">
                <a16:creationId xmlns:a16="http://schemas.microsoft.com/office/drawing/2014/main" id="{C32E3371-54A8-4E4A-B203-DE943CC1977D}"/>
              </a:ext>
            </a:extLst>
          </p:cNvPr>
          <p:cNvSpPr>
            <a:spLocks xmlns:a="http://schemas.openxmlformats.org/drawingml/2006/main" noGrp="1"/>
          </p:cNvSpPr>
          <p:nvPr/>
        </p:nvSpPr>
        <p:spPr>
          <a:xfrm xmlns:a="http://schemas.openxmlformats.org/drawingml/2006/main">
            <a:off x="7905750" y="2895600"/>
            <a:ext cx="34290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F3EEDF"/>
                </a:solidFill>
              </a:defRPr>
            </a:pPr>
            <a:r>
              <a:rPr sz="1350" b="0">
                <a:solidFill>
                  <a:srgbClr val="F3EEDF"/>
                </a:solidFill>
              </a:rPr>
              <a:t>A  The receptor that could be affected.</a:t>
            </a:r>
          </a:p>
          <a:p xmlns:a="http://schemas.openxmlformats.org/drawingml/2006/main">
            <a:r>
              <a:t/>
            </a:r>
          </a:p>
          <a:p xmlns:a="http://schemas.openxmlformats.org/drawingml/2006/main">
            <a:pPr algn="l">
              <a:defRPr sz="1350" b="0">
                <a:solidFill>
                  <a:srgbClr val="F3EEDF"/>
                </a:solidFill>
              </a:defRPr>
            </a:pPr>
            <a:r>
              <a:rPr sz="1350" b="0">
                <a:solidFill>
                  <a:srgbClr val="F3EEDF"/>
                </a:solidFill>
              </a:rPr>
              <a:t>B  The original hazard source.</a:t>
            </a:r>
          </a:p>
          <a:p xmlns:a="http://schemas.openxmlformats.org/drawingml/2006/main">
            <a:r>
              <a:t/>
            </a:r>
          </a:p>
          <a:p xmlns:a="http://schemas.openxmlformats.org/drawingml/2006/main">
            <a:pPr algn="l">
              <a:defRPr sz="1350" b="0">
                <a:solidFill>
                  <a:srgbClr val="F3EEDF"/>
                </a:solidFill>
              </a:defRPr>
            </a:pPr>
            <a:r>
              <a:rPr sz="1350" b="0">
                <a:solidFill>
                  <a:srgbClr val="F3EEDF"/>
                </a:solidFill>
              </a:rPr>
              <a:t>C  The evidence that impact has already occurred.</a:t>
            </a:r>
          </a:p>
        </p:txBody>
      </p:sp>
      <p:sp>
        <p:nvSpPr>
          <p:cNvPr id="13" name="">
            <a:extLst xmlns:a="http://schemas.openxmlformats.org/drawingml/2006/main">
              <a:ext uri="{FF2B5EF4-FFF2-40B4-BE49-F238E27FC236}">
                <a16:creationId xmlns:a16="http://schemas.microsoft.com/office/drawing/2014/main" id="{AA6F117C-25D5-42BB-BF75-BF4D94A02169}"/>
              </a:ext>
            </a:extLst>
          </p:cNvPr>
          <p:cNvSpPr>
            <a:spLocks xmlns:a="http://schemas.openxmlformats.org/drawingml/2006/main" noGrp="1"/>
          </p:cNvSpPr>
          <p:nvPr/>
        </p:nvSpPr>
        <p:spPr>
          <a:xfrm xmlns:a="http://schemas.openxmlformats.org/drawingml/2006/main">
            <a:off x="7905750" y="5257800"/>
            <a:ext cx="342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BBD6D0"/>
                </a:solidFill>
              </a:defRPr>
            </a:pPr>
            <a:r>
              <a:rPr sz="1200" b="1">
                <a:solidFill>
                  <a:srgbClr val="BBD6D0"/>
                </a:solidFill>
              </a:rPr>
              <a:t>HELP  Source moves along a pathway towards a receptor.</a:t>
            </a:r>
          </a:p>
        </p:txBody>
      </p:sp>
    </p:spTree>
    <p:extLst>
      <p:ext uri="{BB962C8B-B14F-4D97-AF65-F5344CB8AC3E}">
        <p14:creationId xmlns:p14="http://schemas.microsoft.com/office/powerpoint/2010/main" val="64820509"/>
      </p:ext>
    </p:extLst>
  </p:cSld>
</p:sld>
</file>

<file path=ppt/slides/slide4.xml><?xml version="1.0" encoding="utf-8"?>
<p:sld xmlns:p="http://schemas.openxmlformats.org/presentationml/2006/main">
  <p:cSld>
    <p:bg>
      <p:bgPr>
        <a:solidFill xmlns:a="http://schemas.openxmlformats.org/drawingml/2006/main">
          <a:srgbClr val="FBF9F2"/>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B4551F88-A871-4D49-A9FC-B63BBD7371A5}"/>
              </a:ext>
            </a:extLst>
          </p:cNvPr>
          <p:cNvSpPr>
            <a:spLocks xmlns:a="http://schemas.openxmlformats.org/drawingml/2006/main" noGrp="1"/>
          </p:cNvSpPr>
          <p:nvPr/>
        </p:nvSpPr>
        <p:spPr>
          <a:xfrm xmlns:a="http://schemas.openxmlformats.org/drawingml/2006/main">
            <a:off x="0" y="0"/>
            <a:ext cx="12192000" cy="742950"/>
          </a:xfrm>
          <a:prstGeom xmlns:a="http://schemas.openxmlformats.org/drawingml/2006/main" prst="rect">
            <a:avLst/>
          </a:prstGeom>
          <a:solidFill xmlns:a="http://schemas.openxmlformats.org/drawingml/2006/main">
            <a:srgbClr val="123E2A"/>
          </a:solidFill>
          <a:ln xmlns:a="http://schemas.openxmlformats.org/drawingml/2006/main" w="0">
            <a:solidFill>
              <a:srgbClr val="123E2A"/>
            </a:solidFill>
            <a:prstDash val="solid"/>
          </a:ln>
        </p:spPr>
      </p:sp>
      <p:sp>
        <p:nvSpPr>
          <p:cNvPr id="2" name="eyebrow-4">
            <a:extLst xmlns:a="http://schemas.openxmlformats.org/drawingml/2006/main">
              <a:ext uri="{FF2B5EF4-FFF2-40B4-BE49-F238E27FC236}">
                <a16:creationId xmlns:a16="http://schemas.microsoft.com/office/drawing/2014/main" id="{FC683ED8-48DF-4424-850C-49D3664AED3E}"/>
              </a:ext>
            </a:extLst>
          </p:cNvPr>
          <p:cNvSpPr>
            <a:spLocks xmlns:a="http://schemas.openxmlformats.org/drawingml/2006/main" noGrp="1"/>
          </p:cNvSpPr>
          <p:nvPr/>
        </p:nvSpPr>
        <p:spPr>
          <a:xfrm xmlns:a="http://schemas.openxmlformats.org/drawingml/2006/main">
            <a:off x="514350" y="11430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TASK 11  •  PRIMARY INDUSTRIES</a:t>
            </a:r>
          </a:p>
        </p:txBody>
      </p:sp>
      <p:sp>
        <p:nvSpPr>
          <p:cNvPr id="3" name="title-4">
            <a:extLst xmlns:a="http://schemas.openxmlformats.org/drawingml/2006/main">
              <a:ext uri="{FF2B5EF4-FFF2-40B4-BE49-F238E27FC236}">
                <a16:creationId xmlns:a16="http://schemas.microsoft.com/office/drawing/2014/main" id="{B0D8045F-EBE7-4E94-9F53-FD8F69B80397}"/>
              </a:ext>
            </a:extLst>
          </p:cNvPr>
          <p:cNvSpPr>
            <a:spLocks xmlns:a="http://schemas.openxmlformats.org/drawingml/2006/main" noGrp="1"/>
          </p:cNvSpPr>
          <p:nvPr/>
        </p:nvSpPr>
        <p:spPr>
          <a:xfrm xmlns:a="http://schemas.openxmlformats.org/drawingml/2006/main">
            <a:off x="514350" y="333375"/>
            <a:ext cx="11144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FFFFFF"/>
                </a:solidFill>
              </a:defRPr>
            </a:pPr>
            <a:r>
              <a:rPr sz="2700" b="1">
                <a:solidFill>
                  <a:srgbClr val="FFFFFF"/>
                </a:solidFill>
              </a:rPr>
              <a:t>Protect soil, water, habitat and resources</a:t>
            </a:r>
          </a:p>
        </p:txBody>
      </p:sp>
      <p:sp>
        <p:nvSpPr>
          <p:cNvPr id="4" name="">
            <a:extLst xmlns:a="http://schemas.openxmlformats.org/drawingml/2006/main">
              <a:ext uri="{FF2B5EF4-FFF2-40B4-BE49-F238E27FC236}">
                <a16:creationId xmlns:a16="http://schemas.microsoft.com/office/drawing/2014/main" id="{6042851A-5AD5-4ABE-B935-A391A8D32423}"/>
              </a:ext>
            </a:extLst>
          </p:cNvPr>
          <p:cNvSpPr>
            <a:spLocks xmlns:a="http://schemas.openxmlformats.org/drawingml/2006/main" noGrp="1"/>
          </p:cNvSpPr>
          <p:nvPr/>
        </p:nvSpPr>
        <p:spPr>
          <a:xfrm xmlns:a="http://schemas.openxmlformats.org/drawingml/2006/main">
            <a:off x="514350" y="6515100"/>
            <a:ext cx="895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B6E65"/>
                </a:solidFill>
              </a:defRPr>
            </a:pPr>
            <a:r>
              <a:rPr sz="900" b="0">
                <a:solidFill>
                  <a:srgbClr val="5B6E65"/>
                </a:solidFill>
              </a:rPr>
              <a:t>AHC20122 PRIMARY INDUSTRIES  •  TASK 11</a:t>
            </a:r>
          </a:p>
        </p:txBody>
      </p:sp>
      <p:sp>
        <p:nvSpPr>
          <p:cNvPr id="5" name="">
            <a:extLst xmlns:a="http://schemas.openxmlformats.org/drawingml/2006/main">
              <a:ext uri="{FF2B5EF4-FFF2-40B4-BE49-F238E27FC236}">
                <a16:creationId xmlns:a16="http://schemas.microsoft.com/office/drawing/2014/main" id="{7752206E-5C5A-467C-9F28-3D014EFC2417}"/>
              </a:ext>
            </a:extLst>
          </p:cNvPr>
          <p:cNvSpPr>
            <a:spLocks xmlns:a="http://schemas.openxmlformats.org/drawingml/2006/main" noGrp="1"/>
          </p:cNvSpPr>
          <p:nvPr/>
        </p:nvSpPr>
        <p:spPr>
          <a:xfrm xmlns:a="http://schemas.openxmlformats.org/drawingml/2006/main">
            <a:off x="10953750" y="6515100"/>
            <a:ext cx="723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5B6E65"/>
                </a:solidFill>
              </a:defRPr>
            </a:pPr>
            <a:r>
              <a:rPr sz="900" b="1">
                <a:solidFill>
                  <a:srgbClr val="5B6E65"/>
                </a:solidFill>
              </a:rPr>
              <a:t>4/10</a:t>
            </a:r>
          </a:p>
        </p:txBody>
      </p:sp>
      <p:sp>
        <p:nvSpPr>
          <p:cNvPr id="6" name="">
            <a:extLst xmlns:a="http://schemas.openxmlformats.org/drawingml/2006/main">
              <a:ext uri="{FF2B5EF4-FFF2-40B4-BE49-F238E27FC236}">
                <a16:creationId xmlns:a16="http://schemas.microsoft.com/office/drawing/2014/main" id="{FC691B3D-24FF-444C-9274-96E8639CA144}"/>
              </a:ext>
            </a:extLst>
          </p:cNvPr>
          <p:cNvSpPr>
            <a:spLocks xmlns:a="http://schemas.openxmlformats.org/drawingml/2006/main" noGrp="1"/>
          </p:cNvSpPr>
          <p:nvPr/>
        </p:nvSpPr>
        <p:spPr>
          <a:xfrm xmlns:a="http://schemas.openxmlformats.org/drawingml/2006/main">
            <a:off x="5676900" y="971550"/>
            <a:ext cx="6096000" cy="4667250"/>
          </a:xfrm>
          <a:prstGeom xmlns:a="http://schemas.openxmlformats.org/drawingml/2006/main" prst="roundRect">
            <a:avLst>
              <a:gd name="adj" fmla="val 3673"/>
            </a:avLst>
          </a:prstGeom>
          <a:solidFill xmlns:a="http://schemas.openxmlformats.org/drawingml/2006/main">
            <a:srgbClr val="FFFFFF"/>
          </a:solidFill>
          <a:ln xmlns:a="http://schemas.openxmlformats.org/drawingml/2006/main" w="9525">
            <a:solidFill>
              <a:srgbClr val="CBD4C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2393939cd7634f0b">
            <a:extLst>
              <a:ext uri="{96DAC541-7B7A-43D3-8B79-37D633B846F1}">
                <asvg:svgBlip xmlns:asvg="http://schemas.microsoft.com/office/drawing/2016/SVG/main" r:embed="Rab990a9c41fb4c09"/>
              </a:ext>
            </a:extLst>
          </a:blip>
          <a:stretch xmlns:a="http://schemas.openxmlformats.org/drawingml/2006/main"/>
        </p:blipFill>
        <p:spPr>
          <a:xfrm xmlns:a="http://schemas.openxmlformats.org/drawingml/2006/main">
            <a:off x="5772150" y="1066800"/>
            <a:ext cx="5905500" cy="44767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0EFA4755-36F8-492B-AB9F-914CD6AC3764}"/>
              </a:ext>
            </a:extLst>
          </p:cNvPr>
          <p:cNvSpPr>
            <a:spLocks xmlns:a="http://schemas.openxmlformats.org/drawingml/2006/main" noGrp="1"/>
          </p:cNvSpPr>
          <p:nvPr/>
        </p:nvSpPr>
        <p:spPr>
          <a:xfrm xmlns:a="http://schemas.openxmlformats.org/drawingml/2006/main">
            <a:off x="514350" y="1066800"/>
            <a:ext cx="4838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B45F3E"/>
                </a:solidFill>
              </a:defRPr>
            </a:pPr>
            <a:r>
              <a:rPr sz="1125" b="1">
                <a:solidFill>
                  <a:srgbClr val="B45F3E"/>
                </a:solidFill>
              </a:rPr>
              <a:t>NOTICE</a:t>
            </a:r>
          </a:p>
        </p:txBody>
      </p:sp>
      <p:sp>
        <p:nvSpPr>
          <p:cNvPr id="9" name="">
            <a:extLst xmlns:a="http://schemas.openxmlformats.org/drawingml/2006/main">
              <a:ext uri="{FF2B5EF4-FFF2-40B4-BE49-F238E27FC236}">
                <a16:creationId xmlns:a16="http://schemas.microsoft.com/office/drawing/2014/main" id="{50EF6634-0C21-44CC-A809-5C7FDE876184}"/>
              </a:ext>
            </a:extLst>
          </p:cNvPr>
          <p:cNvSpPr>
            <a:spLocks xmlns:a="http://schemas.openxmlformats.org/drawingml/2006/main" noGrp="1"/>
          </p:cNvSpPr>
          <p:nvPr/>
        </p:nvSpPr>
        <p:spPr>
          <a:xfrm xmlns:a="http://schemas.openxmlformats.org/drawingml/2006/main">
            <a:off x="514350" y="1428750"/>
            <a:ext cx="48387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123E2A"/>
                </a:solidFill>
              </a:defRPr>
            </a:pPr>
            <a:r>
              <a:rPr sz="1725" b="1">
                <a:solidFill>
                  <a:srgbClr val="123E2A"/>
                </a:solidFill>
              </a:rPr>
              <a:t>• Prevention acts before the pathway opens</a:t>
            </a:r>
          </a:p>
          <a:p xmlns:a="http://schemas.openxmlformats.org/drawingml/2006/main">
            <a:pPr algn="l">
              <a:defRPr sz="1725" b="1">
                <a:solidFill>
                  <a:srgbClr val="123E2A"/>
                </a:solidFill>
              </a:defRPr>
            </a:pPr>
            <a:r>
              <a:rPr sz="1725" b="1">
                <a:solidFill>
                  <a:srgbClr val="123E2A"/>
                </a:solidFill>
              </a:rPr>
              <a:t>• Soil protection supports productivity and water quality</a:t>
            </a:r>
          </a:p>
        </p:txBody>
      </p:sp>
      <p:sp>
        <p:nvSpPr>
          <p:cNvPr id="10" name="">
            <a:extLst xmlns:a="http://schemas.openxmlformats.org/drawingml/2006/main">
              <a:ext uri="{FF2B5EF4-FFF2-40B4-BE49-F238E27FC236}">
                <a16:creationId xmlns:a16="http://schemas.microsoft.com/office/drawing/2014/main" id="{9DD2845D-8840-40A1-B51D-C9613BEE3EF8}"/>
              </a:ext>
            </a:extLst>
          </p:cNvPr>
          <p:cNvSpPr>
            <a:spLocks xmlns:a="http://schemas.openxmlformats.org/drawingml/2006/main" noGrp="1"/>
          </p:cNvSpPr>
          <p:nvPr/>
        </p:nvSpPr>
        <p:spPr>
          <a:xfrm xmlns:a="http://schemas.openxmlformats.org/drawingml/2006/main">
            <a:off x="514350" y="2438400"/>
            <a:ext cx="4838700" cy="1771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173128"/>
                </a:solidFill>
              </a:defRPr>
            </a:pPr>
            <a:r>
              <a:rPr sz="1500" b="0">
                <a:solidFill>
                  <a:srgbClr val="173128"/>
                </a:solidFill>
              </a:rPr>
              <a:t>Prevention changes the source, location, timing or exposure before environmental harm develops. Soil structure, ground cover and stable surfaces affect infiltration, erosion, compaction and the movement of sediment.</a:t>
            </a:r>
          </a:p>
        </p:txBody>
      </p:sp>
      <p:sp>
        <p:nvSpPr>
          <p:cNvPr id="11" name="">
            <a:extLst xmlns:a="http://schemas.openxmlformats.org/drawingml/2006/main">
              <a:ext uri="{FF2B5EF4-FFF2-40B4-BE49-F238E27FC236}">
                <a16:creationId xmlns:a16="http://schemas.microsoft.com/office/drawing/2014/main" id="{72B3DC29-9E44-4398-BEA3-2CE383F5FA04}"/>
              </a:ext>
            </a:extLst>
          </p:cNvPr>
          <p:cNvSpPr>
            <a:spLocks xmlns:a="http://schemas.openxmlformats.org/drawingml/2006/main" noGrp="1"/>
          </p:cNvSpPr>
          <p:nvPr/>
        </p:nvSpPr>
        <p:spPr>
          <a:xfrm xmlns:a="http://schemas.openxmlformats.org/drawingml/2006/main">
            <a:off x="514350" y="4400550"/>
            <a:ext cx="4838700" cy="1028700"/>
          </a:xfrm>
          <a:prstGeom xmlns:a="http://schemas.openxmlformats.org/drawingml/2006/main" prst="roundRect">
            <a:avLst>
              <a:gd name="adj" fmla="val 16667"/>
            </a:avLst>
          </a:prstGeom>
          <a:solidFill xmlns:a="http://schemas.openxmlformats.org/drawingml/2006/main">
            <a:srgbClr val="F3EEDF"/>
          </a:solidFill>
          <a:ln xmlns:a="http://schemas.openxmlformats.org/drawingml/2006/main" w="9525">
            <a:solidFill>
              <a:srgbClr val="D4A62A"/>
            </a:solidFill>
            <a:prstDash val="solid"/>
          </a:ln>
        </p:spPr>
      </p:sp>
      <p:sp>
        <p:nvSpPr>
          <p:cNvPr id="12" name="">
            <a:extLst xmlns:a="http://schemas.openxmlformats.org/drawingml/2006/main">
              <a:ext uri="{FF2B5EF4-FFF2-40B4-BE49-F238E27FC236}">
                <a16:creationId xmlns:a16="http://schemas.microsoft.com/office/drawing/2014/main" id="{76F2F09C-56A6-482B-A7E3-33EF76D1F007}"/>
              </a:ext>
            </a:extLst>
          </p:cNvPr>
          <p:cNvSpPr>
            <a:spLocks xmlns:a="http://schemas.openxmlformats.org/drawingml/2006/main" noGrp="1"/>
          </p:cNvSpPr>
          <p:nvPr/>
        </p:nvSpPr>
        <p:spPr>
          <a:xfrm xmlns:a="http://schemas.openxmlformats.org/drawingml/2006/main">
            <a:off x="685800" y="4533900"/>
            <a:ext cx="44958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123E2A"/>
                </a:solidFill>
              </a:defRPr>
            </a:pPr>
            <a:r>
              <a:rPr sz="1350" b="1">
                <a:solidFill>
                  <a:srgbClr val="123E2A"/>
                </a:solidFill>
              </a:rPr>
              <a:t>LOOK FOR</a:t>
            </a:r>
          </a:p>
          <a:p xmlns:a="http://schemas.openxmlformats.org/drawingml/2006/main">
            <a:pPr algn="l">
              <a:defRPr sz="1350" b="1">
                <a:solidFill>
                  <a:srgbClr val="123E2A"/>
                </a:solidFill>
              </a:defRPr>
            </a:pPr>
            <a:r>
              <a:rPr sz="1350" b="1">
                <a:solidFill>
                  <a:srgbClr val="123E2A"/>
                </a:solidFill>
              </a:rPr>
              <a:t>Connect the module's first four teaching ideas before students apply them to a fictional agricultural decision.</a:t>
            </a:r>
          </a:p>
        </p:txBody>
      </p:sp>
      <p:sp>
        <p:nvSpPr>
          <p:cNvPr id="13" name="">
            <a:extLst xmlns:a="http://schemas.openxmlformats.org/drawingml/2006/main">
              <a:ext uri="{FF2B5EF4-FFF2-40B4-BE49-F238E27FC236}">
                <a16:creationId xmlns:a16="http://schemas.microsoft.com/office/drawing/2014/main" id="{060E39EE-2ABA-4D49-AD42-C97211E038DB}"/>
              </a:ext>
            </a:extLst>
          </p:cNvPr>
          <p:cNvSpPr>
            <a:spLocks xmlns:a="http://schemas.openxmlformats.org/drawingml/2006/main" noGrp="1"/>
          </p:cNvSpPr>
          <p:nvPr/>
        </p:nvSpPr>
        <p:spPr>
          <a:xfrm xmlns:a="http://schemas.openxmlformats.org/drawingml/2006/main">
            <a:off x="628650" y="5829300"/>
            <a:ext cx="10953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5B6E65"/>
                </a:solidFill>
              </a:defRPr>
            </a:pPr>
            <a:r>
              <a:rPr sz="1125" b="0">
                <a:solidFill>
                  <a:srgbClr val="5B6E65"/>
                </a:solidFill>
              </a:rPr>
              <a:t>Use the map to connect the lesson ideas, then confirm any real procedure or decision through the current authorised source.</a:t>
            </a:r>
          </a:p>
        </p:txBody>
      </p:sp>
    </p:spTree>
    <p:extLst>
      <p:ext uri="{BB962C8B-B14F-4D97-AF65-F5344CB8AC3E}">
        <p14:creationId xmlns:p14="http://schemas.microsoft.com/office/powerpoint/2010/main" val="1943765874"/>
      </p:ext>
    </p:extLst>
  </p:cSld>
</p:sld>
</file>

<file path=ppt/slides/slide5.xml><?xml version="1.0" encoding="utf-8"?>
<p:sld xmlns:p="http://schemas.openxmlformats.org/presentationml/2006/main">
  <p:cSld>
    <p:bg>
      <p:bgPr>
        <a:solidFill xmlns:a="http://schemas.openxmlformats.org/drawingml/2006/main">
          <a:srgbClr val="F3EED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19BD5CBF-5F93-4B9F-95E3-5BC7E69EB519}"/>
              </a:ext>
            </a:extLst>
          </p:cNvPr>
          <p:cNvSpPr>
            <a:spLocks xmlns:a="http://schemas.openxmlformats.org/drawingml/2006/main" noGrp="1"/>
          </p:cNvSpPr>
          <p:nvPr/>
        </p:nvSpPr>
        <p:spPr>
          <a:xfrm xmlns:a="http://schemas.openxmlformats.org/drawingml/2006/main">
            <a:off x="0" y="0"/>
            <a:ext cx="12192000" cy="742950"/>
          </a:xfrm>
          <a:prstGeom xmlns:a="http://schemas.openxmlformats.org/drawingml/2006/main" prst="rect">
            <a:avLst/>
          </a:prstGeom>
          <a:solidFill xmlns:a="http://schemas.openxmlformats.org/drawingml/2006/main">
            <a:srgbClr val="123E2A"/>
          </a:solidFill>
          <a:ln xmlns:a="http://schemas.openxmlformats.org/drawingml/2006/main" w="0">
            <a:solidFill>
              <a:srgbClr val="123E2A"/>
            </a:solidFill>
            <a:prstDash val="solid"/>
          </a:ln>
        </p:spPr>
      </p:sp>
      <p:sp>
        <p:nvSpPr>
          <p:cNvPr id="2" name="eyebrow-5">
            <a:extLst xmlns:a="http://schemas.openxmlformats.org/drawingml/2006/main">
              <a:ext uri="{FF2B5EF4-FFF2-40B4-BE49-F238E27FC236}">
                <a16:creationId xmlns:a16="http://schemas.microsoft.com/office/drawing/2014/main" id="{B969A02B-4678-4B6F-8B28-04FCE2DB4795}"/>
              </a:ext>
            </a:extLst>
          </p:cNvPr>
          <p:cNvSpPr>
            <a:spLocks xmlns:a="http://schemas.openxmlformats.org/drawingml/2006/main" noGrp="1"/>
          </p:cNvSpPr>
          <p:nvPr/>
        </p:nvSpPr>
        <p:spPr>
          <a:xfrm xmlns:a="http://schemas.openxmlformats.org/drawingml/2006/main">
            <a:off x="514350" y="11430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TASK 11  •  PRIMARY INDUSTRIES</a:t>
            </a:r>
          </a:p>
        </p:txBody>
      </p:sp>
      <p:sp>
        <p:nvSpPr>
          <p:cNvPr id="3" name="title-5">
            <a:extLst xmlns:a="http://schemas.openxmlformats.org/drawingml/2006/main">
              <a:ext uri="{FF2B5EF4-FFF2-40B4-BE49-F238E27FC236}">
                <a16:creationId xmlns:a16="http://schemas.microsoft.com/office/drawing/2014/main" id="{5AE3BFC5-7AAF-458A-8272-4D50E738F10B}"/>
              </a:ext>
            </a:extLst>
          </p:cNvPr>
          <p:cNvSpPr>
            <a:spLocks xmlns:a="http://schemas.openxmlformats.org/drawingml/2006/main" noGrp="1"/>
          </p:cNvSpPr>
          <p:nvPr/>
        </p:nvSpPr>
        <p:spPr>
          <a:xfrm xmlns:a="http://schemas.openxmlformats.org/drawingml/2006/main">
            <a:off x="514350" y="333375"/>
            <a:ext cx="11144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FFFFFF"/>
                </a:solidFill>
              </a:defRPr>
            </a:pPr>
            <a:r>
              <a:rPr sz="2250" b="1">
                <a:solidFill>
                  <a:srgbClr val="FFFFFF"/>
                </a:solidFill>
              </a:rPr>
              <a:t>Protect soil, water, habitat and resources: decide from evidence</a:t>
            </a:r>
          </a:p>
        </p:txBody>
      </p:sp>
      <p:sp>
        <p:nvSpPr>
          <p:cNvPr id="4" name="">
            <a:extLst xmlns:a="http://schemas.openxmlformats.org/drawingml/2006/main">
              <a:ext uri="{FF2B5EF4-FFF2-40B4-BE49-F238E27FC236}">
                <a16:creationId xmlns:a16="http://schemas.microsoft.com/office/drawing/2014/main" id="{048E4A74-30DC-4C4F-8C4E-24DBEDDBA2C3}"/>
              </a:ext>
            </a:extLst>
          </p:cNvPr>
          <p:cNvSpPr>
            <a:spLocks xmlns:a="http://schemas.openxmlformats.org/drawingml/2006/main" noGrp="1"/>
          </p:cNvSpPr>
          <p:nvPr/>
        </p:nvSpPr>
        <p:spPr>
          <a:xfrm xmlns:a="http://schemas.openxmlformats.org/drawingml/2006/main">
            <a:off x="514350" y="6515100"/>
            <a:ext cx="895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B6E65"/>
                </a:solidFill>
              </a:defRPr>
            </a:pPr>
            <a:r>
              <a:rPr sz="900" b="0">
                <a:solidFill>
                  <a:srgbClr val="5B6E65"/>
                </a:solidFill>
              </a:rPr>
              <a:t>AHC20122 PRIMARY INDUSTRIES  •  TASK 11</a:t>
            </a:r>
          </a:p>
        </p:txBody>
      </p:sp>
      <p:sp>
        <p:nvSpPr>
          <p:cNvPr id="5" name="">
            <a:extLst xmlns:a="http://schemas.openxmlformats.org/drawingml/2006/main">
              <a:ext uri="{FF2B5EF4-FFF2-40B4-BE49-F238E27FC236}">
                <a16:creationId xmlns:a16="http://schemas.microsoft.com/office/drawing/2014/main" id="{F1FD0EB6-58C4-4FEB-9394-B8A8ED21256C}"/>
              </a:ext>
            </a:extLst>
          </p:cNvPr>
          <p:cNvSpPr>
            <a:spLocks xmlns:a="http://schemas.openxmlformats.org/drawingml/2006/main" noGrp="1"/>
          </p:cNvSpPr>
          <p:nvPr/>
        </p:nvSpPr>
        <p:spPr>
          <a:xfrm xmlns:a="http://schemas.openxmlformats.org/drawingml/2006/main">
            <a:off x="10953750" y="6515100"/>
            <a:ext cx="723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5B6E65"/>
                </a:solidFill>
              </a:defRPr>
            </a:pPr>
            <a:r>
              <a:rPr sz="900" b="1">
                <a:solidFill>
                  <a:srgbClr val="5B6E65"/>
                </a:solidFill>
              </a:rPr>
              <a:t>5/10</a:t>
            </a:r>
          </a:p>
        </p:txBody>
      </p:sp>
      <p:sp>
        <p:nvSpPr>
          <p:cNvPr id="6" name="">
            <a:extLst xmlns:a="http://schemas.openxmlformats.org/drawingml/2006/main">
              <a:ext uri="{FF2B5EF4-FFF2-40B4-BE49-F238E27FC236}">
                <a16:creationId xmlns:a16="http://schemas.microsoft.com/office/drawing/2014/main" id="{058BD0AE-82AE-4E9D-B26F-435CE31970B2}"/>
              </a:ext>
            </a:extLst>
          </p:cNvPr>
          <p:cNvSpPr>
            <a:spLocks xmlns:a="http://schemas.openxmlformats.org/drawingml/2006/main" noGrp="1"/>
          </p:cNvSpPr>
          <p:nvPr/>
        </p:nvSpPr>
        <p:spPr>
          <a:xfrm xmlns:a="http://schemas.openxmlformats.org/drawingml/2006/main">
            <a:off x="514350" y="1028700"/>
            <a:ext cx="6800850" cy="5010150"/>
          </a:xfrm>
          <a:prstGeom xmlns:a="http://schemas.openxmlformats.org/drawingml/2006/main" prst="roundRect">
            <a:avLst>
              <a:gd name="adj" fmla="val 3422"/>
            </a:avLst>
          </a:prstGeom>
          <a:solidFill xmlns:a="http://schemas.openxmlformats.org/drawingml/2006/main">
            <a:srgbClr val="FFFFFF"/>
          </a:solidFill>
          <a:ln xmlns:a="http://schemas.openxmlformats.org/drawingml/2006/main" w="9525">
            <a:solidFill>
              <a:srgbClr val="CBD4C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AC7081A4-39C9-4A03-A7DD-FA43B4D50072}"/>
              </a:ext>
            </a:extLst>
          </p:cNvPr>
          <p:cNvSpPr>
            <a:spLocks xmlns:a="http://schemas.openxmlformats.org/drawingml/2006/main" noGrp="1"/>
          </p:cNvSpPr>
          <p:nvPr/>
        </p:nvSpPr>
        <p:spPr>
          <a:xfrm xmlns:a="http://schemas.openxmlformats.org/drawingml/2006/main">
            <a:off x="762000" y="125730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B45F3E"/>
                </a:solidFill>
              </a:defRPr>
            </a:pPr>
            <a:r>
              <a:rPr sz="1125" b="1">
                <a:solidFill>
                  <a:srgbClr val="B45F3E"/>
                </a:solidFill>
              </a:rPr>
              <a:t>FICTIONAL WORKPLACE EXAMPLE</a:t>
            </a:r>
          </a:p>
        </p:txBody>
      </p:sp>
      <p:sp>
        <p:nvSpPr>
          <p:cNvPr id="8" name="">
            <a:extLst xmlns:a="http://schemas.openxmlformats.org/drawingml/2006/main">
              <a:ext uri="{FF2B5EF4-FFF2-40B4-BE49-F238E27FC236}">
                <a16:creationId xmlns:a16="http://schemas.microsoft.com/office/drawing/2014/main" id="{D293EB62-1749-4657-8888-3B4FC774B096}"/>
              </a:ext>
            </a:extLst>
          </p:cNvPr>
          <p:cNvSpPr>
            <a:spLocks xmlns:a="http://schemas.openxmlformats.org/drawingml/2006/main" noGrp="1"/>
          </p:cNvSpPr>
          <p:nvPr/>
        </p:nvSpPr>
        <p:spPr>
          <a:xfrm xmlns:a="http://schemas.openxmlformats.org/drawingml/2006/main">
            <a:off x="762000" y="1657350"/>
            <a:ext cx="6191250" cy="396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173128"/>
                </a:solidFill>
              </a:defRPr>
            </a:pPr>
            <a:r>
              <a:rPr sz="1425" b="0">
                <a:solidFill>
                  <a:srgbClr val="173128"/>
                </a:solidFill>
              </a:rPr>
              <a:t>OBSERVE  A fictional job brief dated 2 June 2027 proposes storing clean packaging beside a shed for one week. The map shows the space crosses a vegetated drainage edge used as a movement corridor after rain.</a:t>
            </a:r>
          </a:p>
          <a:p xmlns:a="http://schemas.openxmlformats.org/drawingml/2006/main">
            <a:r>
              <a:t/>
            </a:r>
          </a:p>
          <a:p xmlns:a="http://schemas.openxmlformats.org/drawingml/2006/main">
            <a:pPr algn="l">
              <a:defRPr sz="1425" b="0">
                <a:solidFill>
                  <a:srgbClr val="173128"/>
                </a:solidFill>
              </a:defRPr>
            </a:pPr>
            <a:r>
              <a:rPr sz="1425" b="0">
                <a:solidFill>
                  <a:srgbClr val="173128"/>
                </a:solidFill>
              </a:rPr>
              <a:t>DECIDE   Sienna compares the convenience of the location with possible obstruction, litter movement and habitat disturbance but does not select a new site herself.</a:t>
            </a:r>
          </a:p>
          <a:p xmlns:a="http://schemas.openxmlformats.org/drawingml/2006/main">
            <a:r>
              <a:t/>
            </a:r>
          </a:p>
          <a:p xmlns:a="http://schemas.openxmlformats.org/drawingml/2006/main">
            <a:pPr algn="l">
              <a:defRPr sz="1425" b="0">
                <a:solidFill>
                  <a:srgbClr val="173128"/>
                </a:solidFill>
              </a:defRPr>
            </a:pPr>
            <a:r>
              <a:rPr sz="1425" b="0">
                <a:solidFill>
                  <a:srgbClr val="173128"/>
                </a:solidFill>
              </a:rPr>
              <a:t>ACT      She presents two prevention-focused questions to the supervisor: whether an authorised existing storage zone can be used and how the corridor boundary is identified in the property plan.</a:t>
            </a:r>
          </a:p>
          <a:p xmlns:a="http://schemas.openxmlformats.org/drawingml/2006/main">
            <a:r>
              <a:t/>
            </a:r>
          </a:p>
          <a:p xmlns:a="http://schemas.openxmlformats.org/drawingml/2006/main">
            <a:pPr algn="l">
              <a:defRPr sz="1425" b="0">
                <a:solidFill>
                  <a:srgbClr val="173128"/>
                </a:solidFill>
              </a:defRPr>
            </a:pPr>
            <a:r>
              <a:rPr sz="1425" b="0">
                <a:solidFill>
                  <a:srgbClr val="173128"/>
                </a:solidFill>
              </a:rPr>
              <a:t>RECORD   Sienna records the agreed location and a later observable check for escaped packaging, without inventing waste-handling rules.</a:t>
            </a:r>
          </a:p>
        </p:txBody>
      </p:sp>
      <p:sp>
        <p:nvSpPr>
          <p:cNvPr id="9" name="">
            <a:extLst xmlns:a="http://schemas.openxmlformats.org/drawingml/2006/main">
              <a:ext uri="{FF2B5EF4-FFF2-40B4-BE49-F238E27FC236}">
                <a16:creationId xmlns:a16="http://schemas.microsoft.com/office/drawing/2014/main" id="{3F05FB71-29FA-4F97-A904-F379381346DA}"/>
              </a:ext>
            </a:extLst>
          </p:cNvPr>
          <p:cNvSpPr>
            <a:spLocks xmlns:a="http://schemas.openxmlformats.org/drawingml/2006/main" noGrp="1"/>
          </p:cNvSpPr>
          <p:nvPr/>
        </p:nvSpPr>
        <p:spPr>
          <a:xfrm xmlns:a="http://schemas.openxmlformats.org/drawingml/2006/main">
            <a:off x="7658100" y="1028700"/>
            <a:ext cx="4019550" cy="5010150"/>
          </a:xfrm>
          <a:prstGeom xmlns:a="http://schemas.openxmlformats.org/drawingml/2006/main" prst="roundRect">
            <a:avLst>
              <a:gd name="adj" fmla="val 4265"/>
            </a:avLst>
          </a:prstGeom>
          <a:solidFill xmlns:a="http://schemas.openxmlformats.org/drawingml/2006/main">
            <a:srgbClr val="123E2A"/>
          </a:solidFill>
          <a:ln xmlns:a="http://schemas.openxmlformats.org/drawingml/2006/main" w="0">
            <a:solidFill>
              <a:srgbClr val="123E2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6ED2E63F-9AD4-49DD-ACD0-151F6AF309F9}"/>
              </a:ext>
            </a:extLst>
          </p:cNvPr>
          <p:cNvSpPr>
            <a:spLocks xmlns:a="http://schemas.openxmlformats.org/drawingml/2006/main" noGrp="1"/>
          </p:cNvSpPr>
          <p:nvPr/>
        </p:nvSpPr>
        <p:spPr>
          <a:xfrm xmlns:a="http://schemas.openxmlformats.org/drawingml/2006/main">
            <a:off x="7905750" y="12573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CHECK YOUR DECISION</a:t>
            </a:r>
          </a:p>
        </p:txBody>
      </p:sp>
      <p:sp>
        <p:nvSpPr>
          <p:cNvPr id="11" name="">
            <a:extLst xmlns:a="http://schemas.openxmlformats.org/drawingml/2006/main">
              <a:ext uri="{FF2B5EF4-FFF2-40B4-BE49-F238E27FC236}">
                <a16:creationId xmlns:a16="http://schemas.microsoft.com/office/drawing/2014/main" id="{059E79E5-D760-4EBC-B25B-47488BAF0D94}"/>
              </a:ext>
            </a:extLst>
          </p:cNvPr>
          <p:cNvSpPr>
            <a:spLocks xmlns:a="http://schemas.openxmlformats.org/drawingml/2006/main" noGrp="1"/>
          </p:cNvSpPr>
          <p:nvPr/>
        </p:nvSpPr>
        <p:spPr>
          <a:xfrm xmlns:a="http://schemas.openxmlformats.org/drawingml/2006/main">
            <a:off x="7905750" y="1619250"/>
            <a:ext cx="3429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FFFFF"/>
                </a:solidFill>
              </a:defRPr>
            </a:pPr>
            <a:r>
              <a:rPr sz="1725" b="1">
                <a:solidFill>
                  <a:srgbClr val="FFFFFF"/>
                </a:solidFill>
              </a:rPr>
              <a:t>Why is prevention often stronger than responding after movement occurs?</a:t>
            </a:r>
          </a:p>
        </p:txBody>
      </p:sp>
      <p:sp>
        <p:nvSpPr>
          <p:cNvPr id="12" name="">
            <a:extLst xmlns:a="http://schemas.openxmlformats.org/drawingml/2006/main">
              <a:ext uri="{FF2B5EF4-FFF2-40B4-BE49-F238E27FC236}">
                <a16:creationId xmlns:a16="http://schemas.microsoft.com/office/drawing/2014/main" id="{D35D92A6-F516-43B2-8A78-AC18D26FB52D}"/>
              </a:ext>
            </a:extLst>
          </p:cNvPr>
          <p:cNvSpPr>
            <a:spLocks xmlns:a="http://schemas.openxmlformats.org/drawingml/2006/main" noGrp="1"/>
          </p:cNvSpPr>
          <p:nvPr/>
        </p:nvSpPr>
        <p:spPr>
          <a:xfrm xmlns:a="http://schemas.openxmlformats.org/drawingml/2006/main">
            <a:off x="7905750" y="2895600"/>
            <a:ext cx="34290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F3EEDF"/>
                </a:solidFill>
              </a:defRPr>
            </a:pPr>
            <a:r>
              <a:rPr sz="1350" b="0">
                <a:solidFill>
                  <a:srgbClr val="F3EEDF"/>
                </a:solidFill>
              </a:rPr>
              <a:t>A  It can remove or reduce the source–pathway connection before a receptor is affected.</a:t>
            </a:r>
          </a:p>
          <a:p xmlns:a="http://schemas.openxmlformats.org/drawingml/2006/main">
            <a:r>
              <a:t/>
            </a:r>
          </a:p>
          <a:p xmlns:a="http://schemas.openxmlformats.org/drawingml/2006/main">
            <a:pPr algn="l">
              <a:defRPr sz="1350" b="0">
                <a:solidFill>
                  <a:srgbClr val="F3EEDF"/>
                </a:solidFill>
              </a:defRPr>
            </a:pPr>
            <a:r>
              <a:rPr sz="1350" b="0">
                <a:solidFill>
                  <a:srgbClr val="F3EEDF"/>
                </a:solidFill>
              </a:rPr>
              <a:t>B  It guarantees that no monitoring is needed.</a:t>
            </a:r>
          </a:p>
          <a:p xmlns:a="http://schemas.openxmlformats.org/drawingml/2006/main">
            <a:r>
              <a:t/>
            </a:r>
          </a:p>
          <a:p xmlns:a="http://schemas.openxmlformats.org/drawingml/2006/main">
            <a:pPr algn="l">
              <a:defRPr sz="1350" b="0">
                <a:solidFill>
                  <a:srgbClr val="F3EEDF"/>
                </a:solidFill>
              </a:defRPr>
            </a:pPr>
            <a:r>
              <a:rPr sz="1350" b="0">
                <a:solidFill>
                  <a:srgbClr val="F3EEDF"/>
                </a:solidFill>
              </a:rPr>
              <a:t>C  It lets a learner ignore the workplace plan.</a:t>
            </a:r>
          </a:p>
        </p:txBody>
      </p:sp>
      <p:sp>
        <p:nvSpPr>
          <p:cNvPr id="13" name="">
            <a:extLst xmlns:a="http://schemas.openxmlformats.org/drawingml/2006/main">
              <a:ext uri="{FF2B5EF4-FFF2-40B4-BE49-F238E27FC236}">
                <a16:creationId xmlns:a16="http://schemas.microsoft.com/office/drawing/2014/main" id="{2EF33CCB-253D-498E-89CF-4536B6575DDD}"/>
              </a:ext>
            </a:extLst>
          </p:cNvPr>
          <p:cNvSpPr>
            <a:spLocks xmlns:a="http://schemas.openxmlformats.org/drawingml/2006/main" noGrp="1"/>
          </p:cNvSpPr>
          <p:nvPr/>
        </p:nvSpPr>
        <p:spPr>
          <a:xfrm xmlns:a="http://schemas.openxmlformats.org/drawingml/2006/main">
            <a:off x="7905750" y="5257800"/>
            <a:ext cx="342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BBD6D0"/>
                </a:solidFill>
              </a:defRPr>
            </a:pPr>
            <a:r>
              <a:rPr sz="1200" b="1">
                <a:solidFill>
                  <a:srgbClr val="BBD6D0"/>
                </a:solidFill>
              </a:rPr>
              <a:t>HELP  Earlier in the chain is usually easier to control.</a:t>
            </a:r>
          </a:p>
        </p:txBody>
      </p:sp>
    </p:spTree>
    <p:extLst>
      <p:ext uri="{BB962C8B-B14F-4D97-AF65-F5344CB8AC3E}">
        <p14:creationId xmlns:p14="http://schemas.microsoft.com/office/powerpoint/2010/main" val="2101387801"/>
      </p:ext>
    </p:extLst>
  </p:cSld>
</p:sld>
</file>

<file path=ppt/slides/slide6.xml><?xml version="1.0" encoding="utf-8"?>
<p:sld xmlns:p="http://schemas.openxmlformats.org/presentationml/2006/main">
  <p:cSld>
    <p:bg>
      <p:bgPr>
        <a:solidFill xmlns:a="http://schemas.openxmlformats.org/drawingml/2006/main">
          <a:srgbClr val="FBF9F2"/>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74A28345-EEAD-4343-9F2D-36E63E870792}"/>
              </a:ext>
            </a:extLst>
          </p:cNvPr>
          <p:cNvSpPr>
            <a:spLocks xmlns:a="http://schemas.openxmlformats.org/drawingml/2006/main" noGrp="1"/>
          </p:cNvSpPr>
          <p:nvPr/>
        </p:nvSpPr>
        <p:spPr>
          <a:xfrm xmlns:a="http://schemas.openxmlformats.org/drawingml/2006/main">
            <a:off x="0" y="0"/>
            <a:ext cx="12192000" cy="742950"/>
          </a:xfrm>
          <a:prstGeom xmlns:a="http://schemas.openxmlformats.org/drawingml/2006/main" prst="rect">
            <a:avLst/>
          </a:prstGeom>
          <a:solidFill xmlns:a="http://schemas.openxmlformats.org/drawingml/2006/main">
            <a:srgbClr val="123E2A"/>
          </a:solidFill>
          <a:ln xmlns:a="http://schemas.openxmlformats.org/drawingml/2006/main" w="0">
            <a:solidFill>
              <a:srgbClr val="123E2A"/>
            </a:solidFill>
            <a:prstDash val="solid"/>
          </a:ln>
        </p:spPr>
      </p:sp>
      <p:sp>
        <p:nvSpPr>
          <p:cNvPr id="2" name="eyebrow-6">
            <a:extLst xmlns:a="http://schemas.openxmlformats.org/drawingml/2006/main">
              <a:ext uri="{FF2B5EF4-FFF2-40B4-BE49-F238E27FC236}">
                <a16:creationId xmlns:a16="http://schemas.microsoft.com/office/drawing/2014/main" id="{AEF926C8-6229-4549-B1E4-887A33F986E2}"/>
              </a:ext>
            </a:extLst>
          </p:cNvPr>
          <p:cNvSpPr>
            <a:spLocks xmlns:a="http://schemas.openxmlformats.org/drawingml/2006/main" noGrp="1"/>
          </p:cNvSpPr>
          <p:nvPr/>
        </p:nvSpPr>
        <p:spPr>
          <a:xfrm xmlns:a="http://schemas.openxmlformats.org/drawingml/2006/main">
            <a:off x="514350" y="11430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TASK 11  •  PRIMARY INDUSTRIES</a:t>
            </a:r>
          </a:p>
        </p:txBody>
      </p:sp>
      <p:sp>
        <p:nvSpPr>
          <p:cNvPr id="3" name="title-6">
            <a:extLst xmlns:a="http://schemas.openxmlformats.org/drawingml/2006/main">
              <a:ext uri="{FF2B5EF4-FFF2-40B4-BE49-F238E27FC236}">
                <a16:creationId xmlns:a16="http://schemas.microsoft.com/office/drawing/2014/main" id="{90C2B20F-5775-45CC-A8E2-C2A74AEDA6B8}"/>
              </a:ext>
            </a:extLst>
          </p:cNvPr>
          <p:cNvSpPr>
            <a:spLocks xmlns:a="http://schemas.openxmlformats.org/drawingml/2006/main" noGrp="1"/>
          </p:cNvSpPr>
          <p:nvPr/>
        </p:nvSpPr>
        <p:spPr>
          <a:xfrm xmlns:a="http://schemas.openxmlformats.org/drawingml/2006/main">
            <a:off x="514350" y="333375"/>
            <a:ext cx="11144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FFFFFF"/>
                </a:solidFill>
              </a:defRPr>
            </a:pPr>
            <a:r>
              <a:rPr sz="2700" b="1">
                <a:solidFill>
                  <a:srgbClr val="FFFFFF"/>
                </a:solidFill>
              </a:rPr>
              <a:t>Measure resource use before improving it</a:t>
            </a:r>
          </a:p>
        </p:txBody>
      </p:sp>
      <p:sp>
        <p:nvSpPr>
          <p:cNvPr id="4" name="">
            <a:extLst xmlns:a="http://schemas.openxmlformats.org/drawingml/2006/main">
              <a:ext uri="{FF2B5EF4-FFF2-40B4-BE49-F238E27FC236}">
                <a16:creationId xmlns:a16="http://schemas.microsoft.com/office/drawing/2014/main" id="{9F5724C1-0939-4D25-A41E-7F3B6B1E8774}"/>
              </a:ext>
            </a:extLst>
          </p:cNvPr>
          <p:cNvSpPr>
            <a:spLocks xmlns:a="http://schemas.openxmlformats.org/drawingml/2006/main" noGrp="1"/>
          </p:cNvSpPr>
          <p:nvPr/>
        </p:nvSpPr>
        <p:spPr>
          <a:xfrm xmlns:a="http://schemas.openxmlformats.org/drawingml/2006/main">
            <a:off x="514350" y="6515100"/>
            <a:ext cx="895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B6E65"/>
                </a:solidFill>
              </a:defRPr>
            </a:pPr>
            <a:r>
              <a:rPr sz="900" b="0">
                <a:solidFill>
                  <a:srgbClr val="5B6E65"/>
                </a:solidFill>
              </a:rPr>
              <a:t>AHC20122 PRIMARY INDUSTRIES  •  TASK 11</a:t>
            </a:r>
          </a:p>
        </p:txBody>
      </p:sp>
      <p:sp>
        <p:nvSpPr>
          <p:cNvPr id="5" name="">
            <a:extLst xmlns:a="http://schemas.openxmlformats.org/drawingml/2006/main">
              <a:ext uri="{FF2B5EF4-FFF2-40B4-BE49-F238E27FC236}">
                <a16:creationId xmlns:a16="http://schemas.microsoft.com/office/drawing/2014/main" id="{C646DE38-1217-45F0-9C76-77022E2F7E8B}"/>
              </a:ext>
            </a:extLst>
          </p:cNvPr>
          <p:cNvSpPr>
            <a:spLocks xmlns:a="http://schemas.openxmlformats.org/drawingml/2006/main" noGrp="1"/>
          </p:cNvSpPr>
          <p:nvPr/>
        </p:nvSpPr>
        <p:spPr>
          <a:xfrm xmlns:a="http://schemas.openxmlformats.org/drawingml/2006/main">
            <a:off x="10953750" y="6515100"/>
            <a:ext cx="723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5B6E65"/>
                </a:solidFill>
              </a:defRPr>
            </a:pPr>
            <a:r>
              <a:rPr sz="900" b="1">
                <a:solidFill>
                  <a:srgbClr val="5B6E65"/>
                </a:solidFill>
              </a:rPr>
              <a:t>6/10</a:t>
            </a:r>
          </a:p>
        </p:txBody>
      </p:sp>
      <p:sp>
        <p:nvSpPr>
          <p:cNvPr id="6" name="">
            <a:extLst xmlns:a="http://schemas.openxmlformats.org/drawingml/2006/main">
              <a:ext uri="{FF2B5EF4-FFF2-40B4-BE49-F238E27FC236}">
                <a16:creationId xmlns:a16="http://schemas.microsoft.com/office/drawing/2014/main" id="{E6577E5B-6074-4C79-8526-7F3703A481A8}"/>
              </a:ext>
            </a:extLst>
          </p:cNvPr>
          <p:cNvSpPr>
            <a:spLocks xmlns:a="http://schemas.openxmlformats.org/drawingml/2006/main" noGrp="1"/>
          </p:cNvSpPr>
          <p:nvPr/>
        </p:nvSpPr>
        <p:spPr>
          <a:xfrm xmlns:a="http://schemas.openxmlformats.org/drawingml/2006/main">
            <a:off x="419100" y="971550"/>
            <a:ext cx="6096000" cy="4667250"/>
          </a:xfrm>
          <a:prstGeom xmlns:a="http://schemas.openxmlformats.org/drawingml/2006/main" prst="roundRect">
            <a:avLst>
              <a:gd name="adj" fmla="val 3673"/>
            </a:avLst>
          </a:prstGeom>
          <a:solidFill xmlns:a="http://schemas.openxmlformats.org/drawingml/2006/main">
            <a:srgbClr val="FFFFFF"/>
          </a:solidFill>
          <a:ln xmlns:a="http://schemas.openxmlformats.org/drawingml/2006/main" w="9525">
            <a:solidFill>
              <a:srgbClr val="CBD4C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6308934470b54170">
            <a:extLst>
              <a:ext uri="{96DAC541-7B7A-43D3-8B79-37D633B846F1}">
                <asvg:svgBlip xmlns:asvg="http://schemas.microsoft.com/office/drawing/2016/SVG/main" r:embed="Rbd750af970244e86"/>
              </a:ext>
            </a:extLst>
          </a:blip>
          <a:stretch xmlns:a="http://schemas.openxmlformats.org/drawingml/2006/main"/>
        </p:blipFill>
        <p:spPr>
          <a:xfrm xmlns:a="http://schemas.openxmlformats.org/drawingml/2006/main">
            <a:off x="514350" y="1066800"/>
            <a:ext cx="5905500" cy="44767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404F8E07-6298-4547-8FA3-919C88468E09}"/>
              </a:ext>
            </a:extLst>
          </p:cNvPr>
          <p:cNvSpPr>
            <a:spLocks xmlns:a="http://schemas.openxmlformats.org/drawingml/2006/main" noGrp="1"/>
          </p:cNvSpPr>
          <p:nvPr/>
        </p:nvSpPr>
        <p:spPr>
          <a:xfrm xmlns:a="http://schemas.openxmlformats.org/drawingml/2006/main">
            <a:off x="6838950" y="1066800"/>
            <a:ext cx="4838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B45F3E"/>
                </a:solidFill>
              </a:defRPr>
            </a:pPr>
            <a:r>
              <a:rPr sz="1125" b="1">
                <a:solidFill>
                  <a:srgbClr val="B45F3E"/>
                </a:solidFill>
              </a:rPr>
              <a:t>NOTICE</a:t>
            </a:r>
          </a:p>
        </p:txBody>
      </p:sp>
      <p:sp>
        <p:nvSpPr>
          <p:cNvPr id="9" name="">
            <a:extLst xmlns:a="http://schemas.openxmlformats.org/drawingml/2006/main">
              <a:ext uri="{FF2B5EF4-FFF2-40B4-BE49-F238E27FC236}">
                <a16:creationId xmlns:a16="http://schemas.microsoft.com/office/drawing/2014/main" id="{D0E970A5-91EC-46A6-B52B-F4EB070A3828}"/>
              </a:ext>
            </a:extLst>
          </p:cNvPr>
          <p:cNvSpPr>
            <a:spLocks xmlns:a="http://schemas.openxmlformats.org/drawingml/2006/main" noGrp="1"/>
          </p:cNvSpPr>
          <p:nvPr/>
        </p:nvSpPr>
        <p:spPr>
          <a:xfrm xmlns:a="http://schemas.openxmlformats.org/drawingml/2006/main">
            <a:off x="6838950" y="1428750"/>
            <a:ext cx="48387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123E2A"/>
                </a:solidFill>
              </a:defRPr>
            </a:pPr>
            <a:r>
              <a:rPr sz="1725" b="1">
                <a:solidFill>
                  <a:srgbClr val="123E2A"/>
                </a:solidFill>
              </a:rPr>
              <a:t>• Define the resource and work boundary</a:t>
            </a:r>
          </a:p>
          <a:p xmlns:a="http://schemas.openxmlformats.org/drawingml/2006/main">
            <a:pPr algn="l">
              <a:defRPr sz="1725" b="1">
                <a:solidFill>
                  <a:srgbClr val="123E2A"/>
                </a:solidFill>
              </a:defRPr>
            </a:pPr>
            <a:r>
              <a:rPr sz="1725" b="1">
                <a:solidFill>
                  <a:srgbClr val="123E2A"/>
                </a:solidFill>
              </a:rPr>
              <a:t>• Choose a consistent measure</a:t>
            </a:r>
          </a:p>
        </p:txBody>
      </p:sp>
      <p:sp>
        <p:nvSpPr>
          <p:cNvPr id="10" name="">
            <a:extLst xmlns:a="http://schemas.openxmlformats.org/drawingml/2006/main">
              <a:ext uri="{FF2B5EF4-FFF2-40B4-BE49-F238E27FC236}">
                <a16:creationId xmlns:a16="http://schemas.microsoft.com/office/drawing/2014/main" id="{E40A1CA6-FC28-4639-B189-21CD8B652964}"/>
              </a:ext>
            </a:extLst>
          </p:cNvPr>
          <p:cNvSpPr>
            <a:spLocks xmlns:a="http://schemas.openxmlformats.org/drawingml/2006/main" noGrp="1"/>
          </p:cNvSpPr>
          <p:nvPr/>
        </p:nvSpPr>
        <p:spPr>
          <a:xfrm xmlns:a="http://schemas.openxmlformats.org/drawingml/2006/main">
            <a:off x="6838950" y="2438400"/>
            <a:ext cx="4838700" cy="1771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173128"/>
                </a:solidFill>
              </a:defRPr>
            </a:pPr>
            <a:r>
              <a:rPr sz="1500" b="0">
                <a:solidFill>
                  <a:srgbClr val="173128"/>
                </a:solidFill>
              </a:rPr>
              <a:t>Resources can include water, energy, fuel, materials, stock, time, infrastructure and consumables. Resource use can be recorded as a total, a count or a normalised figure such as litres per cleaned crate or kilowatt-hours per operating day.</a:t>
            </a:r>
          </a:p>
        </p:txBody>
      </p:sp>
      <p:sp>
        <p:nvSpPr>
          <p:cNvPr id="11" name="">
            <a:extLst xmlns:a="http://schemas.openxmlformats.org/drawingml/2006/main">
              <a:ext uri="{FF2B5EF4-FFF2-40B4-BE49-F238E27FC236}">
                <a16:creationId xmlns:a16="http://schemas.microsoft.com/office/drawing/2014/main" id="{EFF58096-E60E-4206-92FF-1EC1E95B8481}"/>
              </a:ext>
            </a:extLst>
          </p:cNvPr>
          <p:cNvSpPr>
            <a:spLocks xmlns:a="http://schemas.openxmlformats.org/drawingml/2006/main" noGrp="1"/>
          </p:cNvSpPr>
          <p:nvPr/>
        </p:nvSpPr>
        <p:spPr>
          <a:xfrm xmlns:a="http://schemas.openxmlformats.org/drawingml/2006/main">
            <a:off x="6838950" y="4400550"/>
            <a:ext cx="4838700" cy="1028700"/>
          </a:xfrm>
          <a:prstGeom xmlns:a="http://schemas.openxmlformats.org/drawingml/2006/main" prst="roundRect">
            <a:avLst>
              <a:gd name="adj" fmla="val 16667"/>
            </a:avLst>
          </a:prstGeom>
          <a:solidFill xmlns:a="http://schemas.openxmlformats.org/drawingml/2006/main">
            <a:srgbClr val="F3EEDF"/>
          </a:solidFill>
          <a:ln xmlns:a="http://schemas.openxmlformats.org/drawingml/2006/main" w="9525">
            <a:solidFill>
              <a:srgbClr val="D4A62A"/>
            </a:solidFill>
            <a:prstDash val="solid"/>
          </a:ln>
        </p:spPr>
      </p:sp>
      <p:sp>
        <p:nvSpPr>
          <p:cNvPr id="12" name="">
            <a:extLst xmlns:a="http://schemas.openxmlformats.org/drawingml/2006/main">
              <a:ext uri="{FF2B5EF4-FFF2-40B4-BE49-F238E27FC236}">
                <a16:creationId xmlns:a16="http://schemas.microsoft.com/office/drawing/2014/main" id="{E5498A7A-3D8B-47A5-8239-0F69A1238DB3}"/>
              </a:ext>
            </a:extLst>
          </p:cNvPr>
          <p:cNvSpPr>
            <a:spLocks xmlns:a="http://schemas.openxmlformats.org/drawingml/2006/main" noGrp="1"/>
          </p:cNvSpPr>
          <p:nvPr/>
        </p:nvSpPr>
        <p:spPr>
          <a:xfrm xmlns:a="http://schemas.openxmlformats.org/drawingml/2006/main">
            <a:off x="7010400" y="4533900"/>
            <a:ext cx="44958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123E2A"/>
                </a:solidFill>
              </a:defRPr>
            </a:pPr>
            <a:r>
              <a:rPr sz="1350" b="1">
                <a:solidFill>
                  <a:srgbClr val="123E2A"/>
                </a:solidFill>
              </a:rPr>
              <a:t>LOOK FOR</a:t>
            </a:r>
          </a:p>
          <a:p xmlns:a="http://schemas.openxmlformats.org/drawingml/2006/main">
            <a:pPr algn="l">
              <a:defRPr sz="1350" b="1">
                <a:solidFill>
                  <a:srgbClr val="123E2A"/>
                </a:solidFill>
              </a:defRPr>
            </a:pPr>
            <a:r>
              <a:rPr sz="1350" b="1">
                <a:solidFill>
                  <a:srgbClr val="123E2A"/>
                </a:solidFill>
              </a:rPr>
              <a:t>Connect the module's first four teaching ideas before students apply them to a fictional agricultural decision.</a:t>
            </a:r>
          </a:p>
        </p:txBody>
      </p:sp>
      <p:sp>
        <p:nvSpPr>
          <p:cNvPr id="13" name="">
            <a:extLst xmlns:a="http://schemas.openxmlformats.org/drawingml/2006/main">
              <a:ext uri="{FF2B5EF4-FFF2-40B4-BE49-F238E27FC236}">
                <a16:creationId xmlns:a16="http://schemas.microsoft.com/office/drawing/2014/main" id="{4EAD23C9-A51D-440F-AD83-FC4FAF317131}"/>
              </a:ext>
            </a:extLst>
          </p:cNvPr>
          <p:cNvSpPr>
            <a:spLocks xmlns:a="http://schemas.openxmlformats.org/drawingml/2006/main" noGrp="1"/>
          </p:cNvSpPr>
          <p:nvPr/>
        </p:nvSpPr>
        <p:spPr>
          <a:xfrm xmlns:a="http://schemas.openxmlformats.org/drawingml/2006/main">
            <a:off x="628650" y="5829300"/>
            <a:ext cx="10953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5B6E65"/>
                </a:solidFill>
              </a:defRPr>
            </a:pPr>
            <a:r>
              <a:rPr sz="1125" b="0">
                <a:solidFill>
                  <a:srgbClr val="5B6E65"/>
                </a:solidFill>
              </a:rPr>
              <a:t>Use the map to connect the lesson ideas, then confirm any real procedure or decision through the current authorised source.</a:t>
            </a:r>
          </a:p>
        </p:txBody>
      </p:sp>
    </p:spTree>
    <p:extLst>
      <p:ext uri="{BB962C8B-B14F-4D97-AF65-F5344CB8AC3E}">
        <p14:creationId xmlns:p14="http://schemas.microsoft.com/office/powerpoint/2010/main" val="840484728"/>
      </p:ext>
    </p:extLst>
  </p:cSld>
</p:sld>
</file>

<file path=ppt/slides/slide7.xml><?xml version="1.0" encoding="utf-8"?>
<p:sld xmlns:p="http://schemas.openxmlformats.org/presentationml/2006/main">
  <p:cSld>
    <p:bg>
      <p:bgPr>
        <a:solidFill xmlns:a="http://schemas.openxmlformats.org/drawingml/2006/main">
          <a:srgbClr val="F3EED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00BD274C-00A2-40D3-960A-0C40FFD5176F}"/>
              </a:ext>
            </a:extLst>
          </p:cNvPr>
          <p:cNvSpPr>
            <a:spLocks xmlns:a="http://schemas.openxmlformats.org/drawingml/2006/main" noGrp="1"/>
          </p:cNvSpPr>
          <p:nvPr/>
        </p:nvSpPr>
        <p:spPr>
          <a:xfrm xmlns:a="http://schemas.openxmlformats.org/drawingml/2006/main">
            <a:off x="0" y="0"/>
            <a:ext cx="12192000" cy="742950"/>
          </a:xfrm>
          <a:prstGeom xmlns:a="http://schemas.openxmlformats.org/drawingml/2006/main" prst="rect">
            <a:avLst/>
          </a:prstGeom>
          <a:solidFill xmlns:a="http://schemas.openxmlformats.org/drawingml/2006/main">
            <a:srgbClr val="123E2A"/>
          </a:solidFill>
          <a:ln xmlns:a="http://schemas.openxmlformats.org/drawingml/2006/main" w="0">
            <a:solidFill>
              <a:srgbClr val="123E2A"/>
            </a:solidFill>
            <a:prstDash val="solid"/>
          </a:ln>
        </p:spPr>
      </p:sp>
      <p:sp>
        <p:nvSpPr>
          <p:cNvPr id="2" name="eyebrow-7">
            <a:extLst xmlns:a="http://schemas.openxmlformats.org/drawingml/2006/main">
              <a:ext uri="{FF2B5EF4-FFF2-40B4-BE49-F238E27FC236}">
                <a16:creationId xmlns:a16="http://schemas.microsoft.com/office/drawing/2014/main" id="{50340024-EFBC-4B61-80F7-1A95B943AB22}"/>
              </a:ext>
            </a:extLst>
          </p:cNvPr>
          <p:cNvSpPr>
            <a:spLocks xmlns:a="http://schemas.openxmlformats.org/drawingml/2006/main" noGrp="1"/>
          </p:cNvSpPr>
          <p:nvPr/>
        </p:nvSpPr>
        <p:spPr>
          <a:xfrm xmlns:a="http://schemas.openxmlformats.org/drawingml/2006/main">
            <a:off x="514350" y="11430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TASK 11  •  PRIMARY INDUSTRIES</a:t>
            </a:r>
          </a:p>
        </p:txBody>
      </p:sp>
      <p:sp>
        <p:nvSpPr>
          <p:cNvPr id="3" name="title-7">
            <a:extLst xmlns:a="http://schemas.openxmlformats.org/drawingml/2006/main">
              <a:ext uri="{FF2B5EF4-FFF2-40B4-BE49-F238E27FC236}">
                <a16:creationId xmlns:a16="http://schemas.microsoft.com/office/drawing/2014/main" id="{A134BFCB-52CF-4C4C-A346-06D8410F3428}"/>
              </a:ext>
            </a:extLst>
          </p:cNvPr>
          <p:cNvSpPr>
            <a:spLocks xmlns:a="http://schemas.openxmlformats.org/drawingml/2006/main" noGrp="1"/>
          </p:cNvSpPr>
          <p:nvPr/>
        </p:nvSpPr>
        <p:spPr>
          <a:xfrm xmlns:a="http://schemas.openxmlformats.org/drawingml/2006/main">
            <a:off x="514350" y="333375"/>
            <a:ext cx="11144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FFFFFF"/>
                </a:solidFill>
              </a:defRPr>
            </a:pPr>
            <a:r>
              <a:rPr sz="2250" b="1">
                <a:solidFill>
                  <a:srgbClr val="FFFFFF"/>
                </a:solidFill>
              </a:rPr>
              <a:t>Measure resource use before improving it: decide from evidence</a:t>
            </a:r>
          </a:p>
        </p:txBody>
      </p:sp>
      <p:sp>
        <p:nvSpPr>
          <p:cNvPr id="4" name="">
            <a:extLst xmlns:a="http://schemas.openxmlformats.org/drawingml/2006/main">
              <a:ext uri="{FF2B5EF4-FFF2-40B4-BE49-F238E27FC236}">
                <a16:creationId xmlns:a16="http://schemas.microsoft.com/office/drawing/2014/main" id="{769D3B6C-011D-4724-A552-6B7FE10A6727}"/>
              </a:ext>
            </a:extLst>
          </p:cNvPr>
          <p:cNvSpPr>
            <a:spLocks xmlns:a="http://schemas.openxmlformats.org/drawingml/2006/main" noGrp="1"/>
          </p:cNvSpPr>
          <p:nvPr/>
        </p:nvSpPr>
        <p:spPr>
          <a:xfrm xmlns:a="http://schemas.openxmlformats.org/drawingml/2006/main">
            <a:off x="514350" y="6515100"/>
            <a:ext cx="895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B6E65"/>
                </a:solidFill>
              </a:defRPr>
            </a:pPr>
            <a:r>
              <a:rPr sz="900" b="0">
                <a:solidFill>
                  <a:srgbClr val="5B6E65"/>
                </a:solidFill>
              </a:rPr>
              <a:t>AHC20122 PRIMARY INDUSTRIES  •  TASK 11</a:t>
            </a:r>
          </a:p>
        </p:txBody>
      </p:sp>
      <p:sp>
        <p:nvSpPr>
          <p:cNvPr id="5" name="">
            <a:extLst xmlns:a="http://schemas.openxmlformats.org/drawingml/2006/main">
              <a:ext uri="{FF2B5EF4-FFF2-40B4-BE49-F238E27FC236}">
                <a16:creationId xmlns:a16="http://schemas.microsoft.com/office/drawing/2014/main" id="{8F91FFBC-9FB8-4F7E-B224-AC5E7C2DDD01}"/>
              </a:ext>
            </a:extLst>
          </p:cNvPr>
          <p:cNvSpPr>
            <a:spLocks xmlns:a="http://schemas.openxmlformats.org/drawingml/2006/main" noGrp="1"/>
          </p:cNvSpPr>
          <p:nvPr/>
        </p:nvSpPr>
        <p:spPr>
          <a:xfrm xmlns:a="http://schemas.openxmlformats.org/drawingml/2006/main">
            <a:off x="10953750" y="6515100"/>
            <a:ext cx="723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5B6E65"/>
                </a:solidFill>
              </a:defRPr>
            </a:pPr>
            <a:r>
              <a:rPr sz="900" b="1">
                <a:solidFill>
                  <a:srgbClr val="5B6E65"/>
                </a:solidFill>
              </a:rPr>
              <a:t>7/10</a:t>
            </a:r>
          </a:p>
        </p:txBody>
      </p:sp>
      <p:sp>
        <p:nvSpPr>
          <p:cNvPr id="6" name="">
            <a:extLst xmlns:a="http://schemas.openxmlformats.org/drawingml/2006/main">
              <a:ext uri="{FF2B5EF4-FFF2-40B4-BE49-F238E27FC236}">
                <a16:creationId xmlns:a16="http://schemas.microsoft.com/office/drawing/2014/main" id="{CDD836C2-AED3-4CBA-B376-836F6C4F755C}"/>
              </a:ext>
            </a:extLst>
          </p:cNvPr>
          <p:cNvSpPr>
            <a:spLocks xmlns:a="http://schemas.openxmlformats.org/drawingml/2006/main" noGrp="1"/>
          </p:cNvSpPr>
          <p:nvPr/>
        </p:nvSpPr>
        <p:spPr>
          <a:xfrm xmlns:a="http://schemas.openxmlformats.org/drawingml/2006/main">
            <a:off x="514350" y="1028700"/>
            <a:ext cx="6800850" cy="5010150"/>
          </a:xfrm>
          <a:prstGeom xmlns:a="http://schemas.openxmlformats.org/drawingml/2006/main" prst="roundRect">
            <a:avLst>
              <a:gd name="adj" fmla="val 3422"/>
            </a:avLst>
          </a:prstGeom>
          <a:solidFill xmlns:a="http://schemas.openxmlformats.org/drawingml/2006/main">
            <a:srgbClr val="FFFFFF"/>
          </a:solidFill>
          <a:ln xmlns:a="http://schemas.openxmlformats.org/drawingml/2006/main" w="9525">
            <a:solidFill>
              <a:srgbClr val="CBD4C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EB37CB83-D854-4983-A78F-B84511B54BB3}"/>
              </a:ext>
            </a:extLst>
          </p:cNvPr>
          <p:cNvSpPr>
            <a:spLocks xmlns:a="http://schemas.openxmlformats.org/drawingml/2006/main" noGrp="1"/>
          </p:cNvSpPr>
          <p:nvPr/>
        </p:nvSpPr>
        <p:spPr>
          <a:xfrm xmlns:a="http://schemas.openxmlformats.org/drawingml/2006/main">
            <a:off x="762000" y="125730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B45F3E"/>
                </a:solidFill>
              </a:defRPr>
            </a:pPr>
            <a:r>
              <a:rPr sz="1125" b="1">
                <a:solidFill>
                  <a:srgbClr val="B45F3E"/>
                </a:solidFill>
              </a:rPr>
              <a:t>FICTIONAL WORKPLACE EXAMPLE</a:t>
            </a:r>
          </a:p>
        </p:txBody>
      </p:sp>
      <p:sp>
        <p:nvSpPr>
          <p:cNvPr id="8" name="">
            <a:extLst xmlns:a="http://schemas.openxmlformats.org/drawingml/2006/main">
              <a:ext uri="{FF2B5EF4-FFF2-40B4-BE49-F238E27FC236}">
                <a16:creationId xmlns:a16="http://schemas.microsoft.com/office/drawing/2014/main" id="{BE7748FC-5D6E-42FB-B003-7A37E5222BF9}"/>
              </a:ext>
            </a:extLst>
          </p:cNvPr>
          <p:cNvSpPr>
            <a:spLocks xmlns:a="http://schemas.openxmlformats.org/drawingml/2006/main" noGrp="1"/>
          </p:cNvSpPr>
          <p:nvPr/>
        </p:nvSpPr>
        <p:spPr>
          <a:xfrm xmlns:a="http://schemas.openxmlformats.org/drawingml/2006/main">
            <a:off x="762000" y="1657350"/>
            <a:ext cx="6191250" cy="396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173128"/>
                </a:solidFill>
              </a:defRPr>
            </a:pPr>
            <a:r>
              <a:rPr sz="1425" b="0">
                <a:solidFill>
                  <a:srgbClr val="173128"/>
                </a:solidFill>
              </a:rPr>
              <a:t>OBSERVE  A fictional wash-area record dated 1–5 June 2027 shows 4,800 L used for 120 reusable crates in the baseline period and 4,200 L for 120 crates after a supervisor-approved workflow change.</a:t>
            </a:r>
          </a:p>
          <a:p xmlns:a="http://schemas.openxmlformats.org/drawingml/2006/main">
            <a:r>
              <a:t/>
            </a:r>
          </a:p>
          <a:p xmlns:a="http://schemas.openxmlformats.org/drawingml/2006/main">
            <a:pPr algn="l">
              <a:defRPr sz="1425" b="0">
                <a:solidFill>
                  <a:srgbClr val="173128"/>
                </a:solidFill>
              </a:defRPr>
            </a:pPr>
            <a:r>
              <a:rPr sz="1425" b="0">
                <a:solidFill>
                  <a:srgbClr val="173128"/>
                </a:solidFill>
              </a:rPr>
              <a:t>DECIDE   Arlo calculates 40 L per crate before and 35 L per crate after, a reduction of 5 L per crate, but does not claim the change caused the result from one comparison alone.</a:t>
            </a:r>
          </a:p>
          <a:p xmlns:a="http://schemas.openxmlformats.org/drawingml/2006/main">
            <a:r>
              <a:t/>
            </a:r>
          </a:p>
          <a:p xmlns:a="http://schemas.openxmlformats.org/drawingml/2006/main">
            <a:pPr algn="l">
              <a:defRPr sz="1425" b="0">
                <a:solidFill>
                  <a:srgbClr val="173128"/>
                </a:solidFill>
              </a:defRPr>
            </a:pPr>
            <a:r>
              <a:rPr sz="1425" b="0">
                <a:solidFill>
                  <a:srgbClr val="173128"/>
                </a:solidFill>
              </a:rPr>
              <a:t>ACT      He checks that the task boundary, crate count and recording method match and reports one missing weather note.</a:t>
            </a:r>
          </a:p>
          <a:p xmlns:a="http://schemas.openxmlformats.org/drawingml/2006/main">
            <a:r>
              <a:t/>
            </a:r>
          </a:p>
          <a:p xmlns:a="http://schemas.openxmlformats.org/drawingml/2006/main">
            <a:pPr algn="l">
              <a:defRPr sz="1425" b="0">
                <a:solidFill>
                  <a:srgbClr val="173128"/>
                </a:solidFill>
              </a:defRPr>
            </a:pPr>
            <a:r>
              <a:rPr sz="1425" b="0">
                <a:solidFill>
                  <a:srgbClr val="173128"/>
                </a:solidFill>
              </a:rPr>
              <a:t>RECORD   Arlo records the method limitation and the agreed monitoring period.</a:t>
            </a:r>
          </a:p>
        </p:txBody>
      </p:sp>
      <p:sp>
        <p:nvSpPr>
          <p:cNvPr id="9" name="">
            <a:extLst xmlns:a="http://schemas.openxmlformats.org/drawingml/2006/main">
              <a:ext uri="{FF2B5EF4-FFF2-40B4-BE49-F238E27FC236}">
                <a16:creationId xmlns:a16="http://schemas.microsoft.com/office/drawing/2014/main" id="{8C67B199-3AAC-4079-82D2-8E34E17B280E}"/>
              </a:ext>
            </a:extLst>
          </p:cNvPr>
          <p:cNvSpPr>
            <a:spLocks xmlns:a="http://schemas.openxmlformats.org/drawingml/2006/main" noGrp="1"/>
          </p:cNvSpPr>
          <p:nvPr/>
        </p:nvSpPr>
        <p:spPr>
          <a:xfrm xmlns:a="http://schemas.openxmlformats.org/drawingml/2006/main">
            <a:off x="7658100" y="1028700"/>
            <a:ext cx="4019550" cy="5010150"/>
          </a:xfrm>
          <a:prstGeom xmlns:a="http://schemas.openxmlformats.org/drawingml/2006/main" prst="roundRect">
            <a:avLst>
              <a:gd name="adj" fmla="val 4265"/>
            </a:avLst>
          </a:prstGeom>
          <a:solidFill xmlns:a="http://schemas.openxmlformats.org/drawingml/2006/main">
            <a:srgbClr val="123E2A"/>
          </a:solidFill>
          <a:ln xmlns:a="http://schemas.openxmlformats.org/drawingml/2006/main" w="0">
            <a:solidFill>
              <a:srgbClr val="123E2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D030F3CC-F3C8-479A-8C2A-3C3B9F23D221}"/>
              </a:ext>
            </a:extLst>
          </p:cNvPr>
          <p:cNvSpPr>
            <a:spLocks xmlns:a="http://schemas.openxmlformats.org/drawingml/2006/main" noGrp="1"/>
          </p:cNvSpPr>
          <p:nvPr/>
        </p:nvSpPr>
        <p:spPr>
          <a:xfrm xmlns:a="http://schemas.openxmlformats.org/drawingml/2006/main">
            <a:off x="7905750" y="12573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CHECK YOUR DECISION</a:t>
            </a:r>
          </a:p>
        </p:txBody>
      </p:sp>
      <p:sp>
        <p:nvSpPr>
          <p:cNvPr id="11" name="">
            <a:extLst xmlns:a="http://schemas.openxmlformats.org/drawingml/2006/main">
              <a:ext uri="{FF2B5EF4-FFF2-40B4-BE49-F238E27FC236}">
                <a16:creationId xmlns:a16="http://schemas.microsoft.com/office/drawing/2014/main" id="{C1E2DDBD-3130-45A0-8029-022CCA81305A}"/>
              </a:ext>
            </a:extLst>
          </p:cNvPr>
          <p:cNvSpPr>
            <a:spLocks xmlns:a="http://schemas.openxmlformats.org/drawingml/2006/main" noGrp="1"/>
          </p:cNvSpPr>
          <p:nvPr/>
        </p:nvSpPr>
        <p:spPr>
          <a:xfrm xmlns:a="http://schemas.openxmlformats.org/drawingml/2006/main">
            <a:off x="7905750" y="1619250"/>
            <a:ext cx="3429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FFFFF"/>
                </a:solidFill>
              </a:defRPr>
            </a:pPr>
            <a:r>
              <a:rPr sz="1725" b="1">
                <a:solidFill>
                  <a:srgbClr val="FFFFFF"/>
                </a:solidFill>
              </a:rPr>
              <a:t>Why define the task boundary before measuring resource use?</a:t>
            </a:r>
          </a:p>
        </p:txBody>
      </p:sp>
      <p:sp>
        <p:nvSpPr>
          <p:cNvPr id="12" name="">
            <a:extLst xmlns:a="http://schemas.openxmlformats.org/drawingml/2006/main">
              <a:ext uri="{FF2B5EF4-FFF2-40B4-BE49-F238E27FC236}">
                <a16:creationId xmlns:a16="http://schemas.microsoft.com/office/drawing/2014/main" id="{AB9DD915-FA3C-421B-A823-4B4317AF6EA7}"/>
              </a:ext>
            </a:extLst>
          </p:cNvPr>
          <p:cNvSpPr>
            <a:spLocks xmlns:a="http://schemas.openxmlformats.org/drawingml/2006/main" noGrp="1"/>
          </p:cNvSpPr>
          <p:nvPr/>
        </p:nvSpPr>
        <p:spPr>
          <a:xfrm xmlns:a="http://schemas.openxmlformats.org/drawingml/2006/main">
            <a:off x="7905750" y="2895600"/>
            <a:ext cx="34290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F3EEDF"/>
                </a:solidFill>
              </a:defRPr>
            </a:pPr>
            <a:r>
              <a:rPr sz="1350" b="0">
                <a:solidFill>
                  <a:srgbClr val="F3EEDF"/>
                </a:solidFill>
              </a:rPr>
              <a:t>A  So the data represents the work area, period and activity being compared.</a:t>
            </a:r>
          </a:p>
          <a:p xmlns:a="http://schemas.openxmlformats.org/drawingml/2006/main">
            <a:r>
              <a:t/>
            </a:r>
          </a:p>
          <a:p xmlns:a="http://schemas.openxmlformats.org/drawingml/2006/main">
            <a:pPr algn="l">
              <a:defRPr sz="1350" b="0">
                <a:solidFill>
                  <a:srgbClr val="F3EEDF"/>
                </a:solidFill>
              </a:defRPr>
            </a:pPr>
            <a:r>
              <a:rPr sz="1350" b="0">
                <a:solidFill>
                  <a:srgbClr val="F3EEDF"/>
                </a:solidFill>
              </a:rPr>
              <a:t>B  So every resource can be reported with the same unit.</a:t>
            </a:r>
          </a:p>
          <a:p xmlns:a="http://schemas.openxmlformats.org/drawingml/2006/main">
            <a:r>
              <a:t/>
            </a:r>
          </a:p>
          <a:p xmlns:a="http://schemas.openxmlformats.org/drawingml/2006/main">
            <a:pPr algn="l">
              <a:defRPr sz="1350" b="0">
                <a:solidFill>
                  <a:srgbClr val="F3EEDF"/>
                </a:solidFill>
              </a:defRPr>
            </a:pPr>
            <a:r>
              <a:rPr sz="1350" b="0">
                <a:solidFill>
                  <a:srgbClr val="F3EEDF"/>
                </a:solidFill>
              </a:rPr>
              <a:t>C  So one day's value proves the annual trend.</a:t>
            </a:r>
          </a:p>
        </p:txBody>
      </p:sp>
      <p:sp>
        <p:nvSpPr>
          <p:cNvPr id="13" name="">
            <a:extLst xmlns:a="http://schemas.openxmlformats.org/drawingml/2006/main">
              <a:ext uri="{FF2B5EF4-FFF2-40B4-BE49-F238E27FC236}">
                <a16:creationId xmlns:a16="http://schemas.microsoft.com/office/drawing/2014/main" id="{4DB760FC-C8FF-4295-8572-741A7C316106}"/>
              </a:ext>
            </a:extLst>
          </p:cNvPr>
          <p:cNvSpPr>
            <a:spLocks xmlns:a="http://schemas.openxmlformats.org/drawingml/2006/main" noGrp="1"/>
          </p:cNvSpPr>
          <p:nvPr/>
        </p:nvSpPr>
        <p:spPr>
          <a:xfrm xmlns:a="http://schemas.openxmlformats.org/drawingml/2006/main">
            <a:off x="7905750" y="5257800"/>
            <a:ext cx="342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BBD6D0"/>
                </a:solidFill>
              </a:defRPr>
            </a:pPr>
            <a:r>
              <a:rPr sz="1200" b="1">
                <a:solidFill>
                  <a:srgbClr val="BBD6D0"/>
                </a:solidFill>
              </a:rPr>
              <a:t>HELP  Measure what, where, during what work and for how long?</a:t>
            </a:r>
          </a:p>
        </p:txBody>
      </p:sp>
    </p:spTree>
    <p:extLst>
      <p:ext uri="{BB962C8B-B14F-4D97-AF65-F5344CB8AC3E}">
        <p14:creationId xmlns:p14="http://schemas.microsoft.com/office/powerpoint/2010/main" val="673531854"/>
      </p:ext>
    </p:extLst>
  </p:cSld>
</p:sld>
</file>

<file path=ppt/slides/slide8.xml><?xml version="1.0" encoding="utf-8"?>
<p:sld xmlns:p="http://schemas.openxmlformats.org/presentationml/2006/main">
  <p:cSld>
    <p:bg>
      <p:bgPr>
        <a:solidFill xmlns:a="http://schemas.openxmlformats.org/drawingml/2006/main">
          <a:srgbClr val="FBF9F2"/>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86E6CB44-1E6E-48C7-BD7B-E655A1403CD6}"/>
              </a:ext>
            </a:extLst>
          </p:cNvPr>
          <p:cNvSpPr>
            <a:spLocks xmlns:a="http://schemas.openxmlformats.org/drawingml/2006/main" noGrp="1"/>
          </p:cNvSpPr>
          <p:nvPr/>
        </p:nvSpPr>
        <p:spPr>
          <a:xfrm xmlns:a="http://schemas.openxmlformats.org/drawingml/2006/main">
            <a:off x="0" y="0"/>
            <a:ext cx="12192000" cy="742950"/>
          </a:xfrm>
          <a:prstGeom xmlns:a="http://schemas.openxmlformats.org/drawingml/2006/main" prst="rect">
            <a:avLst/>
          </a:prstGeom>
          <a:solidFill xmlns:a="http://schemas.openxmlformats.org/drawingml/2006/main">
            <a:srgbClr val="123E2A"/>
          </a:solidFill>
          <a:ln xmlns:a="http://schemas.openxmlformats.org/drawingml/2006/main" w="0">
            <a:solidFill>
              <a:srgbClr val="123E2A"/>
            </a:solidFill>
            <a:prstDash val="solid"/>
          </a:ln>
        </p:spPr>
      </p:sp>
      <p:sp>
        <p:nvSpPr>
          <p:cNvPr id="2" name="eyebrow-8">
            <a:extLst xmlns:a="http://schemas.openxmlformats.org/drawingml/2006/main">
              <a:ext uri="{FF2B5EF4-FFF2-40B4-BE49-F238E27FC236}">
                <a16:creationId xmlns:a16="http://schemas.microsoft.com/office/drawing/2014/main" id="{819CC6D5-A85F-4601-B416-9638A62B8636}"/>
              </a:ext>
            </a:extLst>
          </p:cNvPr>
          <p:cNvSpPr>
            <a:spLocks xmlns:a="http://schemas.openxmlformats.org/drawingml/2006/main" noGrp="1"/>
          </p:cNvSpPr>
          <p:nvPr/>
        </p:nvSpPr>
        <p:spPr>
          <a:xfrm xmlns:a="http://schemas.openxmlformats.org/drawingml/2006/main">
            <a:off x="514350" y="11430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TASK 11  •  PRIMARY INDUSTRIES</a:t>
            </a:r>
          </a:p>
        </p:txBody>
      </p:sp>
      <p:sp>
        <p:nvSpPr>
          <p:cNvPr id="3" name="title-8">
            <a:extLst xmlns:a="http://schemas.openxmlformats.org/drawingml/2006/main">
              <a:ext uri="{FF2B5EF4-FFF2-40B4-BE49-F238E27FC236}">
                <a16:creationId xmlns:a16="http://schemas.microsoft.com/office/drawing/2014/main" id="{91674718-72E0-4289-936C-36EA1FBADC74}"/>
              </a:ext>
            </a:extLst>
          </p:cNvPr>
          <p:cNvSpPr>
            <a:spLocks xmlns:a="http://schemas.openxmlformats.org/drawingml/2006/main" noGrp="1"/>
          </p:cNvSpPr>
          <p:nvPr/>
        </p:nvSpPr>
        <p:spPr>
          <a:xfrm xmlns:a="http://schemas.openxmlformats.org/drawingml/2006/main">
            <a:off x="514350" y="333375"/>
            <a:ext cx="11144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FFFFFF"/>
                </a:solidFill>
              </a:defRPr>
            </a:pPr>
            <a:r>
              <a:rPr sz="2700" b="1">
                <a:solidFill>
                  <a:srgbClr val="FFFFFF"/>
                </a:solidFill>
              </a:rPr>
              <a:t>Report an incident and propose improvement</a:t>
            </a:r>
          </a:p>
        </p:txBody>
      </p:sp>
      <p:sp>
        <p:nvSpPr>
          <p:cNvPr id="4" name="">
            <a:extLst xmlns:a="http://schemas.openxmlformats.org/drawingml/2006/main">
              <a:ext uri="{FF2B5EF4-FFF2-40B4-BE49-F238E27FC236}">
                <a16:creationId xmlns:a16="http://schemas.microsoft.com/office/drawing/2014/main" id="{87B8B9D9-B354-4735-A81C-19967B6F1228}"/>
              </a:ext>
            </a:extLst>
          </p:cNvPr>
          <p:cNvSpPr>
            <a:spLocks xmlns:a="http://schemas.openxmlformats.org/drawingml/2006/main" noGrp="1"/>
          </p:cNvSpPr>
          <p:nvPr/>
        </p:nvSpPr>
        <p:spPr>
          <a:xfrm xmlns:a="http://schemas.openxmlformats.org/drawingml/2006/main">
            <a:off x="514350" y="6515100"/>
            <a:ext cx="895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B6E65"/>
                </a:solidFill>
              </a:defRPr>
            </a:pPr>
            <a:r>
              <a:rPr sz="900" b="0">
                <a:solidFill>
                  <a:srgbClr val="5B6E65"/>
                </a:solidFill>
              </a:rPr>
              <a:t>AHC20122 PRIMARY INDUSTRIES  •  TASK 11</a:t>
            </a:r>
          </a:p>
        </p:txBody>
      </p:sp>
      <p:sp>
        <p:nvSpPr>
          <p:cNvPr id="5" name="">
            <a:extLst xmlns:a="http://schemas.openxmlformats.org/drawingml/2006/main">
              <a:ext uri="{FF2B5EF4-FFF2-40B4-BE49-F238E27FC236}">
                <a16:creationId xmlns:a16="http://schemas.microsoft.com/office/drawing/2014/main" id="{C84A886F-FDED-4D11-AC14-BE0EE501C218}"/>
              </a:ext>
            </a:extLst>
          </p:cNvPr>
          <p:cNvSpPr>
            <a:spLocks xmlns:a="http://schemas.openxmlformats.org/drawingml/2006/main" noGrp="1"/>
          </p:cNvSpPr>
          <p:nvPr/>
        </p:nvSpPr>
        <p:spPr>
          <a:xfrm xmlns:a="http://schemas.openxmlformats.org/drawingml/2006/main">
            <a:off x="10953750" y="6515100"/>
            <a:ext cx="723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5B6E65"/>
                </a:solidFill>
              </a:defRPr>
            </a:pPr>
            <a:r>
              <a:rPr sz="900" b="1">
                <a:solidFill>
                  <a:srgbClr val="5B6E65"/>
                </a:solidFill>
              </a:rPr>
              <a:t>8/10</a:t>
            </a:r>
          </a:p>
        </p:txBody>
      </p:sp>
      <p:sp>
        <p:nvSpPr>
          <p:cNvPr id="6" name="">
            <a:extLst xmlns:a="http://schemas.openxmlformats.org/drawingml/2006/main">
              <a:ext uri="{FF2B5EF4-FFF2-40B4-BE49-F238E27FC236}">
                <a16:creationId xmlns:a16="http://schemas.microsoft.com/office/drawing/2014/main" id="{7DA4AAD0-C34E-465D-924C-BC9AF7979F4C}"/>
              </a:ext>
            </a:extLst>
          </p:cNvPr>
          <p:cNvSpPr>
            <a:spLocks xmlns:a="http://schemas.openxmlformats.org/drawingml/2006/main" noGrp="1"/>
          </p:cNvSpPr>
          <p:nvPr/>
        </p:nvSpPr>
        <p:spPr>
          <a:xfrm xmlns:a="http://schemas.openxmlformats.org/drawingml/2006/main">
            <a:off x="5676900" y="971550"/>
            <a:ext cx="6096000" cy="4667250"/>
          </a:xfrm>
          <a:prstGeom xmlns:a="http://schemas.openxmlformats.org/drawingml/2006/main" prst="roundRect">
            <a:avLst>
              <a:gd name="adj" fmla="val 3673"/>
            </a:avLst>
          </a:prstGeom>
          <a:solidFill xmlns:a="http://schemas.openxmlformats.org/drawingml/2006/main">
            <a:srgbClr val="FFFFFF"/>
          </a:solidFill>
          <a:ln xmlns:a="http://schemas.openxmlformats.org/drawingml/2006/main" w="9525">
            <a:solidFill>
              <a:srgbClr val="CBD4C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7e6bb1bdb5444385">
            <a:extLst>
              <a:ext uri="{96DAC541-7B7A-43D3-8B79-37D633B846F1}">
                <asvg:svgBlip xmlns:asvg="http://schemas.microsoft.com/office/drawing/2016/SVG/main" r:embed="Raa299d73c9604940"/>
              </a:ext>
            </a:extLst>
          </a:blip>
          <a:stretch xmlns:a="http://schemas.openxmlformats.org/drawingml/2006/main"/>
        </p:blipFill>
        <p:spPr>
          <a:xfrm xmlns:a="http://schemas.openxmlformats.org/drawingml/2006/main">
            <a:off x="5772150" y="1066800"/>
            <a:ext cx="5905500" cy="44767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EFDA7671-CC79-4CFF-9140-71E43E297318}"/>
              </a:ext>
            </a:extLst>
          </p:cNvPr>
          <p:cNvSpPr>
            <a:spLocks xmlns:a="http://schemas.openxmlformats.org/drawingml/2006/main" noGrp="1"/>
          </p:cNvSpPr>
          <p:nvPr/>
        </p:nvSpPr>
        <p:spPr>
          <a:xfrm xmlns:a="http://schemas.openxmlformats.org/drawingml/2006/main">
            <a:off x="514350" y="1066800"/>
            <a:ext cx="4838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B45F3E"/>
                </a:solidFill>
              </a:defRPr>
            </a:pPr>
            <a:r>
              <a:rPr sz="1125" b="1">
                <a:solidFill>
                  <a:srgbClr val="B45F3E"/>
                </a:solidFill>
              </a:rPr>
              <a:t>NOTICE</a:t>
            </a:r>
          </a:p>
        </p:txBody>
      </p:sp>
      <p:sp>
        <p:nvSpPr>
          <p:cNvPr id="9" name="">
            <a:extLst xmlns:a="http://schemas.openxmlformats.org/drawingml/2006/main">
              <a:ext uri="{FF2B5EF4-FFF2-40B4-BE49-F238E27FC236}">
                <a16:creationId xmlns:a16="http://schemas.microsoft.com/office/drawing/2014/main" id="{2938F790-8EE7-43AF-8305-E5F5B74DE1D8}"/>
              </a:ext>
            </a:extLst>
          </p:cNvPr>
          <p:cNvSpPr>
            <a:spLocks xmlns:a="http://schemas.openxmlformats.org/drawingml/2006/main" noGrp="1"/>
          </p:cNvSpPr>
          <p:nvPr/>
        </p:nvSpPr>
        <p:spPr>
          <a:xfrm xmlns:a="http://schemas.openxmlformats.org/drawingml/2006/main">
            <a:off x="514350" y="1428750"/>
            <a:ext cx="48387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123E2A"/>
                </a:solidFill>
              </a:defRPr>
            </a:pPr>
            <a:r>
              <a:rPr sz="1725" b="1">
                <a:solidFill>
                  <a:srgbClr val="123E2A"/>
                </a:solidFill>
              </a:rPr>
              <a:t>• Recognise events, issues and trends</a:t>
            </a:r>
          </a:p>
          <a:p xmlns:a="http://schemas.openxmlformats.org/drawingml/2006/main">
            <a:pPr algn="l">
              <a:defRPr sz="1725" b="1">
                <a:solidFill>
                  <a:srgbClr val="123E2A"/>
                </a:solidFill>
              </a:defRPr>
            </a:pPr>
            <a:r>
              <a:rPr sz="1725" b="1">
                <a:solidFill>
                  <a:srgbClr val="123E2A"/>
                </a:solidFill>
              </a:rPr>
              <a:t>• Protect first, but only through authorised direction</a:t>
            </a:r>
          </a:p>
        </p:txBody>
      </p:sp>
      <p:sp>
        <p:nvSpPr>
          <p:cNvPr id="10" name="">
            <a:extLst xmlns:a="http://schemas.openxmlformats.org/drawingml/2006/main">
              <a:ext uri="{FF2B5EF4-FFF2-40B4-BE49-F238E27FC236}">
                <a16:creationId xmlns:a16="http://schemas.microsoft.com/office/drawing/2014/main" id="{D1636E76-36E9-407F-8011-AFDF634E316F}"/>
              </a:ext>
            </a:extLst>
          </p:cNvPr>
          <p:cNvSpPr>
            <a:spLocks xmlns:a="http://schemas.openxmlformats.org/drawingml/2006/main" noGrp="1"/>
          </p:cNvSpPr>
          <p:nvPr/>
        </p:nvSpPr>
        <p:spPr>
          <a:xfrm xmlns:a="http://schemas.openxmlformats.org/drawingml/2006/main">
            <a:off x="514350" y="2438400"/>
            <a:ext cx="4838700" cy="1771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173128"/>
                </a:solidFill>
              </a:defRPr>
            </a:pPr>
            <a:r>
              <a:rPr sz="1500" b="0">
                <a:solidFill>
                  <a:srgbClr val="173128"/>
                </a:solidFill>
              </a:rPr>
              <a:t>An environmental event is a specific occurrence, an issue is a condition needing attention and a trend is a pattern across comparable observations. When an unexpected environmental condition is observed, the learner keeps outside the affected area, avoids disturbing evidence and reports through the current workplace channel.</a:t>
            </a:r>
          </a:p>
        </p:txBody>
      </p:sp>
      <p:sp>
        <p:nvSpPr>
          <p:cNvPr id="11" name="">
            <a:extLst xmlns:a="http://schemas.openxmlformats.org/drawingml/2006/main">
              <a:ext uri="{FF2B5EF4-FFF2-40B4-BE49-F238E27FC236}">
                <a16:creationId xmlns:a16="http://schemas.microsoft.com/office/drawing/2014/main" id="{99216CB6-17A8-44E8-8AA3-195BB0CE18D4}"/>
              </a:ext>
            </a:extLst>
          </p:cNvPr>
          <p:cNvSpPr>
            <a:spLocks xmlns:a="http://schemas.openxmlformats.org/drawingml/2006/main" noGrp="1"/>
          </p:cNvSpPr>
          <p:nvPr/>
        </p:nvSpPr>
        <p:spPr>
          <a:xfrm xmlns:a="http://schemas.openxmlformats.org/drawingml/2006/main">
            <a:off x="514350" y="4400550"/>
            <a:ext cx="4838700" cy="1028700"/>
          </a:xfrm>
          <a:prstGeom xmlns:a="http://schemas.openxmlformats.org/drawingml/2006/main" prst="roundRect">
            <a:avLst>
              <a:gd name="adj" fmla="val 16667"/>
            </a:avLst>
          </a:prstGeom>
          <a:solidFill xmlns:a="http://schemas.openxmlformats.org/drawingml/2006/main">
            <a:srgbClr val="F3EEDF"/>
          </a:solidFill>
          <a:ln xmlns:a="http://schemas.openxmlformats.org/drawingml/2006/main" w="9525">
            <a:solidFill>
              <a:srgbClr val="D4A62A"/>
            </a:solidFill>
            <a:prstDash val="solid"/>
          </a:ln>
        </p:spPr>
      </p:sp>
      <p:sp>
        <p:nvSpPr>
          <p:cNvPr id="12" name="">
            <a:extLst xmlns:a="http://schemas.openxmlformats.org/drawingml/2006/main">
              <a:ext uri="{FF2B5EF4-FFF2-40B4-BE49-F238E27FC236}">
                <a16:creationId xmlns:a16="http://schemas.microsoft.com/office/drawing/2014/main" id="{BEEB36CA-08CA-4D87-BAEB-7A491D873D8A}"/>
              </a:ext>
            </a:extLst>
          </p:cNvPr>
          <p:cNvSpPr>
            <a:spLocks xmlns:a="http://schemas.openxmlformats.org/drawingml/2006/main" noGrp="1"/>
          </p:cNvSpPr>
          <p:nvPr/>
        </p:nvSpPr>
        <p:spPr>
          <a:xfrm xmlns:a="http://schemas.openxmlformats.org/drawingml/2006/main">
            <a:off x="685800" y="4533900"/>
            <a:ext cx="44958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123E2A"/>
                </a:solidFill>
              </a:defRPr>
            </a:pPr>
            <a:r>
              <a:rPr sz="1350" b="1">
                <a:solidFill>
                  <a:srgbClr val="123E2A"/>
                </a:solidFill>
              </a:rPr>
              <a:t>LOOK FOR</a:t>
            </a:r>
          </a:p>
          <a:p xmlns:a="http://schemas.openxmlformats.org/drawingml/2006/main">
            <a:pPr algn="l">
              <a:defRPr sz="1350" b="1">
                <a:solidFill>
                  <a:srgbClr val="123E2A"/>
                </a:solidFill>
              </a:defRPr>
            </a:pPr>
            <a:r>
              <a:rPr sz="1350" b="1">
                <a:solidFill>
                  <a:srgbClr val="123E2A"/>
                </a:solidFill>
              </a:rPr>
              <a:t>Connect the module's first four teaching ideas before students apply them to a fictional agricultural decision.</a:t>
            </a:r>
          </a:p>
        </p:txBody>
      </p:sp>
      <p:sp>
        <p:nvSpPr>
          <p:cNvPr id="13" name="">
            <a:extLst xmlns:a="http://schemas.openxmlformats.org/drawingml/2006/main">
              <a:ext uri="{FF2B5EF4-FFF2-40B4-BE49-F238E27FC236}">
                <a16:creationId xmlns:a16="http://schemas.microsoft.com/office/drawing/2014/main" id="{5660C9BF-D0BE-4F53-8C7B-8950715E5031}"/>
              </a:ext>
            </a:extLst>
          </p:cNvPr>
          <p:cNvSpPr>
            <a:spLocks xmlns:a="http://schemas.openxmlformats.org/drawingml/2006/main" noGrp="1"/>
          </p:cNvSpPr>
          <p:nvPr/>
        </p:nvSpPr>
        <p:spPr>
          <a:xfrm xmlns:a="http://schemas.openxmlformats.org/drawingml/2006/main">
            <a:off x="628650" y="5829300"/>
            <a:ext cx="10953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5B6E65"/>
                </a:solidFill>
              </a:defRPr>
            </a:pPr>
            <a:r>
              <a:rPr sz="1125" b="0">
                <a:solidFill>
                  <a:srgbClr val="5B6E65"/>
                </a:solidFill>
              </a:rPr>
              <a:t>Use the map to connect the lesson ideas, then confirm any real procedure or decision through the current authorised source.</a:t>
            </a:r>
          </a:p>
        </p:txBody>
      </p:sp>
    </p:spTree>
    <p:extLst>
      <p:ext uri="{BB962C8B-B14F-4D97-AF65-F5344CB8AC3E}">
        <p14:creationId xmlns:p14="http://schemas.microsoft.com/office/powerpoint/2010/main" val="1995581912"/>
      </p:ext>
    </p:extLst>
  </p:cSld>
</p:sld>
</file>

<file path=ppt/slides/slide9.xml><?xml version="1.0" encoding="utf-8"?>
<p:sld xmlns:p="http://schemas.openxmlformats.org/presentationml/2006/main">
  <p:cSld>
    <p:bg>
      <p:bgPr>
        <a:solidFill xmlns:a="http://schemas.openxmlformats.org/drawingml/2006/main">
          <a:srgbClr val="F3EED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D0FA746E-6FAC-4F08-B5AB-95726B54EA4F}"/>
              </a:ext>
            </a:extLst>
          </p:cNvPr>
          <p:cNvSpPr>
            <a:spLocks xmlns:a="http://schemas.openxmlformats.org/drawingml/2006/main" noGrp="1"/>
          </p:cNvSpPr>
          <p:nvPr/>
        </p:nvSpPr>
        <p:spPr>
          <a:xfrm xmlns:a="http://schemas.openxmlformats.org/drawingml/2006/main">
            <a:off x="0" y="0"/>
            <a:ext cx="12192000" cy="742950"/>
          </a:xfrm>
          <a:prstGeom xmlns:a="http://schemas.openxmlformats.org/drawingml/2006/main" prst="rect">
            <a:avLst/>
          </a:prstGeom>
          <a:solidFill xmlns:a="http://schemas.openxmlformats.org/drawingml/2006/main">
            <a:srgbClr val="123E2A"/>
          </a:solidFill>
          <a:ln xmlns:a="http://schemas.openxmlformats.org/drawingml/2006/main" w="0">
            <a:solidFill>
              <a:srgbClr val="123E2A"/>
            </a:solidFill>
            <a:prstDash val="solid"/>
          </a:ln>
        </p:spPr>
      </p:sp>
      <p:sp>
        <p:nvSpPr>
          <p:cNvPr id="2" name="eyebrow-9">
            <a:extLst xmlns:a="http://schemas.openxmlformats.org/drawingml/2006/main">
              <a:ext uri="{FF2B5EF4-FFF2-40B4-BE49-F238E27FC236}">
                <a16:creationId xmlns:a16="http://schemas.microsoft.com/office/drawing/2014/main" id="{43739F9B-0E10-43C3-89AB-65125807AC97}"/>
              </a:ext>
            </a:extLst>
          </p:cNvPr>
          <p:cNvSpPr>
            <a:spLocks xmlns:a="http://schemas.openxmlformats.org/drawingml/2006/main" noGrp="1"/>
          </p:cNvSpPr>
          <p:nvPr/>
        </p:nvSpPr>
        <p:spPr>
          <a:xfrm xmlns:a="http://schemas.openxmlformats.org/drawingml/2006/main">
            <a:off x="514350" y="11430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TASK 11  •  PRIMARY INDUSTRIES</a:t>
            </a:r>
          </a:p>
        </p:txBody>
      </p:sp>
      <p:sp>
        <p:nvSpPr>
          <p:cNvPr id="3" name="title-9">
            <a:extLst xmlns:a="http://schemas.openxmlformats.org/drawingml/2006/main">
              <a:ext uri="{FF2B5EF4-FFF2-40B4-BE49-F238E27FC236}">
                <a16:creationId xmlns:a16="http://schemas.microsoft.com/office/drawing/2014/main" id="{254D0D19-613B-471D-9E31-BF64292AC00D}"/>
              </a:ext>
            </a:extLst>
          </p:cNvPr>
          <p:cNvSpPr>
            <a:spLocks xmlns:a="http://schemas.openxmlformats.org/drawingml/2006/main" noGrp="1"/>
          </p:cNvSpPr>
          <p:nvPr/>
        </p:nvSpPr>
        <p:spPr>
          <a:xfrm xmlns:a="http://schemas.openxmlformats.org/drawingml/2006/main">
            <a:off x="514350" y="333375"/>
            <a:ext cx="11144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FFFFFF"/>
                </a:solidFill>
              </a:defRPr>
            </a:pPr>
            <a:r>
              <a:rPr sz="2250" b="1">
                <a:solidFill>
                  <a:srgbClr val="FFFFFF"/>
                </a:solidFill>
              </a:rPr>
              <a:t>Report an incident and propose improvement: decide from evidence</a:t>
            </a:r>
          </a:p>
        </p:txBody>
      </p:sp>
      <p:sp>
        <p:nvSpPr>
          <p:cNvPr id="4" name="">
            <a:extLst xmlns:a="http://schemas.openxmlformats.org/drawingml/2006/main">
              <a:ext uri="{FF2B5EF4-FFF2-40B4-BE49-F238E27FC236}">
                <a16:creationId xmlns:a16="http://schemas.microsoft.com/office/drawing/2014/main" id="{3230F8B5-28DB-4F7D-A208-EC8AD6B5436E}"/>
              </a:ext>
            </a:extLst>
          </p:cNvPr>
          <p:cNvSpPr>
            <a:spLocks xmlns:a="http://schemas.openxmlformats.org/drawingml/2006/main" noGrp="1"/>
          </p:cNvSpPr>
          <p:nvPr/>
        </p:nvSpPr>
        <p:spPr>
          <a:xfrm xmlns:a="http://schemas.openxmlformats.org/drawingml/2006/main">
            <a:off x="514350" y="6515100"/>
            <a:ext cx="895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B6E65"/>
                </a:solidFill>
              </a:defRPr>
            </a:pPr>
            <a:r>
              <a:rPr sz="900" b="0">
                <a:solidFill>
                  <a:srgbClr val="5B6E65"/>
                </a:solidFill>
              </a:rPr>
              <a:t>AHC20122 PRIMARY INDUSTRIES  •  TASK 11</a:t>
            </a:r>
          </a:p>
        </p:txBody>
      </p:sp>
      <p:sp>
        <p:nvSpPr>
          <p:cNvPr id="5" name="">
            <a:extLst xmlns:a="http://schemas.openxmlformats.org/drawingml/2006/main">
              <a:ext uri="{FF2B5EF4-FFF2-40B4-BE49-F238E27FC236}">
                <a16:creationId xmlns:a16="http://schemas.microsoft.com/office/drawing/2014/main" id="{38B75D08-67D0-40FF-A893-E49227146BFC}"/>
              </a:ext>
            </a:extLst>
          </p:cNvPr>
          <p:cNvSpPr>
            <a:spLocks xmlns:a="http://schemas.openxmlformats.org/drawingml/2006/main" noGrp="1"/>
          </p:cNvSpPr>
          <p:nvPr/>
        </p:nvSpPr>
        <p:spPr>
          <a:xfrm xmlns:a="http://schemas.openxmlformats.org/drawingml/2006/main">
            <a:off x="10953750" y="6515100"/>
            <a:ext cx="723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5B6E65"/>
                </a:solidFill>
              </a:defRPr>
            </a:pPr>
            <a:r>
              <a:rPr sz="900" b="1">
                <a:solidFill>
                  <a:srgbClr val="5B6E65"/>
                </a:solidFill>
              </a:rPr>
              <a:t>9/10</a:t>
            </a:r>
          </a:p>
        </p:txBody>
      </p:sp>
      <p:sp>
        <p:nvSpPr>
          <p:cNvPr id="6" name="">
            <a:extLst xmlns:a="http://schemas.openxmlformats.org/drawingml/2006/main">
              <a:ext uri="{FF2B5EF4-FFF2-40B4-BE49-F238E27FC236}">
                <a16:creationId xmlns:a16="http://schemas.microsoft.com/office/drawing/2014/main" id="{5B6A8AB0-E463-4387-A636-E70AE0E0ED49}"/>
              </a:ext>
            </a:extLst>
          </p:cNvPr>
          <p:cNvSpPr>
            <a:spLocks xmlns:a="http://schemas.openxmlformats.org/drawingml/2006/main" noGrp="1"/>
          </p:cNvSpPr>
          <p:nvPr/>
        </p:nvSpPr>
        <p:spPr>
          <a:xfrm xmlns:a="http://schemas.openxmlformats.org/drawingml/2006/main">
            <a:off x="514350" y="1028700"/>
            <a:ext cx="6800850" cy="5010150"/>
          </a:xfrm>
          <a:prstGeom xmlns:a="http://schemas.openxmlformats.org/drawingml/2006/main" prst="roundRect">
            <a:avLst>
              <a:gd name="adj" fmla="val 3422"/>
            </a:avLst>
          </a:prstGeom>
          <a:solidFill xmlns:a="http://schemas.openxmlformats.org/drawingml/2006/main">
            <a:srgbClr val="FFFFFF"/>
          </a:solidFill>
          <a:ln xmlns:a="http://schemas.openxmlformats.org/drawingml/2006/main" w="9525">
            <a:solidFill>
              <a:srgbClr val="CBD4C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B961DCAB-DA9D-480A-A234-32A84F0DAA25}"/>
              </a:ext>
            </a:extLst>
          </p:cNvPr>
          <p:cNvSpPr>
            <a:spLocks xmlns:a="http://schemas.openxmlformats.org/drawingml/2006/main" noGrp="1"/>
          </p:cNvSpPr>
          <p:nvPr/>
        </p:nvSpPr>
        <p:spPr>
          <a:xfrm xmlns:a="http://schemas.openxmlformats.org/drawingml/2006/main">
            <a:off x="762000" y="125730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B45F3E"/>
                </a:solidFill>
              </a:defRPr>
            </a:pPr>
            <a:r>
              <a:rPr sz="1125" b="1">
                <a:solidFill>
                  <a:srgbClr val="B45F3E"/>
                </a:solidFill>
              </a:rPr>
              <a:t>FICTIONAL WORKPLACE EXAMPLE</a:t>
            </a:r>
          </a:p>
        </p:txBody>
      </p:sp>
      <p:sp>
        <p:nvSpPr>
          <p:cNvPr id="8" name="">
            <a:extLst xmlns:a="http://schemas.openxmlformats.org/drawingml/2006/main">
              <a:ext uri="{FF2B5EF4-FFF2-40B4-BE49-F238E27FC236}">
                <a16:creationId xmlns:a16="http://schemas.microsoft.com/office/drawing/2014/main" id="{9DA8D35C-C260-45C6-AEC4-D8B3F7C649B8}"/>
              </a:ext>
            </a:extLst>
          </p:cNvPr>
          <p:cNvSpPr>
            <a:spLocks xmlns:a="http://schemas.openxmlformats.org/drawingml/2006/main" noGrp="1"/>
          </p:cNvSpPr>
          <p:nvPr/>
        </p:nvSpPr>
        <p:spPr>
          <a:xfrm xmlns:a="http://schemas.openxmlformats.org/drawingml/2006/main">
            <a:off x="762000" y="1657350"/>
            <a:ext cx="6191250" cy="396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173128"/>
                </a:solidFill>
              </a:defRPr>
            </a:pPr>
            <a:r>
              <a:rPr sz="1425" b="0">
                <a:solidFill>
                  <a:srgbClr val="173128"/>
                </a:solidFill>
              </a:rPr>
              <a:t>OBSERVE  At 1:15 pm on 18 July 2027, a fictional training scene shows unusually cloudy water entering a marked drainage point beside a recently used wash area. The source is not visible.</a:t>
            </a:r>
          </a:p>
          <a:p xmlns:a="http://schemas.openxmlformats.org/drawingml/2006/main">
            <a:r>
              <a:t/>
            </a:r>
          </a:p>
          <a:p xmlns:a="http://schemas.openxmlformats.org/drawingml/2006/main">
            <a:pPr algn="l">
              <a:defRPr sz="1425" b="0">
                <a:solidFill>
                  <a:srgbClr val="173128"/>
                </a:solidFill>
              </a:defRPr>
            </a:pPr>
            <a:r>
              <a:rPr sz="1425" b="0">
                <a:solidFill>
                  <a:srgbClr val="173128"/>
                </a:solidFill>
              </a:rPr>
              <a:t>DECIDE   Grace records an environmental concern but does not identify the substance, cause or legal status from appearance.</a:t>
            </a:r>
          </a:p>
          <a:p xmlns:a="http://schemas.openxmlformats.org/drawingml/2006/main">
            <a:r>
              <a:t/>
            </a:r>
          </a:p>
          <a:p xmlns:a="http://schemas.openxmlformats.org/drawingml/2006/main">
            <a:pPr algn="l">
              <a:defRPr sz="1425" b="0">
                <a:solidFill>
                  <a:srgbClr val="173128"/>
                </a:solidFill>
              </a:defRPr>
            </a:pPr>
            <a:r>
              <a:rPr sz="1425" b="0">
                <a:solidFill>
                  <a:srgbClr val="173128"/>
                </a:solidFill>
              </a:rPr>
              <a:t>ACT      She remains outside the marked area and reports the time, location, colour change, flow direction and current task status through the fictional supervisor channel.</a:t>
            </a:r>
          </a:p>
          <a:p xmlns:a="http://schemas.openxmlformats.org/drawingml/2006/main">
            <a:r>
              <a:t/>
            </a:r>
          </a:p>
          <a:p xmlns:a="http://schemas.openxmlformats.org/drawingml/2006/main">
            <a:pPr algn="l">
              <a:defRPr sz="1425" b="0">
                <a:solidFill>
                  <a:srgbClr val="173128"/>
                </a:solidFill>
              </a:defRPr>
            </a:pPr>
            <a:r>
              <a:rPr sz="1425" b="0">
                <a:solidFill>
                  <a:srgbClr val="173128"/>
                </a:solidFill>
              </a:rPr>
              <a:t>RECORD   Grace completes only the factual fields she can verify and later contributes observations to a separate cause-review discussion.</a:t>
            </a:r>
          </a:p>
        </p:txBody>
      </p:sp>
      <p:sp>
        <p:nvSpPr>
          <p:cNvPr id="9" name="">
            <a:extLst xmlns:a="http://schemas.openxmlformats.org/drawingml/2006/main">
              <a:ext uri="{FF2B5EF4-FFF2-40B4-BE49-F238E27FC236}">
                <a16:creationId xmlns:a16="http://schemas.microsoft.com/office/drawing/2014/main" id="{A92CB5D4-A601-4981-8DA9-8AD97561B597}"/>
              </a:ext>
            </a:extLst>
          </p:cNvPr>
          <p:cNvSpPr>
            <a:spLocks xmlns:a="http://schemas.openxmlformats.org/drawingml/2006/main" noGrp="1"/>
          </p:cNvSpPr>
          <p:nvPr/>
        </p:nvSpPr>
        <p:spPr>
          <a:xfrm xmlns:a="http://schemas.openxmlformats.org/drawingml/2006/main">
            <a:off x="7658100" y="1028700"/>
            <a:ext cx="4019550" cy="5010150"/>
          </a:xfrm>
          <a:prstGeom xmlns:a="http://schemas.openxmlformats.org/drawingml/2006/main" prst="roundRect">
            <a:avLst>
              <a:gd name="adj" fmla="val 4265"/>
            </a:avLst>
          </a:prstGeom>
          <a:solidFill xmlns:a="http://schemas.openxmlformats.org/drawingml/2006/main">
            <a:srgbClr val="123E2A"/>
          </a:solidFill>
          <a:ln xmlns:a="http://schemas.openxmlformats.org/drawingml/2006/main" w="0">
            <a:solidFill>
              <a:srgbClr val="123E2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A82787E5-56A7-4D3F-B20A-E86A4BC8B1A5}"/>
              </a:ext>
            </a:extLst>
          </p:cNvPr>
          <p:cNvSpPr>
            <a:spLocks xmlns:a="http://schemas.openxmlformats.org/drawingml/2006/main" noGrp="1"/>
          </p:cNvSpPr>
          <p:nvPr/>
        </p:nvSpPr>
        <p:spPr>
          <a:xfrm xmlns:a="http://schemas.openxmlformats.org/drawingml/2006/main">
            <a:off x="7905750" y="12573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CHECK YOUR DECISION</a:t>
            </a:r>
          </a:p>
        </p:txBody>
      </p:sp>
      <p:sp>
        <p:nvSpPr>
          <p:cNvPr id="11" name="">
            <a:extLst xmlns:a="http://schemas.openxmlformats.org/drawingml/2006/main">
              <a:ext uri="{FF2B5EF4-FFF2-40B4-BE49-F238E27FC236}">
                <a16:creationId xmlns:a16="http://schemas.microsoft.com/office/drawing/2014/main" id="{84A5BAD4-26C1-4821-877C-802561183594}"/>
              </a:ext>
            </a:extLst>
          </p:cNvPr>
          <p:cNvSpPr>
            <a:spLocks xmlns:a="http://schemas.openxmlformats.org/drawingml/2006/main" noGrp="1"/>
          </p:cNvSpPr>
          <p:nvPr/>
        </p:nvSpPr>
        <p:spPr>
          <a:xfrm xmlns:a="http://schemas.openxmlformats.org/drawingml/2006/main">
            <a:off x="7905750" y="1619250"/>
            <a:ext cx="3429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FFFFF"/>
                </a:solidFill>
              </a:defRPr>
            </a:pPr>
            <a:r>
              <a:rPr sz="1725" b="1">
                <a:solidFill>
                  <a:srgbClr val="FFFFFF"/>
                </a:solidFill>
              </a:rPr>
              <a:t>What is the strongest first report of cloudy water at a fictional drainage point?</a:t>
            </a:r>
          </a:p>
        </p:txBody>
      </p:sp>
      <p:sp>
        <p:nvSpPr>
          <p:cNvPr id="12" name="">
            <a:extLst xmlns:a="http://schemas.openxmlformats.org/drawingml/2006/main">
              <a:ext uri="{FF2B5EF4-FFF2-40B4-BE49-F238E27FC236}">
                <a16:creationId xmlns:a16="http://schemas.microsoft.com/office/drawing/2014/main" id="{FF720CC5-D25E-4921-9CAE-90C63550F9A0}"/>
              </a:ext>
            </a:extLst>
          </p:cNvPr>
          <p:cNvSpPr>
            <a:spLocks xmlns:a="http://schemas.openxmlformats.org/drawingml/2006/main" noGrp="1"/>
          </p:cNvSpPr>
          <p:nvPr/>
        </p:nvSpPr>
        <p:spPr>
          <a:xfrm xmlns:a="http://schemas.openxmlformats.org/drawingml/2006/main">
            <a:off x="7905750" y="2895600"/>
            <a:ext cx="34290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F3EEDF"/>
                </a:solidFill>
              </a:defRPr>
            </a:pPr>
            <a:r>
              <a:rPr sz="1350" b="0">
                <a:solidFill>
                  <a:srgbClr val="F3EEDF"/>
                </a:solidFill>
              </a:rPr>
              <a:t>A  Name the contaminant and responsible person from appearance.</a:t>
            </a:r>
          </a:p>
          <a:p xmlns:a="http://schemas.openxmlformats.org/drawingml/2006/main">
            <a:r>
              <a:t/>
            </a:r>
          </a:p>
          <a:p xmlns:a="http://schemas.openxmlformats.org/drawingml/2006/main">
            <a:pPr algn="l">
              <a:defRPr sz="1350" b="0">
                <a:solidFill>
                  <a:srgbClr val="F3EEDF"/>
                </a:solidFill>
              </a:defRPr>
            </a:pPr>
            <a:r>
              <a:rPr sz="1350" b="0">
                <a:solidFill>
                  <a:srgbClr val="F3EEDF"/>
                </a:solidFill>
              </a:rPr>
              <a:t>B  Record time, location, observable change, flow direction, task status and person notified.</a:t>
            </a:r>
          </a:p>
          <a:p xmlns:a="http://schemas.openxmlformats.org/drawingml/2006/main">
            <a:r>
              <a:t/>
            </a:r>
          </a:p>
          <a:p xmlns:a="http://schemas.openxmlformats.org/drawingml/2006/main">
            <a:pPr algn="l">
              <a:defRPr sz="1350" b="0">
                <a:solidFill>
                  <a:srgbClr val="F3EEDF"/>
                </a:solidFill>
              </a:defRPr>
            </a:pPr>
            <a:r>
              <a:rPr sz="1350" b="0">
                <a:solidFill>
                  <a:srgbClr val="F3EEDF"/>
                </a:solidFill>
              </a:rPr>
              <a:t>C  Wait until visible harm occurs so the report is definite.</a:t>
            </a:r>
          </a:p>
        </p:txBody>
      </p:sp>
      <p:sp>
        <p:nvSpPr>
          <p:cNvPr id="13" name="">
            <a:extLst xmlns:a="http://schemas.openxmlformats.org/drawingml/2006/main">
              <a:ext uri="{FF2B5EF4-FFF2-40B4-BE49-F238E27FC236}">
                <a16:creationId xmlns:a16="http://schemas.microsoft.com/office/drawing/2014/main" id="{F31C0F83-2E71-4CC4-959E-953C94495BBD}"/>
              </a:ext>
            </a:extLst>
          </p:cNvPr>
          <p:cNvSpPr>
            <a:spLocks xmlns:a="http://schemas.openxmlformats.org/drawingml/2006/main" noGrp="1"/>
          </p:cNvSpPr>
          <p:nvPr/>
        </p:nvSpPr>
        <p:spPr>
          <a:xfrm xmlns:a="http://schemas.openxmlformats.org/drawingml/2006/main">
            <a:off x="7905750" y="5257800"/>
            <a:ext cx="342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BBD6D0"/>
                </a:solidFill>
              </a:defRPr>
            </a:pPr>
            <a:r>
              <a:rPr sz="1200" b="1">
                <a:solidFill>
                  <a:srgbClr val="BBD6D0"/>
                </a:solidFill>
              </a:rPr>
              <a:t>HELP  When, where, what seen, where moving, task status, who told.</a:t>
            </a:r>
          </a:p>
        </p:txBody>
      </p:sp>
    </p:spTree>
    <p:extLst>
      <p:ext uri="{BB962C8B-B14F-4D97-AF65-F5344CB8AC3E}">
        <p14:creationId xmlns:p14="http://schemas.microsoft.com/office/powerpoint/2010/main" val="1734401394"/>
      </p:ext>
    </p:extLst>
  </p:cSld>
</p:sld>
</file>

<file path=ppt/slides/slide10.xml><?xml version="1.0" encoding="utf-8"?>
<p:sld xmlns:p="http://schemas.openxmlformats.org/presentationml/2006/main">
  <p:cSld>
    <p:bg>
      <p:bgPr>
        <a:solidFill xmlns:a="http://schemas.openxmlformats.org/drawingml/2006/main">
          <a:srgbClr val="123E2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47DD752-31AA-4819-95EF-BDFED40E41CD}"/>
              </a:ext>
            </a:extLst>
          </p:cNvPr>
          <p:cNvSpPr>
            <a:spLocks xmlns:a="http://schemas.openxmlformats.org/drawingml/2006/main" noGrp="1"/>
          </p:cNvSpPr>
          <p:nvPr/>
        </p:nvSpPr>
        <p:spPr>
          <a:xfrm xmlns:a="http://schemas.openxmlformats.org/drawingml/2006/main">
            <a:off x="571500" y="457200"/>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D4A62A"/>
                </a:solidFill>
              </a:defRPr>
            </a:pPr>
            <a:r>
              <a:rPr sz="1200" b="1">
                <a:solidFill>
                  <a:srgbClr val="D4A62A"/>
                </a:solidFill>
              </a:rPr>
              <a:t>CLOSE THE LOOP WITH EVIDENCE</a:t>
            </a:r>
          </a:p>
        </p:txBody>
      </p:sp>
      <p:sp>
        <p:nvSpPr>
          <p:cNvPr id="2" name="">
            <a:extLst xmlns:a="http://schemas.openxmlformats.org/drawingml/2006/main">
              <a:ext uri="{FF2B5EF4-FFF2-40B4-BE49-F238E27FC236}">
                <a16:creationId xmlns:a16="http://schemas.microsoft.com/office/drawing/2014/main" id="{F080BE37-6032-45E5-B47F-D41C90824099}"/>
              </a:ext>
            </a:extLst>
          </p:cNvPr>
          <p:cNvSpPr>
            <a:spLocks xmlns:a="http://schemas.openxmlformats.org/drawingml/2006/main" noGrp="1"/>
          </p:cNvSpPr>
          <p:nvPr/>
        </p:nvSpPr>
        <p:spPr>
          <a:xfrm xmlns:a="http://schemas.openxmlformats.org/drawingml/2006/main">
            <a:off x="571500" y="87630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FFFFFF"/>
                </a:solidFill>
              </a:defRPr>
            </a:pPr>
            <a:r>
              <a:rPr sz="3150" b="1">
                <a:solidFill>
                  <a:srgbClr val="FFFFFF"/>
                </a:solidFill>
              </a:rPr>
              <a:t>Apply the task route — then check the boundary</a:t>
            </a:r>
          </a:p>
        </p:txBody>
      </p:sp>
      <p:sp>
        <p:nvSpPr>
          <p:cNvPr id="3" name="">
            <a:extLst xmlns:a="http://schemas.openxmlformats.org/drawingml/2006/main">
              <a:ext uri="{FF2B5EF4-FFF2-40B4-BE49-F238E27FC236}">
                <a16:creationId xmlns:a16="http://schemas.microsoft.com/office/drawing/2014/main" id="{8FB265AD-8855-4F1C-85C9-0F3AEDEAB9FC}"/>
              </a:ext>
            </a:extLst>
          </p:cNvPr>
          <p:cNvSpPr>
            <a:spLocks xmlns:a="http://schemas.openxmlformats.org/drawingml/2006/main" noGrp="1"/>
          </p:cNvSpPr>
          <p:nvPr/>
        </p:nvSpPr>
        <p:spPr>
          <a:xfrm xmlns:a="http://schemas.openxmlformats.org/drawingml/2006/main">
            <a:off x="571500" y="1809750"/>
            <a:ext cx="409575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F3EEDF"/>
                </a:solidFill>
              </a:defRPr>
            </a:pPr>
            <a:r>
              <a:rPr sz="1650" b="1">
                <a:solidFill>
                  <a:srgbClr val="F3EEDF"/>
                </a:solidFill>
              </a:rPr>
              <a:t>01  Environmental hazards and pathways</a:t>
            </a:r>
          </a:p>
          <a:p xmlns:a="http://schemas.openxmlformats.org/drawingml/2006/main">
            <a:r>
              <a:t/>
            </a:r>
          </a:p>
          <a:p xmlns:a="http://schemas.openxmlformats.org/drawingml/2006/main">
            <a:pPr algn="l">
              <a:defRPr sz="1650" b="1">
                <a:solidFill>
                  <a:srgbClr val="F3EEDF"/>
                </a:solidFill>
              </a:defRPr>
            </a:pPr>
            <a:r>
              <a:rPr sz="1650" b="1">
                <a:solidFill>
                  <a:srgbClr val="F3EEDF"/>
                </a:solidFill>
              </a:rPr>
              <a:t>02  Protect soil, water, habitat and resources</a:t>
            </a:r>
          </a:p>
          <a:p xmlns:a="http://schemas.openxmlformats.org/drawingml/2006/main">
            <a:r>
              <a:t/>
            </a:r>
          </a:p>
          <a:p xmlns:a="http://schemas.openxmlformats.org/drawingml/2006/main">
            <a:pPr algn="l">
              <a:defRPr sz="1650" b="1">
                <a:solidFill>
                  <a:srgbClr val="F3EEDF"/>
                </a:solidFill>
              </a:defRPr>
            </a:pPr>
            <a:r>
              <a:rPr sz="1650" b="1">
                <a:solidFill>
                  <a:srgbClr val="F3EEDF"/>
                </a:solidFill>
              </a:rPr>
              <a:t>03  Measure resource use before improving it</a:t>
            </a:r>
          </a:p>
          <a:p xmlns:a="http://schemas.openxmlformats.org/drawingml/2006/main">
            <a:r>
              <a:t/>
            </a:r>
          </a:p>
          <a:p xmlns:a="http://schemas.openxmlformats.org/drawingml/2006/main">
            <a:pPr algn="l">
              <a:defRPr sz="1650" b="1">
                <a:solidFill>
                  <a:srgbClr val="F3EEDF"/>
                </a:solidFill>
              </a:defRPr>
            </a:pPr>
            <a:r>
              <a:rPr sz="1650" b="1">
                <a:solidFill>
                  <a:srgbClr val="F3EEDF"/>
                </a:solidFill>
              </a:rPr>
              <a:t>04  Report an incident and propose improvement</a:t>
            </a:r>
          </a:p>
        </p:txBody>
      </p:sp>
      <p:sp>
        <p:nvSpPr>
          <p:cNvPr id="4" name="">
            <a:extLst xmlns:a="http://schemas.openxmlformats.org/drawingml/2006/main">
              <a:ext uri="{FF2B5EF4-FFF2-40B4-BE49-F238E27FC236}">
                <a16:creationId xmlns:a16="http://schemas.microsoft.com/office/drawing/2014/main" id="{D1619D93-14E7-4541-A4AE-5DB7EAED2F16}"/>
              </a:ext>
            </a:extLst>
          </p:cNvPr>
          <p:cNvSpPr>
            <a:spLocks xmlns:a="http://schemas.openxmlformats.org/drawingml/2006/main" noGrp="1"/>
          </p:cNvSpPr>
          <p:nvPr/>
        </p:nvSpPr>
        <p:spPr>
          <a:xfrm xmlns:a="http://schemas.openxmlformats.org/drawingml/2006/main">
            <a:off x="5143500" y="1809750"/>
            <a:ext cx="6191250" cy="3238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FFFFFF"/>
                </a:solidFill>
              </a:defRPr>
            </a:pPr>
            <a:r>
              <a:rPr sz="1350" b="0">
                <a:solidFill>
                  <a:srgbClr val="FFFFFF"/>
                </a:solidFill>
              </a:rPr>
              <a:t>Build a fictional pathway map</a:t>
            </a:r>
          </a:p>
          <a:p xmlns:a="http://schemas.openxmlformats.org/drawingml/2006/main">
            <a:pPr algn="l">
              <a:defRPr sz="1350" b="0">
                <a:solidFill>
                  <a:srgbClr val="FFFFFF"/>
                </a:solidFill>
              </a:defRPr>
            </a:pPr>
            <a:r>
              <a:rPr sz="1350" b="0">
                <a:solidFill>
                  <a:srgbClr val="FFFFFF"/>
                </a:solidFill>
              </a:rPr>
              <a:t>Annotate a teacher-provided privacy-safe farm scene with two source–pathway–receptor chains, one changed condition and one supervisor referral.</a:t>
            </a:r>
          </a:p>
          <a:p xmlns:a="http://schemas.openxmlformats.org/drawingml/2006/main">
            <a:r>
              <a:t/>
            </a:r>
          </a:p>
          <a:p xmlns:a="http://schemas.openxmlformats.org/drawingml/2006/main">
            <a:pPr algn="l">
              <a:defRPr sz="1350" b="0">
                <a:solidFill>
                  <a:srgbClr val="FFFFFF"/>
                </a:solidFill>
              </a:defRPr>
            </a:pPr>
            <a:r>
              <a:rPr sz="1350" b="0">
                <a:solidFill>
                  <a:srgbClr val="FFFFFF"/>
                </a:solidFill>
              </a:rPr>
              <a:t>Compare two fictional prevention options</a:t>
            </a:r>
          </a:p>
          <a:p xmlns:a="http://schemas.openxmlformats.org/drawingml/2006/main">
            <a:pPr algn="l">
              <a:defRPr sz="1350" b="0">
                <a:solidFill>
                  <a:srgbClr val="FFFFFF"/>
                </a:solidFill>
              </a:defRPr>
            </a:pPr>
            <a:r>
              <a:rPr sz="1350" b="0">
                <a:solidFill>
                  <a:srgbClr val="FFFFFF"/>
                </a:solidFill>
              </a:rPr>
              <a:t>Use a privacy-safe farm scene and teacher-supplied option cards.</a:t>
            </a:r>
          </a:p>
          <a:p xmlns:a="http://schemas.openxmlformats.org/drawingml/2006/main">
            <a:r>
              <a:t/>
            </a:r>
          </a:p>
          <a:p xmlns:a="http://schemas.openxmlformats.org/drawingml/2006/main">
            <a:pPr algn="l">
              <a:defRPr sz="1350" b="0">
                <a:solidFill>
                  <a:srgbClr val="FFFFFF"/>
                </a:solidFill>
              </a:defRPr>
            </a:pPr>
            <a:r>
              <a:rPr sz="1350" b="0">
                <a:solidFill>
                  <a:srgbClr val="FFFFFF"/>
                </a:solidFill>
              </a:rPr>
              <a:t>Build a fictional resource baseline</a:t>
            </a:r>
          </a:p>
          <a:p xmlns:a="http://schemas.openxmlformats.org/drawingml/2006/main">
            <a:pPr algn="l">
              <a:defRPr sz="1350" b="0">
                <a:solidFill>
                  <a:srgbClr val="FFFFFF"/>
                </a:solidFill>
              </a:defRPr>
            </a:pPr>
            <a:r>
              <a:rPr sz="1350" b="0">
                <a:solidFill>
                  <a:srgbClr val="FFFFFF"/>
                </a:solidFill>
              </a:rPr>
              <a:t>Calculate totals and one per-output ratio from a supplied dataset, mark any comparability gap and draft a supervisor-reviewed improvement question.</a:t>
            </a:r>
          </a:p>
          <a:p xmlns:a="http://schemas.openxmlformats.org/drawingml/2006/main">
            <a:r>
              <a:t/>
            </a:r>
          </a:p>
          <a:p xmlns:a="http://schemas.openxmlformats.org/drawingml/2006/main">
            <a:pPr algn="l">
              <a:defRPr sz="1350" b="0">
                <a:solidFill>
                  <a:srgbClr val="FFFFFF"/>
                </a:solidFill>
              </a:defRPr>
            </a:pPr>
            <a:r>
              <a:rPr sz="1350" b="0">
                <a:solidFill>
                  <a:srgbClr val="FFFFFF"/>
                </a:solidFill>
              </a:rPr>
              <a:t>Separate report, review and improvement</a:t>
            </a:r>
          </a:p>
          <a:p xmlns:a="http://schemas.openxmlformats.org/drawingml/2006/main">
            <a:pPr algn="l">
              <a:defRPr sz="1350" b="0">
                <a:solidFill>
                  <a:srgbClr val="FFFFFF"/>
                </a:solidFill>
              </a:defRPr>
            </a:pPr>
            <a:r>
              <a:rPr sz="1350" b="0">
                <a:solidFill>
                  <a:srgbClr val="FFFFFF"/>
                </a:solidFill>
              </a:rPr>
              <a:t>Use a fictional environmental event card.</a:t>
            </a:r>
          </a:p>
        </p:txBody>
      </p:sp>
      <p:sp>
        <p:nvSpPr>
          <p:cNvPr id="5" name="">
            <a:extLst xmlns:a="http://schemas.openxmlformats.org/drawingml/2006/main">
              <a:ext uri="{FF2B5EF4-FFF2-40B4-BE49-F238E27FC236}">
                <a16:creationId xmlns:a16="http://schemas.microsoft.com/office/drawing/2014/main" id="{808FE676-1CD2-4196-B65E-D374B1B8CF7A}"/>
              </a:ext>
            </a:extLst>
          </p:cNvPr>
          <p:cNvSpPr>
            <a:spLocks xmlns:a="http://schemas.openxmlformats.org/drawingml/2006/main" noGrp="1"/>
          </p:cNvSpPr>
          <p:nvPr/>
        </p:nvSpPr>
        <p:spPr>
          <a:xfrm xmlns:a="http://schemas.openxmlformats.org/drawingml/2006/main">
            <a:off x="571500" y="5391150"/>
            <a:ext cx="10763250" cy="876300"/>
          </a:xfrm>
          <a:prstGeom xmlns:a="http://schemas.openxmlformats.org/drawingml/2006/main" prst="roundRect">
            <a:avLst>
              <a:gd name="adj" fmla="val 19565"/>
            </a:avLst>
          </a:prstGeom>
          <a:solidFill xmlns:a="http://schemas.openxmlformats.org/drawingml/2006/main">
            <a:srgbClr val="F3EEDF"/>
          </a:solidFill>
          <a:ln xmlns:a="http://schemas.openxmlformats.org/drawingml/2006/main" w="9525">
            <a:solidFill>
              <a:srgbClr val="D4A62A"/>
            </a:solidFill>
            <a:prstDash val="solid"/>
          </a:ln>
        </p:spPr>
      </p:sp>
      <p:sp>
        <p:nvSpPr>
          <p:cNvPr id="6" name="">
            <a:extLst xmlns:a="http://schemas.openxmlformats.org/drawingml/2006/main">
              <a:ext uri="{FF2B5EF4-FFF2-40B4-BE49-F238E27FC236}">
                <a16:creationId xmlns:a16="http://schemas.microsoft.com/office/drawing/2014/main" id="{D5CDB2F4-935B-48DC-A9E7-DBE9306E36F2}"/>
              </a:ext>
            </a:extLst>
          </p:cNvPr>
          <p:cNvSpPr>
            <a:spLocks xmlns:a="http://schemas.openxmlformats.org/drawingml/2006/main" noGrp="1"/>
          </p:cNvSpPr>
          <p:nvPr/>
        </p:nvSpPr>
        <p:spPr>
          <a:xfrm xmlns:a="http://schemas.openxmlformats.org/drawingml/2006/main">
            <a:off x="800100" y="5600700"/>
            <a:ext cx="103251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123E2A"/>
                </a:solidFill>
              </a:defRPr>
            </a:pPr>
            <a:r>
              <a:rPr sz="1425" b="1">
                <a:solidFill>
                  <a:srgbClr val="123E2A"/>
                </a:solidFill>
              </a:rPr>
              <a:t>NEXT STEP  Complete the teacher-nominated learning action. Use current local sources and supervision before any real practical decision. Website responses remain formative.</a:t>
            </a:r>
          </a:p>
        </p:txBody>
      </p:sp>
    </p:spTree>
    <p:extLst>
      <p:ext uri="{BB962C8B-B14F-4D97-AF65-F5344CB8AC3E}">
        <p14:creationId xmlns:p14="http://schemas.microsoft.com/office/powerpoint/2010/main" val="8583607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2026-08-21T09:51:25.8320000Z</dcterms:created>
  <dcterms:modified xsi:type="dcterms:W3CDTF">2026-08-21T09:51:25.8320000Z</dcterms:modified>
</coreProperties>
</file>