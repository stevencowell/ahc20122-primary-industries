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f8636ebba94e2d" /><Relationship Type="http://schemas.openxmlformats.org/officeDocument/2006/relationships/extended-properties" Target="/docProps/app.xml" Id="R75698cd86ce441c8" /><Relationship Type="http://schemas.openxmlformats.org/officeDocument/2006/relationships/officeDocument" Target="/ppt/presentation.xml" Id="R7d271a38a913485f" /></Relationships>
</file>

<file path=ppt/presentation.xml><?xml version="1.0" encoding="utf-8"?>
<p:presentation xmlns:p="http://schemas.openxmlformats.org/presentationml/2006/main">
  <p:sldMasterIdLst>
    <p:sldMasterId xmlns:r="http://schemas.openxmlformats.org/officeDocument/2006/relationships" id="2147483648" r:id="R2826248a6635494c"/>
  </p:sldMasterIdLst>
  <p:notesMasterIdLst>
    <p:notesMasterId xmlns:r="http://schemas.openxmlformats.org/officeDocument/2006/relationships" r:id="Rc6eee4c02509444c"/>
  </p:notesMasterIdLst>
  <p:sldIdLst>
    <p:sldId xmlns:r="http://schemas.openxmlformats.org/officeDocument/2006/relationships" id="256" r:id="Rda1cb066c9744f22"/>
    <p:sldId xmlns:r="http://schemas.openxmlformats.org/officeDocument/2006/relationships" id="257" r:id="R3525da8442a74de1"/>
    <p:sldId xmlns:r="http://schemas.openxmlformats.org/officeDocument/2006/relationships" id="258" r:id="R4252dcd248364b8a"/>
    <p:sldId xmlns:r="http://schemas.openxmlformats.org/officeDocument/2006/relationships" id="259" r:id="R619e666b8bb74a05"/>
    <p:sldId xmlns:r="http://schemas.openxmlformats.org/officeDocument/2006/relationships" id="260" r:id="Rcd7e9813d3444ee4"/>
    <p:sldId xmlns:r="http://schemas.openxmlformats.org/officeDocument/2006/relationships" id="261" r:id="Rf6690b4140084a65"/>
    <p:sldId xmlns:r="http://schemas.openxmlformats.org/officeDocument/2006/relationships" id="262" r:id="R22b4329476844d59"/>
    <p:sldId xmlns:r="http://schemas.openxmlformats.org/officeDocument/2006/relationships" id="263" r:id="R2ad12859758345c0"/>
    <p:sldId xmlns:r="http://schemas.openxmlformats.org/officeDocument/2006/relationships" id="264" r:id="Rcb3df1b0ccdf403b"/>
    <p:sldId xmlns:r="http://schemas.openxmlformats.org/officeDocument/2006/relationships" id="265" r:id="Rd2857ed9647749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aa72c41d55400c" /><Relationship Type="http://schemas.openxmlformats.org/officeDocument/2006/relationships/slideMaster" Target="/ppt/slideMasters/slideMaster1.xml" Id="R2826248a6635494c" /><Relationship Type="http://schemas.openxmlformats.org/officeDocument/2006/relationships/notesMaster" Target="/ppt/notesMasters/notesMaster1.xml" Id="Rc6eee4c02509444c" /><Relationship Type="http://schemas.openxmlformats.org/officeDocument/2006/relationships/presProps" Target="/ppt/presProps.xml" Id="Rca89299b70ac404b" /><Relationship Type="http://schemas.openxmlformats.org/officeDocument/2006/relationships/tableStyles" Target="/ppt/tableStyles.xml" Id="R68a60d07e47a407b" /><Relationship Type="http://schemas.openxmlformats.org/officeDocument/2006/relationships/slide" Target="/ppt/slides/slide1.xml" Id="Rda1cb066c9744f22" /><Relationship Type="http://schemas.openxmlformats.org/officeDocument/2006/relationships/slide" Target="/ppt/slides/slide2.xml" Id="R3525da8442a74de1" /><Relationship Type="http://schemas.openxmlformats.org/officeDocument/2006/relationships/slide" Target="/ppt/slides/slide3.xml" Id="R4252dcd248364b8a" /><Relationship Type="http://schemas.openxmlformats.org/officeDocument/2006/relationships/slide" Target="/ppt/slides/slide4.xml" Id="R619e666b8bb74a05" /><Relationship Type="http://schemas.openxmlformats.org/officeDocument/2006/relationships/slide" Target="/ppt/slides/slide5.xml" Id="Rcd7e9813d3444ee4" /><Relationship Type="http://schemas.openxmlformats.org/officeDocument/2006/relationships/slide" Target="/ppt/slides/slide6.xml" Id="Rf6690b4140084a65" /><Relationship Type="http://schemas.openxmlformats.org/officeDocument/2006/relationships/slide" Target="/ppt/slides/slide7.xml" Id="R22b4329476844d59" /><Relationship Type="http://schemas.openxmlformats.org/officeDocument/2006/relationships/slide" Target="/ppt/slides/slide8.xml" Id="R2ad12859758345c0" /><Relationship Type="http://schemas.openxmlformats.org/officeDocument/2006/relationships/slide" Target="/ppt/slides/slide9.xml" Id="Rcb3df1b0ccdf403b" /><Relationship Type="http://schemas.openxmlformats.org/officeDocument/2006/relationships/slide" Target="/ppt/slides/slide10.xml" Id="Rd2857ed9647749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139cb4197c4d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e85ad0ac18427d" /><Relationship Type="http://schemas.openxmlformats.org/officeDocument/2006/relationships/notesMaster" Target="/ppt/notesMasters/notesMaster1.xml" Id="Rf97ec7281e724d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607044e8744547" /><Relationship Type="http://schemas.openxmlformats.org/officeDocument/2006/relationships/notesMaster" Target="/ppt/notesMasters/notesMaster1.xml" Id="R91049b9313fe45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f23cf2de5c4896" /><Relationship Type="http://schemas.openxmlformats.org/officeDocument/2006/relationships/notesMaster" Target="/ppt/notesMasters/notesMaster1.xml" Id="R8f9422e9b47944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7c9cfd5c634c3c" /><Relationship Type="http://schemas.openxmlformats.org/officeDocument/2006/relationships/notesMaster" Target="/ppt/notesMasters/notesMaster1.xml" Id="R394dad4a8c194e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17b64172204df9" /><Relationship Type="http://schemas.openxmlformats.org/officeDocument/2006/relationships/notesMaster" Target="/ppt/notesMasters/notesMaster1.xml" Id="Rd2af17238dd342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91af8893b04197" /><Relationship Type="http://schemas.openxmlformats.org/officeDocument/2006/relationships/notesMaster" Target="/ppt/notesMasters/notesMaster1.xml" Id="R61ba339a603849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b682de9b88412e" /><Relationship Type="http://schemas.openxmlformats.org/officeDocument/2006/relationships/notesMaster" Target="/ppt/notesMasters/notesMaster1.xml" Id="R3ca11aedf0d74e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ed35200f194c63" /><Relationship Type="http://schemas.openxmlformats.org/officeDocument/2006/relationships/notesMaster" Target="/ppt/notesMasters/notesMaster1.xml" Id="R48e4f587348b4a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a4d14bdaad4955" /><Relationship Type="http://schemas.openxmlformats.org/officeDocument/2006/relationships/notesMaster" Target="/ppt/notesMasters/notesMaster1.xml" Id="Rda72b103174c4d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762636a8f94285" /><Relationship Type="http://schemas.openxmlformats.org/officeDocument/2006/relationships/notesMaster" Target="/ppt/notesMasters/notesMaster1.xml" Id="Rae311c8b6e1c46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a:t>
            </a:r>
          </a:p>
          <a:p xmlns:a="http://schemas.openxmlformats.org/drawingml/2006/main">
            <a:r>
              <a:t>[Sources]</a:t>
            </a:r>
          </a:p>
          <a:p xmlns:a="http://schemas.openxmlformats.org/drawingml/2006/main">
            <a:r>
              <a:t>-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The task, machine, terrain, conditions and authority must remain aligned. If one part of the confirmed combination changes, refer it.</a:t>
            </a:r>
          </a:p>
          <a:p xmlns:a="http://schemas.openxmlformats.org/drawingml/2006/main">
            <a:r>
              <a:t>Applied action: Complete a readiness match table. Use a fictional teacher-provided brief and image. Sort evidence into Confirmed match, Mismatch and Unconfirmed, then write a concise supervisor referral. Do not describe how to operate the tractor.</a:t>
            </a:r>
          </a:p>
          <a:p xmlns:a="http://schemas.openxmlformats.org/drawingml/2006/main">
            <a:r>
              <a:t>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a:t>
            </a:r>
          </a:p>
          <a:p xmlns:a="http://schemas.openxmlformats.org/drawingml/2006/main">
            <a:r>
              <a:t>[Sources]</a:t>
            </a:r>
          </a:p>
          <a:p xmlns:a="http://schemas.openxmlformats.org/drawingml/2006/main">
            <a:r>
              <a:t>- Source basis: AHCMOM202 Release 1 application and preparation requirements, together with SafeWork NSW farm guidance on induction, training, supervision and changing terrain. Current manufacturer instructions, workplace procedures and supervisor directions control all operation.</a:t>
            </a:r>
          </a:p>
          <a:p xmlns:a="http://schemas.openxmlformats.org/drawingml/2006/main">
            <a:r>
              <a:t>- Visual visual-task-03-01: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The task, machine, terrain, conditions and authority must remain aligned. If one part of the confirmed combination changes, refer it.
Applied action: Complete a readiness match table. Use a fictional teacher-provided brief and image. Sort evidence into Confirmed match, Mismatch and Unconfirmed, then write a concise supervisor referral. Do not describe how to operate the tractor.
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
[Sources]
- Source basis: AHCMOM202 Release 1 application and preparation requirements, together with SafeWork NSW farm guidance on induction, training, supervision and changing terrain. Current manufacturer instructions, workplace procedures and supervisor directions control all operation.
- Visual visual-task-03-01: Generated locally from accepted Stage 05 module headings; no external image copied.
- Course visual manifest: work/pi/visuals/visual-manifest.json</a:t>
            </a:r>
          </a:p>
          <a:p xmlns:a="http://schemas.openxmlformats.org/drawingml/2006/main">
            <a:r>
              <a:t>Formative check answer: Pause and have the changed location and conditions confirmed through the authorised process.</a:t>
            </a:r>
          </a:p>
          <a:p xmlns:a="http://schemas.openxmlformats.org/drawingml/2006/main">
            <a:r>
              <a:t>Correct feedback: You treated the location change as a new readiness decision.</a:t>
            </a:r>
          </a:p>
          <a:p xmlns:a="http://schemas.openxmlformats.org/drawingml/2006/main">
            <a:r>
              <a:t>Corrective feedback: The task, machine, terrain, conditions and authority must remain aligned.</a:t>
            </a:r>
          </a:p>
          <a:p xmlns:a="http://schemas.openxmlformats.org/drawingml/2006/main">
            <a:r>
              <a:t>Full contextual example: Observed evidence: A fictional tractor task was confirmed for a level, firm paddock, but overnight rain has left soft ruts near the access point and livestock are now in the adjoining lane. Decision and reason: The task-machine-terrain combination no longer matches the brief. Safe action: The learner stays outside the work area and reports the location, surface change and livestock movement. Result: The supervisor postpones the activity pending an authorised review. Next check or record: The learner records the changed conditions and decision, not an operating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The lesson focuses on evidence and decision points, not operation or repair. Actual machine plus current authorised checklist equals readiness evidence.</a:t>
            </a:r>
          </a:p>
          <a:p xmlns:a="http://schemas.openxmlformats.org/drawingml/2006/main">
            <a:r>
              <a:t>Applied action: Classify fictional inspection findings. Sort teacher-provided fictional findings into Confirmed, Abnormal and Unconfirmed. Write a factual referral for one item. Do not touch, operate, test or repair equipment as part of this website activity.</a:t>
            </a:r>
          </a:p>
          <a:p xmlns:a="http://schemas.openxmlformats.org/drawingml/2006/main">
            <a:r>
              <a:t>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a:t>
            </a:r>
          </a:p>
          <a:p xmlns:a="http://schemas.openxmlformats.org/drawingml/2006/main">
            <a:r>
              <a:t>[Sources]</a:t>
            </a:r>
          </a:p>
          <a:p xmlns:a="http://schemas.openxmlformats.org/drawingml/2006/main">
            <a:r>
              <a:t>- Source basis: AHCMOM202 Release 1 requirements for pre-operational checks, reporting faults and maintaining use records, plus SafeWork NSW guidance on training, supervision and machinery risk. Exact inspection and exclusion procedures remain local-authority content.</a:t>
            </a:r>
          </a:p>
          <a:p xmlns:a="http://schemas.openxmlformats.org/drawingml/2006/main">
            <a:r>
              <a:t>- Visual visual-task-03-02: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The lesson focuses on evidence and decision points, not operation or repair. Actual machine plus current authorised checklist equals readiness evidence.
Applied action: Classify fictional inspection findings. Sort teacher-provided fictional findings into Confirmed, Abnormal and Unconfirmed. Write a factual referral for one item. Do not touch, operate, test or repair equipment as part of this website activity.
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
[Sources]
- Source basis: AHCMOM202 Release 1 requirements for pre-operational checks, reporting faults and maintaining use records, plus SafeWork NSW guidance on training, supervision and machinery risk. Exact inspection and exclusion procedures remain local-authority content.
- Visual visual-task-03-02: Generated locally from accepted Stage 05 module headings; no external image copied.
- Course visual manifest: work/pi/visuals/visual-manifest.json</a:t>
            </a:r>
          </a:p>
          <a:p xmlns:a="http://schemas.openxmlformats.org/drawingml/2006/main">
            <a:r>
              <a:t>Formative check answer: To compare actual readiness evidence with the current authorised source before use.</a:t>
            </a:r>
          </a:p>
          <a:p xmlns:a="http://schemas.openxmlformats.org/drawingml/2006/main">
            <a:r>
              <a:t>Correct feedback: You identified the pre-start as a source-led readiness check.</a:t>
            </a:r>
          </a:p>
          <a:p xmlns:a="http://schemas.openxmlformats.org/drawingml/2006/main">
            <a:r>
              <a:t>Corrective feedback: The lesson focuses on evidence and decision points, not operation or repair.</a:t>
            </a:r>
          </a:p>
          <a:p xmlns:a="http://schemas.openxmlformats.org/drawingml/2006/main">
            <a:r>
              <a:t>Full contextual example: Observed evidence: During a fictional teacher-led inspection, Casey sees fresh fluid on the ground under the nominated tractor and cannot identify its source. Decision and reason: The condition is abnormal and cannot be accepted by guesswork. Safe action: Casey does not operate or investigate moving parts; they report the exact location and observation. Result: The supervisor excludes the tractor from the planned task pending an authorised check. Next check or record: Casey marks the status as referred and records the supervisor's direction in the current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Consider what changes around the machine even before operation begins. Machine plus equipment must be treated as one matched configuration.</a:t>
            </a:r>
          </a:p>
          <a:p xmlns:a="http://schemas.openxmlformats.org/drawingml/2006/main">
            <a:r>
              <a:t>Applied action: Audit a fictional traffic map. Mark path crossings, possible blind areas and one changed activity on a fictional map. Write a supervisor referral. Do not design hand signals or instruct any machine movement.</a:t>
            </a:r>
          </a:p>
          <a:p xmlns:a="http://schemas.openxmlformats.org/drawingml/2006/main">
            <a:r>
              <a:t>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a:t>
            </a:r>
          </a:p>
          <a:p xmlns:a="http://schemas.openxmlformats.org/drawingml/2006/main">
            <a:r>
              <a:t>[Sources]</a:t>
            </a:r>
          </a:p>
          <a:p xmlns:a="http://schemas.openxmlformats.org/drawingml/2006/main">
            <a:r>
              <a:t>- Source basis: AHCMOM202 Release 1 requirements to recognise risk to self and others and match attached equipment to authorised limits, supported by SafeWork NSW machinery and farm-traffic risk principles. Local traffic and operating procedures control all movements.</a:t>
            </a:r>
          </a:p>
          <a:p xmlns:a="http://schemas.openxmlformats.org/drawingml/2006/main">
            <a:r>
              <a:t>- Visual visual-task-03-03: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Consider what changes around the machine even before operation begins. Machine plus equipment must be treated as one matched configuration.
Applied action: Audit a fictional traffic map. Mark path crossings, possible blind areas and one changed activity on a fictional map. Write a supervisor referral. Do not design hand signals or instruct any machine movement.
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
[Sources]
- Source basis: AHCMOM202 Release 1 requirements to recognise risk to self and others and match attached equipment to authorised limits, supported by SafeWork NSW machinery and farm-traffic risk principles. Local traffic and operating procedures control all movements.
- Visual visual-task-03-03: Generated locally from accepted Stage 05 module headings; no external image copied.
- Course visual manifest: work/pi/visuals/visual-manifest.json</a:t>
            </a:r>
          </a:p>
          <a:p xmlns:a="http://schemas.openxmlformats.org/drawingml/2006/main">
            <a:r>
              <a:t>Formative check answer: It can change dimensions, visibility, capacity and the work area around the tractor.</a:t>
            </a:r>
          </a:p>
          <a:p xmlns:a="http://schemas.openxmlformats.org/drawingml/2006/main">
            <a:r>
              <a:t>Correct feedback: You recognised the attachment as a change to the whole work system.</a:t>
            </a:r>
          </a:p>
          <a:p xmlns:a="http://schemas.openxmlformats.org/drawingml/2006/main">
            <a:r>
              <a:t>Corrective feedback: Consider what changes around the machine even before operation begins.</a:t>
            </a:r>
          </a:p>
          <a:p xmlns:a="http://schemas.openxmlformats.org/drawingml/2006/main">
            <a:r>
              <a:t>Full contextual example: Observed evidence: A fictional delivery arrives earlier than planned and its route crosses a marked tractor work area. Decision and reason: Two authorised activities now have overlapping paths, so the original separation cannot be assumed effective. Safe action: The learner stays outside the area and reports the timing and route conflict to the supervisor. Result: The supervisor coordinates a revised traffic arrangement through the workplace plan. Next check or record: The learner confirms the communicated change and notes the reason for the delay, without giving movement directions.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A missing source value must remain visibly unconfirmed. Unknown recorded honestly is better than a number guessed confidently.</a:t>
            </a:r>
          </a:p>
          <a:p xmlns:a="http://schemas.openxmlformats.org/drawingml/2006/main">
            <a:r>
              <a:t>Applied action: Audit a fictional machine handover. Compare a fictional usage entry, defect note and handover message. Identify missing or conflicting information and draft a corrected handover. Do not enter real machine, farm or worker details.</a:t>
            </a:r>
          </a:p>
          <a:p xmlns:a="http://schemas.openxmlformats.org/drawingml/2006/main">
            <a:r>
              <a:t>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a:t>
            </a:r>
          </a:p>
          <a:p xmlns:a="http://schemas.openxmlformats.org/drawingml/2006/main">
            <a:r>
              <a:t>[Sources]</a:t>
            </a:r>
          </a:p>
          <a:p xmlns:a="http://schemas.openxmlformats.org/drawingml/2006/main">
            <a:r>
              <a:t>- Source basis: AHCMOM202 Release 1 requirements for reporting faults, damage and irregular performance and maintaining tractor and equipment use records. Current workplace and RTO systems control operating logs, maintenance and assessment evidence.</a:t>
            </a:r>
          </a:p>
          <a:p xmlns:a="http://schemas.openxmlformats.org/drawingml/2006/main">
            <a:r>
              <a:t>- Visual visual-task-03-04: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A missing source value must remain visibly unconfirmed. Unknown recorded honestly is better than a number guessed confidently.
Applied action: Audit a fictional machine handover. Compare a fictional usage entry, defect note and handover message. Identify missing or conflicting information and draft a corrected handover. Do not enter real machine, farm or worker details.
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
[Sources]
- Source basis: AHCMOM202 Release 1 requirements for reporting faults, damage and irregular performance and maintaining tractor and equipment use records. Current workplace and RTO systems control operating logs, maintenance and assessment evidence.
- Visual visual-task-03-04: Generated locally from accepted Stage 05 module headings; no external image copied.
- Course visual manifest: work/pi/visuals/visual-manifest.json</a:t>
            </a:r>
          </a:p>
          <a:p xmlns:a="http://schemas.openxmlformats.org/drawingml/2006/main">
            <a:r>
              <a:t>Formative check answer: Record the value as unconfirmed through the current process and report the gap.</a:t>
            </a:r>
          </a:p>
          <a:p xmlns:a="http://schemas.openxmlformats.org/drawingml/2006/main">
            <a:r>
              <a:t>Correct feedback: You preserved record integrity instead of filling the gap with invented data.</a:t>
            </a:r>
          </a:p>
          <a:p xmlns:a="http://schemas.openxmlformats.org/drawingml/2006/main">
            <a:r>
              <a:t>Corrective feedback: A missing source value must remain visibly unconfirmed.</a:t>
            </a:r>
          </a:p>
          <a:p xmlns:a="http://schemas.openxmlformats.org/drawingml/2006/main">
            <a:r>
              <a:t>Full contextual example: Observed evidence: A fictional usage log lists Tractor F07 as available, but a same-day defect note for F07 says 'referred—status pending'. Decision and reason: The two current records conflict, and a learner cannot decide that the availability entry overrides the defect status. Safe action: The learner does not use the machine and presents both records to the supervisor. Result: The supervisor confirms the machine remains excluded and corrects the authorised status. Next check or record: The learner verifies that the handover now shows the same status in each relevant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This is supplementary decision-literacy learning grounded in AHCMOM202 Release 1 and SafeWork NSW farm-safety guidance. It does not teach tractor operation, controls, settings, starting, manoeuvring, shutdown, servicing or attachment procedures. Only trained, authorised and supervised people may operate tractors using the current manufacturer instructions, local SOP, induction and teacher demonstration.</a:t>
            </a:r>
          </a:p>
          <a:p xmlns:a="http://schemas.openxmlformats.org/drawingml/2006/main">
            <a:r>
              <a:t>[Sources]</a:t>
            </a:r>
          </a:p>
          <a:p xmlns:a="http://schemas.openxmlformats.org/drawingml/2006/main">
            <a:r>
              <a:t>- Source basis: AHCMOM202 Release 1 application and preparation requirements, together with SafeWork NSW farm guidance on induction, training, supervision and changing terrain. Current manufacturer instructions, workplace procedures and supervisor directions control all operation.</a:t>
            </a:r>
          </a:p>
          <a:p xmlns:a="http://schemas.openxmlformats.org/drawingml/2006/main">
            <a:r>
              <a:t>- Source basis: AHCMOM202 Release 1 requirements for pre-operational checks, reporting faults and maintaining use records, plus SafeWork NSW guidance on training, supervision and machinery risk. Exact inspection and exclusion procedures remain local-authority content.</a:t>
            </a:r>
          </a:p>
          <a:p xmlns:a="http://schemas.openxmlformats.org/drawingml/2006/main">
            <a:r>
              <a:t>- Source basis: AHCMOM202 Release 1 requirements to recognise risk to self and others and match attached equipment to authorised limits, supported by SafeWork NSW machinery and farm-traffic risk principles. Local traffic and operating procedures control all movements.</a:t>
            </a:r>
          </a:p>
          <a:p xmlns:a="http://schemas.openxmlformats.org/drawingml/2006/main">
            <a:r>
              <a:t>- Source basis: AHCMOM202 Release 1 requirements for reporting faults, damage and irregular performance and maintaining tractor and equipment use records. Current workplace and RTO systems control operating logs, maintenance and assessment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5b1be59cb442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953a22313c456a" /><Relationship Type="http://schemas.openxmlformats.org/officeDocument/2006/relationships/slideLayout" Target="/ppt/slideLayouts/slideLayout1.xml" Id="Rbec08a54adaf43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c08a54adaf43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fcf4ca212a4b74" /><Relationship Type="http://schemas.openxmlformats.org/officeDocument/2006/relationships/image" Target="/ppt/media/image.png" Id="R3c4eb12982774308" /><Relationship Type="http://schemas.openxmlformats.org/officeDocument/2006/relationships/notesSlide" Target="/ppt/notesSlides/notesSlide1.xml" Id="Rd966750d1a5843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e9f531b793445c" /><Relationship Type="http://schemas.openxmlformats.org/officeDocument/2006/relationships/image" Target="/ppt/media/image2.png" Id="R562ab6a5528648c8" /><Relationship Type="http://schemas.openxmlformats.org/officeDocument/2006/relationships/image" Target="/ppt/media/image.svg" Id="R79fd6f96eaed4111" /><Relationship Type="http://schemas.openxmlformats.org/officeDocument/2006/relationships/notesSlide" Target="/ppt/notesSlides/notesSlide2.xml" Id="R14d57501912740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7bb0e4b80d4140" /><Relationship Type="http://schemas.openxmlformats.org/officeDocument/2006/relationships/notesSlide" Target="/ppt/notesSlides/notesSlide3.xml" Id="R58baf10263d14a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fce4991e0445e9" /><Relationship Type="http://schemas.openxmlformats.org/officeDocument/2006/relationships/image" Target="/ppt/media/image3.png" Id="R7af26a49ab8749ce" /><Relationship Type="http://schemas.openxmlformats.org/officeDocument/2006/relationships/image" Target="/ppt/media/image2.svg" Id="Rd482f57e940949b7" /><Relationship Type="http://schemas.openxmlformats.org/officeDocument/2006/relationships/notesSlide" Target="/ppt/notesSlides/notesSlide4.xml" Id="Rd3ebf33e753049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daceb4ff4644db" /><Relationship Type="http://schemas.openxmlformats.org/officeDocument/2006/relationships/notesSlide" Target="/ppt/notesSlides/notesSlide5.xml" Id="Re44b7db3936b4b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7df5f73e5b4ff5" /><Relationship Type="http://schemas.openxmlformats.org/officeDocument/2006/relationships/image" Target="/ppt/media/image4.png" Id="Rdd5d6020657d44c9" /><Relationship Type="http://schemas.openxmlformats.org/officeDocument/2006/relationships/image" Target="/ppt/media/image3.svg" Id="R084a599e786642d3" /><Relationship Type="http://schemas.openxmlformats.org/officeDocument/2006/relationships/notesSlide" Target="/ppt/notesSlides/notesSlide6.xml" Id="Rfb0f3312e36246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1a21134fc61432c" /><Relationship Type="http://schemas.openxmlformats.org/officeDocument/2006/relationships/notesSlide" Target="/ppt/notesSlides/notesSlide7.xml" Id="R6c4a910d3e6b43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2550585cf1e40a7" /><Relationship Type="http://schemas.openxmlformats.org/officeDocument/2006/relationships/image" Target="/ppt/media/image5.png" Id="R24a77bd93ea549a6" /><Relationship Type="http://schemas.openxmlformats.org/officeDocument/2006/relationships/image" Target="/ppt/media/image4.svg" Id="Rc07be3085e514090" /><Relationship Type="http://schemas.openxmlformats.org/officeDocument/2006/relationships/notesSlide" Target="/ppt/notesSlides/notesSlide8.xml" Id="Rb8b892dee9f047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f00b64d0e3415b" /><Relationship Type="http://schemas.openxmlformats.org/officeDocument/2006/relationships/notesSlide" Target="/ppt/notesSlides/notesSlide9.xml" Id="Re8fbc8517bb340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c0024bcac0401e" /><Relationship Type="http://schemas.openxmlformats.org/officeDocument/2006/relationships/notesSlide" Target="/ppt/notesSlides/notesSlide10.xml" Id="Refb5460e9cd548a2"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c4eb12982774308"/>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79EB10-16F2-49E9-BEBC-84C5EF2140DA}"/>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23A31937-A0DE-4031-B1A5-F2122071A30B}"/>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7A76B573-72CC-4EEC-802C-4C1D6ABE2F8D}"/>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3 · Operate tractors</a:t>
            </a:r>
          </a:p>
        </p:txBody>
      </p:sp>
      <p:sp>
        <p:nvSpPr>
          <p:cNvPr id="5" name="">
            <a:extLst xmlns:a="http://schemas.openxmlformats.org/drawingml/2006/main">
              <a:ext uri="{FF2B5EF4-FFF2-40B4-BE49-F238E27FC236}">
                <a16:creationId xmlns:a16="http://schemas.microsoft.com/office/drawing/2014/main" id="{B7358FC4-18CB-4B4A-B953-9A181408C972}"/>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Prepare for supervised tractor work by matching task, machine, terrain and conditions, then documenting checks and concerns.</a:t>
            </a:r>
          </a:p>
        </p:txBody>
      </p:sp>
      <p:sp>
        <p:nvSpPr>
          <p:cNvPr id="6" name="">
            <a:extLst xmlns:a="http://schemas.openxmlformats.org/drawingml/2006/main">
              <a:ext uri="{FF2B5EF4-FFF2-40B4-BE49-F238E27FC236}">
                <a16:creationId xmlns:a16="http://schemas.microsoft.com/office/drawing/2014/main" id="{C3F412B9-2A2F-49BA-B8E3-AE81310A9D85}"/>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A7E00E4C-F7BC-4724-A957-78396DBA0F6B}"/>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Match task, tractor, terrain and authority</a:t>
            </a:r>
          </a:p>
          <a:p xmlns:a="http://schemas.openxmlformats.org/drawingml/2006/main">
            <a:pPr algn="l">
              <a:defRPr sz="1425" b="1">
                <a:solidFill>
                  <a:srgbClr val="FFFFFF"/>
                </a:solidFill>
              </a:defRPr>
            </a:pPr>
            <a:r>
              <a:rPr sz="1425" b="1">
                <a:solidFill>
                  <a:srgbClr val="FFFFFF"/>
                </a:solidFill>
              </a:rPr>
              <a:t>02  Pre-start inspection and defect decisions</a:t>
            </a:r>
          </a:p>
          <a:p xmlns:a="http://schemas.openxmlformats.org/drawingml/2006/main">
            <a:pPr algn="l">
              <a:defRPr sz="1425" b="1">
                <a:solidFill>
                  <a:srgbClr val="FFFFFF"/>
                </a:solidFill>
              </a:defRPr>
            </a:pPr>
            <a:r>
              <a:rPr sz="1425" b="1">
                <a:solidFill>
                  <a:srgbClr val="FFFFFF"/>
                </a:solidFill>
              </a:rPr>
              <a:t>03  Farm traffic, attachments and exclusion zones</a:t>
            </a:r>
          </a:p>
          <a:p xmlns:a="http://schemas.openxmlformats.org/drawingml/2006/main">
            <a:pPr algn="l">
              <a:defRPr sz="1425" b="1">
                <a:solidFill>
                  <a:srgbClr val="FFFFFF"/>
                </a:solidFill>
              </a:defRPr>
            </a:pPr>
            <a:r>
              <a:rPr sz="1425" b="1">
                <a:solidFill>
                  <a:srgbClr val="FFFFFF"/>
                </a:solidFill>
              </a:rPr>
              <a:t>04  Usage records, handover and review</a:t>
            </a:r>
          </a:p>
        </p:txBody>
      </p:sp>
      <p:sp>
        <p:nvSpPr>
          <p:cNvPr id="8" name="">
            <a:extLst xmlns:a="http://schemas.openxmlformats.org/drawingml/2006/main">
              <a:ext uri="{FF2B5EF4-FFF2-40B4-BE49-F238E27FC236}">
                <a16:creationId xmlns:a16="http://schemas.microsoft.com/office/drawing/2014/main" id="{032820CC-31C8-4304-99F4-C36330A80A89}"/>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1814840369"/>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E58206-96A4-4406-A9E9-0F65FD3C1B88}"/>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B73CA28E-2B64-4117-B7BA-528F32ACA8DA}"/>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2">
            <a:extLst xmlns:a="http://schemas.openxmlformats.org/drawingml/2006/main">
              <a:ext uri="{FF2B5EF4-FFF2-40B4-BE49-F238E27FC236}">
                <a16:creationId xmlns:a16="http://schemas.microsoft.com/office/drawing/2014/main" id="{4516F231-DB8D-4571-A005-32B044B9B712}"/>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Match task, tractor, terrain and authority</a:t>
            </a:r>
          </a:p>
        </p:txBody>
      </p:sp>
      <p:sp>
        <p:nvSpPr>
          <p:cNvPr id="4" name="">
            <a:extLst xmlns:a="http://schemas.openxmlformats.org/drawingml/2006/main">
              <a:ext uri="{FF2B5EF4-FFF2-40B4-BE49-F238E27FC236}">
                <a16:creationId xmlns:a16="http://schemas.microsoft.com/office/drawing/2014/main" id="{88234E37-4FF3-4977-93D6-504D3BA9EAC8}"/>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0221A0AD-C6C4-4AA8-8E78-D7920B9912EF}"/>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876DC734-ECBA-4FA8-B3B1-51B6781C65EC}"/>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62ab6a5528648c8">
            <a:extLst>
              <a:ext uri="{96DAC541-7B7A-43D3-8B79-37D633B846F1}">
                <asvg:svgBlip xmlns:asvg="http://schemas.microsoft.com/office/drawing/2016/SVG/main" r:embed="R79fd6f96eaed4111"/>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D2EE878-B825-441E-9380-5D242D72BFCB}"/>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AC448A52-8289-4F8A-9247-FB32AD057F14}"/>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tractor decision begins before operation</a:t>
            </a:r>
          </a:p>
          <a:p xmlns:a="http://schemas.openxmlformats.org/drawingml/2006/main">
            <a:pPr algn="l">
              <a:defRPr sz="1725" b="1">
                <a:solidFill>
                  <a:srgbClr val="123E2A"/>
                </a:solidFill>
              </a:defRPr>
            </a:pPr>
            <a:r>
              <a:rPr sz="1725" b="1">
                <a:solidFill>
                  <a:srgbClr val="123E2A"/>
                </a:solidFill>
              </a:rPr>
              <a:t>• Define the task outcome and boundaries</a:t>
            </a:r>
          </a:p>
        </p:txBody>
      </p:sp>
      <p:sp>
        <p:nvSpPr>
          <p:cNvPr id="10" name="">
            <a:extLst xmlns:a="http://schemas.openxmlformats.org/drawingml/2006/main">
              <a:ext uri="{FF2B5EF4-FFF2-40B4-BE49-F238E27FC236}">
                <a16:creationId xmlns:a16="http://schemas.microsoft.com/office/drawing/2014/main" id="{62F24CB9-FC5C-4C17-BB33-56C272F50394}"/>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Tractor work is an interaction between the job, machine, any equipment, people, terrain and current conditions. A clear brief identifies the intended work, location, timing, people involved and the authorised machine and equipment.</a:t>
            </a:r>
          </a:p>
        </p:txBody>
      </p:sp>
      <p:sp>
        <p:nvSpPr>
          <p:cNvPr id="11" name="">
            <a:extLst xmlns:a="http://schemas.openxmlformats.org/drawingml/2006/main">
              <a:ext uri="{FF2B5EF4-FFF2-40B4-BE49-F238E27FC236}">
                <a16:creationId xmlns:a16="http://schemas.microsoft.com/office/drawing/2014/main" id="{34D34CC4-7528-4BA3-A23E-3C018813EE58}"/>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3CF19207-EDB6-4FBB-A00B-0B6D366D68CF}"/>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14455DE9-7CAC-4853-B220-A684743B8EEB}"/>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093599489"/>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31A4BD7-AFF5-483F-9C46-D41FD200536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EA691E90-726C-42CB-94D7-BEB9CF5540A7}"/>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3">
            <a:extLst xmlns:a="http://schemas.openxmlformats.org/drawingml/2006/main">
              <a:ext uri="{FF2B5EF4-FFF2-40B4-BE49-F238E27FC236}">
                <a16:creationId xmlns:a16="http://schemas.microsoft.com/office/drawing/2014/main" id="{45DE2AB8-02BF-42A5-A3F8-A74E0B49BAC8}"/>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Match task, tractor, terrain and authority: decide from evidence</a:t>
            </a:r>
          </a:p>
        </p:txBody>
      </p:sp>
      <p:sp>
        <p:nvSpPr>
          <p:cNvPr id="4" name="">
            <a:extLst xmlns:a="http://schemas.openxmlformats.org/drawingml/2006/main">
              <a:ext uri="{FF2B5EF4-FFF2-40B4-BE49-F238E27FC236}">
                <a16:creationId xmlns:a16="http://schemas.microsoft.com/office/drawing/2014/main" id="{E4E4C3A9-4547-46F5-BF52-4396F021017B}"/>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7B03B0B4-AAFF-4C57-A4F0-4E4498501D7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0B602EC8-BB19-42B2-AAEC-4B88BFA57C19}"/>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6D48189-0D98-4E7A-8499-8189820F2806}"/>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9B6FF954-6DFD-4F0D-9EB7-7418801C1A37}"/>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tractor task was confirmed for a level, firm paddock, but overnight rain has left soft ruts near the access point and livestock are now in the adjoining lane.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task-machine-terrain combination no longer matches the brief.</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stays outside the work area and reports the location, surface change and livestock movement.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learner records the changed conditions and decision, not an operating solution.</a:t>
            </a:r>
          </a:p>
        </p:txBody>
      </p:sp>
      <p:sp>
        <p:nvSpPr>
          <p:cNvPr id="9" name="">
            <a:extLst xmlns:a="http://schemas.openxmlformats.org/drawingml/2006/main">
              <a:ext uri="{FF2B5EF4-FFF2-40B4-BE49-F238E27FC236}">
                <a16:creationId xmlns:a16="http://schemas.microsoft.com/office/drawing/2014/main" id="{275EA469-CFAC-4E72-B870-CE835A238F65}"/>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218C605-CE93-4E4E-AA80-7BAFE647338D}"/>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90E8BE06-8E3C-4B67-B8F9-F9A65177DB79}"/>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tractor was authorised for one paddock, but the job is moved to a different property area. What is the strongest response?</a:t>
            </a:r>
          </a:p>
        </p:txBody>
      </p:sp>
      <p:sp>
        <p:nvSpPr>
          <p:cNvPr id="12" name="">
            <a:extLst xmlns:a="http://schemas.openxmlformats.org/drawingml/2006/main">
              <a:ext uri="{FF2B5EF4-FFF2-40B4-BE49-F238E27FC236}">
                <a16:creationId xmlns:a16="http://schemas.microsoft.com/office/drawing/2014/main" id="{08B0C381-B0A3-45BD-B7A4-AF07B76491E7}"/>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Continue because the tractor itself has not changed.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Pause and have the changed location and conditions confirmed through the authorised process.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Ask another learner whether the new area looks suitable.</a:t>
            </a:r>
          </a:p>
        </p:txBody>
      </p:sp>
      <p:sp>
        <p:nvSpPr>
          <p:cNvPr id="13" name="">
            <a:extLst xmlns:a="http://schemas.openxmlformats.org/drawingml/2006/main">
              <a:ext uri="{FF2B5EF4-FFF2-40B4-BE49-F238E27FC236}">
                <a16:creationId xmlns:a16="http://schemas.microsoft.com/office/drawing/2014/main" id="{6682655D-AF1C-4584-834D-5E0E5397710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If one part of the confirmed combination changes, refer it.</a:t>
            </a:r>
          </a:p>
        </p:txBody>
      </p:sp>
    </p:spTree>
    <p:extLst>
      <p:ext uri="{BB962C8B-B14F-4D97-AF65-F5344CB8AC3E}">
        <p14:creationId xmlns:p14="http://schemas.microsoft.com/office/powerpoint/2010/main" val="1340514501"/>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5C8287-4285-4827-8013-FE8A32F7CC3D}"/>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FD34C884-2BCC-49B5-9D1F-894BF398DC47}"/>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4">
            <a:extLst xmlns:a="http://schemas.openxmlformats.org/drawingml/2006/main">
              <a:ext uri="{FF2B5EF4-FFF2-40B4-BE49-F238E27FC236}">
                <a16:creationId xmlns:a16="http://schemas.microsoft.com/office/drawing/2014/main" id="{5C335416-588E-44C0-AF66-F38648D9B1B0}"/>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Pre-start inspection and defect decisions</a:t>
            </a:r>
          </a:p>
        </p:txBody>
      </p:sp>
      <p:sp>
        <p:nvSpPr>
          <p:cNvPr id="4" name="">
            <a:extLst xmlns:a="http://schemas.openxmlformats.org/drawingml/2006/main">
              <a:ext uri="{FF2B5EF4-FFF2-40B4-BE49-F238E27FC236}">
                <a16:creationId xmlns:a16="http://schemas.microsoft.com/office/drawing/2014/main" id="{47C95DC7-6CE6-4D17-85F1-40906747D60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DED8DB79-0E7F-4EEE-AE9C-69FA938F6286}"/>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89AD73F7-C73B-4C33-BF1A-C87B6220D198}"/>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af26a49ab8749ce">
            <a:extLst>
              <a:ext uri="{96DAC541-7B7A-43D3-8B79-37D633B846F1}">
                <asvg:svgBlip xmlns:asvg="http://schemas.microsoft.com/office/drawing/2016/SVG/main" r:embed="Rd482f57e940949b7"/>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F958048-3C37-49C0-8706-36D2B36563BF}"/>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63013C4D-40ED-4F37-A1FA-2B4797090775}"/>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pre-start tests readiness, not memory</a:t>
            </a:r>
          </a:p>
          <a:p xmlns:a="http://schemas.openxmlformats.org/drawingml/2006/main">
            <a:pPr algn="l">
              <a:defRPr sz="1725" b="1">
                <a:solidFill>
                  <a:srgbClr val="123E2A"/>
                </a:solidFill>
              </a:defRPr>
            </a:pPr>
            <a:r>
              <a:rPr sz="1725" b="1">
                <a:solidFill>
                  <a:srgbClr val="123E2A"/>
                </a:solidFill>
              </a:rPr>
              <a:t>• Use the exact machine identity</a:t>
            </a:r>
          </a:p>
        </p:txBody>
      </p:sp>
      <p:sp>
        <p:nvSpPr>
          <p:cNvPr id="10" name="">
            <a:extLst xmlns:a="http://schemas.openxmlformats.org/drawingml/2006/main">
              <a:ext uri="{FF2B5EF4-FFF2-40B4-BE49-F238E27FC236}">
                <a16:creationId xmlns:a16="http://schemas.microsoft.com/office/drawing/2014/main" id="{BE75B136-F830-4DAA-9309-345B0F841836}"/>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The purpose of a pre-start is to compare the actual machine and planned task with the current authorised checklist and information before use. Records and manuals must relate to the tractor and equipment actually nominated for the job.</a:t>
            </a:r>
          </a:p>
        </p:txBody>
      </p:sp>
      <p:sp>
        <p:nvSpPr>
          <p:cNvPr id="11" name="">
            <a:extLst xmlns:a="http://schemas.openxmlformats.org/drawingml/2006/main">
              <a:ext uri="{FF2B5EF4-FFF2-40B4-BE49-F238E27FC236}">
                <a16:creationId xmlns:a16="http://schemas.microsoft.com/office/drawing/2014/main" id="{53BCCDED-8074-4DB2-B0F6-7973403073EE}"/>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43E9908D-3098-4889-84A1-C023071B534F}"/>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B787FE5D-095D-4EFB-BB2D-421BC86F2DAC}"/>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214520204"/>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696EAD-6AFC-45F0-A917-325AE15630EF}"/>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BFEB953C-3486-4DCC-9EA1-9A655400B158}"/>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5">
            <a:extLst xmlns:a="http://schemas.openxmlformats.org/drawingml/2006/main">
              <a:ext uri="{FF2B5EF4-FFF2-40B4-BE49-F238E27FC236}">
                <a16:creationId xmlns:a16="http://schemas.microsoft.com/office/drawing/2014/main" id="{39E61254-E249-4E06-8C72-580CF97E7002}"/>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Pre-start inspection and defect decisions: decide from evidence</a:t>
            </a:r>
          </a:p>
        </p:txBody>
      </p:sp>
      <p:sp>
        <p:nvSpPr>
          <p:cNvPr id="4" name="">
            <a:extLst xmlns:a="http://schemas.openxmlformats.org/drawingml/2006/main">
              <a:ext uri="{FF2B5EF4-FFF2-40B4-BE49-F238E27FC236}">
                <a16:creationId xmlns:a16="http://schemas.microsoft.com/office/drawing/2014/main" id="{D04570F4-0163-40D3-AC06-CE41A6C04F47}"/>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844BC0BB-3859-4EC4-ADF0-319B810A2619}"/>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916C536D-64ED-4E89-A962-EF945F890BEE}"/>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091B7EE-B1AD-4DC2-AF95-705DBEFCEED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71D4DAD2-C200-41A2-B026-80C857817112}"/>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During a fictional teacher-led inspection, Casey sees fresh fluid on the ground under the nominated tractor and cannot identify its source.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condition is abnormal and cannot be accepted by guesswork.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Casey does not operate or investigate moving parts; they report the exact location and observation.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Casey marks the status as referred and records the supervisor's direction in the current system.</a:t>
            </a:r>
          </a:p>
        </p:txBody>
      </p:sp>
      <p:sp>
        <p:nvSpPr>
          <p:cNvPr id="9" name="">
            <a:extLst xmlns:a="http://schemas.openxmlformats.org/drawingml/2006/main">
              <a:ext uri="{FF2B5EF4-FFF2-40B4-BE49-F238E27FC236}">
                <a16:creationId xmlns:a16="http://schemas.microsoft.com/office/drawing/2014/main" id="{54EF0765-40C0-4923-96AD-DE63DA0DC06D}"/>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12E3163-A3BB-4BAA-98B8-5F9EC3C579A8}"/>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99CA22D3-492D-433D-B9AC-AD623A6C2B63}"/>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is the purpose of a tractor pre-start in this lesson?</a:t>
            </a:r>
          </a:p>
        </p:txBody>
      </p:sp>
      <p:sp>
        <p:nvSpPr>
          <p:cNvPr id="12" name="">
            <a:extLst xmlns:a="http://schemas.openxmlformats.org/drawingml/2006/main">
              <a:ext uri="{FF2B5EF4-FFF2-40B4-BE49-F238E27FC236}">
                <a16:creationId xmlns:a16="http://schemas.microsoft.com/office/drawing/2014/main" id="{FBBC5A55-EBE9-423A-8431-623DB2DFB303}"/>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To memorise a universal operating sequence for every tractor.</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To compare actual readiness evidence with the current authorised source before use.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To practise repairs before a supervisor arrives.</a:t>
            </a:r>
          </a:p>
        </p:txBody>
      </p:sp>
      <p:sp>
        <p:nvSpPr>
          <p:cNvPr id="13" name="">
            <a:extLst xmlns:a="http://schemas.openxmlformats.org/drawingml/2006/main">
              <a:ext uri="{FF2B5EF4-FFF2-40B4-BE49-F238E27FC236}">
                <a16:creationId xmlns:a16="http://schemas.microsoft.com/office/drawing/2014/main" id="{95CD5AA5-6FF5-45B6-A491-40B3759C50F3}"/>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Actual machine plus current authorised checklist equals readiness evidence.</a:t>
            </a:r>
          </a:p>
        </p:txBody>
      </p:sp>
    </p:spTree>
    <p:extLst>
      <p:ext uri="{BB962C8B-B14F-4D97-AF65-F5344CB8AC3E}">
        <p14:creationId xmlns:p14="http://schemas.microsoft.com/office/powerpoint/2010/main" val="614437701"/>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2403D52-4636-4F36-9A7F-1B1EBB6C834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A70E8553-8FDD-4F56-AB55-1840584500EF}"/>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6">
            <a:extLst xmlns:a="http://schemas.openxmlformats.org/drawingml/2006/main">
              <a:ext uri="{FF2B5EF4-FFF2-40B4-BE49-F238E27FC236}">
                <a16:creationId xmlns:a16="http://schemas.microsoft.com/office/drawing/2014/main" id="{9666DB79-DC9F-437E-BD6A-37A9DDD1B7C0}"/>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Farm traffic, attachments and exclusion zones</a:t>
            </a:r>
          </a:p>
        </p:txBody>
      </p:sp>
      <p:sp>
        <p:nvSpPr>
          <p:cNvPr id="4" name="">
            <a:extLst xmlns:a="http://schemas.openxmlformats.org/drawingml/2006/main">
              <a:ext uri="{FF2B5EF4-FFF2-40B4-BE49-F238E27FC236}">
                <a16:creationId xmlns:a16="http://schemas.microsoft.com/office/drawing/2014/main" id="{471570D5-2E5A-4E69-88F9-F431BA6A2B87}"/>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8B1A4374-13EE-4C77-8BE9-FC1CBCA5C7C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95F7EDFE-F9E3-4751-A4B8-835A45296E4C}"/>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d5d6020657d44c9">
            <a:extLst>
              <a:ext uri="{96DAC541-7B7A-43D3-8B79-37D633B846F1}">
                <asvg:svgBlip xmlns:asvg="http://schemas.microsoft.com/office/drawing/2016/SVG/main" r:embed="R084a599e786642d3"/>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02C24F2-C6EE-4E24-ABAB-78937B91CAF0}"/>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539061E0-BED6-49C4-89FF-07B06CBBFA91}"/>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Shared work areas create interacting paths</a:t>
            </a:r>
          </a:p>
          <a:p xmlns:a="http://schemas.openxmlformats.org/drawingml/2006/main">
            <a:pPr algn="l">
              <a:defRPr sz="1725" b="1">
                <a:solidFill>
                  <a:srgbClr val="123E2A"/>
                </a:solidFill>
              </a:defRPr>
            </a:pPr>
            <a:r>
              <a:rPr sz="1725" b="1">
                <a:solidFill>
                  <a:srgbClr val="123E2A"/>
                </a:solidFill>
              </a:rPr>
              <a:t>• Blind spots are a planning problem</a:t>
            </a:r>
          </a:p>
        </p:txBody>
      </p:sp>
      <p:sp>
        <p:nvSpPr>
          <p:cNvPr id="10" name="">
            <a:extLst xmlns:a="http://schemas.openxmlformats.org/drawingml/2006/main">
              <a:ext uri="{FF2B5EF4-FFF2-40B4-BE49-F238E27FC236}">
                <a16:creationId xmlns:a16="http://schemas.microsoft.com/office/drawing/2014/main" id="{6E5BB391-4F0F-41C1-AFF3-0C75F26E2389}"/>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Farm traffic risk grows when people, tractors, other vehicles, livestock and deliveries need the same space. A person outside a machine may assume they are visible, while the operator may not be able to confirm their position.</a:t>
            </a:r>
          </a:p>
        </p:txBody>
      </p:sp>
      <p:sp>
        <p:nvSpPr>
          <p:cNvPr id="11" name="">
            <a:extLst xmlns:a="http://schemas.openxmlformats.org/drawingml/2006/main">
              <a:ext uri="{FF2B5EF4-FFF2-40B4-BE49-F238E27FC236}">
                <a16:creationId xmlns:a16="http://schemas.microsoft.com/office/drawing/2014/main" id="{5C017CA8-BEA4-46E5-B750-028E9D0F0095}"/>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1CC6C77E-E3CA-447B-BFA0-E7C23E97E4A0}"/>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D9839B40-FBD4-4957-B5F8-75BE0ED9AC82}"/>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64295530"/>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70E0EA-9B87-4F9C-84DC-DCF85E22F3F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E0E5158E-0B2D-4AA2-8E7B-FDC94853D28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7">
            <a:extLst xmlns:a="http://schemas.openxmlformats.org/drawingml/2006/main">
              <a:ext uri="{FF2B5EF4-FFF2-40B4-BE49-F238E27FC236}">
                <a16:creationId xmlns:a16="http://schemas.microsoft.com/office/drawing/2014/main" id="{8E400BBE-CE3F-4F82-B0DA-D932F1095606}"/>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Farm traffic, attachments and exclusion zones: decide from evidence</a:t>
            </a:r>
          </a:p>
        </p:txBody>
      </p:sp>
      <p:sp>
        <p:nvSpPr>
          <p:cNvPr id="4" name="">
            <a:extLst xmlns:a="http://schemas.openxmlformats.org/drawingml/2006/main">
              <a:ext uri="{FF2B5EF4-FFF2-40B4-BE49-F238E27FC236}">
                <a16:creationId xmlns:a16="http://schemas.microsoft.com/office/drawing/2014/main" id="{ED38E88F-7829-4298-8FAC-A0BF2D38D525}"/>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A7CC51E7-EA65-49BB-A5EA-E8FE46B90EAD}"/>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3235B5D8-B771-4D27-8D98-6828A488230E}"/>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AD18AC6-2779-455C-886B-00C7D8938F5E}"/>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1F6644C3-4944-48B0-A907-1A72A5487C56}"/>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delivery arrives earlier than planned and its route crosses a marked tractor work area.</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Two authorised activities now have overlapping paths, so the original separation cannot be assumed effective.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stays outside the area and reports the timing and route conflict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learner confirms the communicated change and notes the reason for the delay, without giving movement directions.</a:t>
            </a:r>
          </a:p>
        </p:txBody>
      </p:sp>
      <p:sp>
        <p:nvSpPr>
          <p:cNvPr id="9" name="">
            <a:extLst xmlns:a="http://schemas.openxmlformats.org/drawingml/2006/main">
              <a:ext uri="{FF2B5EF4-FFF2-40B4-BE49-F238E27FC236}">
                <a16:creationId xmlns:a16="http://schemas.microsoft.com/office/drawing/2014/main" id="{E7E5F0A2-06FE-4444-B9A5-75005EB016A3}"/>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6723CA1-2153-4746-9E9F-7A406500BB0A}"/>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16C3162C-12A3-4636-8771-FFA432ABD9E5}"/>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should a new attachment trigger review of the work plan?</a:t>
            </a:r>
          </a:p>
        </p:txBody>
      </p:sp>
      <p:sp>
        <p:nvSpPr>
          <p:cNvPr id="12" name="">
            <a:extLst xmlns:a="http://schemas.openxmlformats.org/drawingml/2006/main">
              <a:ext uri="{FF2B5EF4-FFF2-40B4-BE49-F238E27FC236}">
                <a16:creationId xmlns:a16="http://schemas.microsoft.com/office/drawing/2014/main" id="{1ACC55EF-5CB3-45AB-838B-E65D06ED466F}"/>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It can change dimensions, visibility, capacity and the work area around the tractor.</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Every attachment is operated in exactly the same way.</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It allows a learner to choose new settings from memory.</a:t>
            </a:r>
          </a:p>
        </p:txBody>
      </p:sp>
      <p:sp>
        <p:nvSpPr>
          <p:cNvPr id="13" name="">
            <a:extLst xmlns:a="http://schemas.openxmlformats.org/drawingml/2006/main">
              <a:ext uri="{FF2B5EF4-FFF2-40B4-BE49-F238E27FC236}">
                <a16:creationId xmlns:a16="http://schemas.microsoft.com/office/drawing/2014/main" id="{BE48087F-D8F3-4AD8-B3B1-407FA9E79B82}"/>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Machine plus equipment must be treated as one matched configuration.</a:t>
            </a:r>
          </a:p>
        </p:txBody>
      </p:sp>
    </p:spTree>
    <p:extLst>
      <p:ext uri="{BB962C8B-B14F-4D97-AF65-F5344CB8AC3E}">
        <p14:creationId xmlns:p14="http://schemas.microsoft.com/office/powerpoint/2010/main" val="224502253"/>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5B48BD0-F08A-4754-8F51-06338851FBF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8C16E04F-6E9B-41A3-AA5B-BA13FAAC6FF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8">
            <a:extLst xmlns:a="http://schemas.openxmlformats.org/drawingml/2006/main">
              <a:ext uri="{FF2B5EF4-FFF2-40B4-BE49-F238E27FC236}">
                <a16:creationId xmlns:a16="http://schemas.microsoft.com/office/drawing/2014/main" id="{BEF0491D-1D0A-43E3-B1AA-1BF44561D5D2}"/>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Usage records, handover and review</a:t>
            </a:r>
          </a:p>
        </p:txBody>
      </p:sp>
      <p:sp>
        <p:nvSpPr>
          <p:cNvPr id="4" name="">
            <a:extLst xmlns:a="http://schemas.openxmlformats.org/drawingml/2006/main">
              <a:ext uri="{FF2B5EF4-FFF2-40B4-BE49-F238E27FC236}">
                <a16:creationId xmlns:a16="http://schemas.microsoft.com/office/drawing/2014/main" id="{35D03DC3-0CFA-4D08-B5DC-4C0C451F5E69}"/>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8DEE009E-4752-4BF1-A15C-0CE27A038FD0}"/>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F26C70D4-0749-4C95-AC97-869BE3941C11}"/>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4a77bd93ea549a6">
            <a:extLst>
              <a:ext uri="{96DAC541-7B7A-43D3-8B79-37D633B846F1}">
                <asvg:svgBlip xmlns:asvg="http://schemas.microsoft.com/office/drawing/2016/SVG/main" r:embed="Rc07be3085e514090"/>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D556A1C-0938-49C4-AEFE-2C57E3189FB8}"/>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50D4410E-5DEA-44C5-9CF7-872A37257956}"/>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usage record connects people and time</a:t>
            </a:r>
          </a:p>
          <a:p xmlns:a="http://schemas.openxmlformats.org/drawingml/2006/main">
            <a:pPr algn="l">
              <a:defRPr sz="1725" b="1">
                <a:solidFill>
                  <a:srgbClr val="123E2A"/>
                </a:solidFill>
              </a:defRPr>
            </a:pPr>
            <a:r>
              <a:rPr sz="1725" b="1">
                <a:solidFill>
                  <a:srgbClr val="123E2A"/>
                </a:solidFill>
              </a:rPr>
              <a:t>• Record what the source supports</a:t>
            </a:r>
          </a:p>
        </p:txBody>
      </p:sp>
      <p:sp>
        <p:nvSpPr>
          <p:cNvPr id="10" name="">
            <a:extLst xmlns:a="http://schemas.openxmlformats.org/drawingml/2006/main">
              <a:ext uri="{FF2B5EF4-FFF2-40B4-BE49-F238E27FC236}">
                <a16:creationId xmlns:a16="http://schemas.microsoft.com/office/drawing/2014/main" id="{FBE50B6E-0734-4136-AADD-657B9741A328}"/>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machine may pass between operators, tasks, locations and maintenance roles. Values should come from the authorised machine display, job record or direct observation as the workplace procedure allows.</a:t>
            </a:r>
          </a:p>
        </p:txBody>
      </p:sp>
      <p:sp>
        <p:nvSpPr>
          <p:cNvPr id="11" name="">
            <a:extLst xmlns:a="http://schemas.openxmlformats.org/drawingml/2006/main">
              <a:ext uri="{FF2B5EF4-FFF2-40B4-BE49-F238E27FC236}">
                <a16:creationId xmlns:a16="http://schemas.microsoft.com/office/drawing/2014/main" id="{78AEE009-A689-4CFC-8662-6594737E14D2}"/>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E296D0C3-282B-4CE0-91DD-873D05E730F5}"/>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2F03A92B-B11B-4B21-AF34-C45588C7BDFC}"/>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29449222"/>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B923E5A-55B1-443C-8EDD-F63D9BD8BC6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03D326FC-ABD0-43E0-973C-894EACC1C177}"/>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03  •  PRIMARY INDUSTRIES</a:t>
            </a:r>
          </a:p>
        </p:txBody>
      </p:sp>
      <p:sp>
        <p:nvSpPr>
          <p:cNvPr id="3" name="title-9">
            <a:extLst xmlns:a="http://schemas.openxmlformats.org/drawingml/2006/main">
              <a:ext uri="{FF2B5EF4-FFF2-40B4-BE49-F238E27FC236}">
                <a16:creationId xmlns:a16="http://schemas.microsoft.com/office/drawing/2014/main" id="{C096704A-61E9-45B9-959C-76B45762297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Usage records, handover and review: decide from evidence</a:t>
            </a:r>
          </a:p>
        </p:txBody>
      </p:sp>
      <p:sp>
        <p:nvSpPr>
          <p:cNvPr id="4" name="">
            <a:extLst xmlns:a="http://schemas.openxmlformats.org/drawingml/2006/main">
              <a:ext uri="{FF2B5EF4-FFF2-40B4-BE49-F238E27FC236}">
                <a16:creationId xmlns:a16="http://schemas.microsoft.com/office/drawing/2014/main" id="{0C021561-FEB5-40F5-A4F8-EA41D7A47B2F}"/>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3</a:t>
            </a:r>
          </a:p>
        </p:txBody>
      </p:sp>
      <p:sp>
        <p:nvSpPr>
          <p:cNvPr id="5" name="">
            <a:extLst xmlns:a="http://schemas.openxmlformats.org/drawingml/2006/main">
              <a:ext uri="{FF2B5EF4-FFF2-40B4-BE49-F238E27FC236}">
                <a16:creationId xmlns:a16="http://schemas.microsoft.com/office/drawing/2014/main" id="{E7EDF30B-32CD-4672-8199-82144B6E0D80}"/>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EB60C2DC-00DA-4A3B-94F0-1EEC836C626E}"/>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E3ADFA6-5612-4E7F-A8FC-F10C1819459E}"/>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E6C5F2B5-5C86-4A28-9E4C-584672D7B1B1}"/>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usage log lists Tractor F07 as available, but a same-day defect note for F07 says 'referred—status pending'.</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two current records conflict, and a learner cannot decide that the availability entry overrides the defect status.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does not use the machine and presents both records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learner verifies that the handover now shows the same status in each relevant system.</a:t>
            </a:r>
          </a:p>
        </p:txBody>
      </p:sp>
      <p:sp>
        <p:nvSpPr>
          <p:cNvPr id="9" name="">
            <a:extLst xmlns:a="http://schemas.openxmlformats.org/drawingml/2006/main">
              <a:ext uri="{FF2B5EF4-FFF2-40B4-BE49-F238E27FC236}">
                <a16:creationId xmlns:a16="http://schemas.microsoft.com/office/drawing/2014/main" id="{57661725-D191-48C4-978B-39F676655D6B}"/>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D03DFAB-24AC-41D4-A763-41D87D58B279}"/>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4493CC4E-9FD7-45DB-A60F-9E63D99DF6C5}"/>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required usage value was not captured. What is the most reliable response?</a:t>
            </a:r>
          </a:p>
        </p:txBody>
      </p:sp>
      <p:sp>
        <p:nvSpPr>
          <p:cNvPr id="12" name="">
            <a:extLst xmlns:a="http://schemas.openxmlformats.org/drawingml/2006/main">
              <a:ext uri="{FF2B5EF4-FFF2-40B4-BE49-F238E27FC236}">
                <a16:creationId xmlns:a16="http://schemas.microsoft.com/office/drawing/2014/main" id="{C74EFCF5-A2EA-4C47-912A-A6068DD2DE2D}"/>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Copy the previous value because the machine was used only briefly.</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Estimate a realistic value and mark it as exact.</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Record the value as unconfirmed through the current process and report the gap.</a:t>
            </a:r>
          </a:p>
        </p:txBody>
      </p:sp>
      <p:sp>
        <p:nvSpPr>
          <p:cNvPr id="13" name="">
            <a:extLst xmlns:a="http://schemas.openxmlformats.org/drawingml/2006/main">
              <a:ext uri="{FF2B5EF4-FFF2-40B4-BE49-F238E27FC236}">
                <a16:creationId xmlns:a16="http://schemas.microsoft.com/office/drawing/2014/main" id="{D37B66B6-1A64-409B-BD23-0D7A69C038FB}"/>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Unknown recorded honestly is better than a number guessed confidently.</a:t>
            </a:r>
          </a:p>
        </p:txBody>
      </p:sp>
    </p:spTree>
    <p:extLst>
      <p:ext uri="{BB962C8B-B14F-4D97-AF65-F5344CB8AC3E}">
        <p14:creationId xmlns:p14="http://schemas.microsoft.com/office/powerpoint/2010/main" val="157658375"/>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C8AB10-A5D2-46A0-A04F-B08D44EEFB47}"/>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4B4BFFFF-0623-4133-951D-6AE6E09BE366}"/>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4AD58B9B-BD78-4113-9417-9E3182735D53}"/>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Match task, tractor, terrain and authority</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Pre-start inspection and defect decisions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Farm traffic, attachments and exclusion zones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Usage records, handover and review</a:t>
            </a:r>
          </a:p>
        </p:txBody>
      </p:sp>
      <p:sp>
        <p:nvSpPr>
          <p:cNvPr id="4" name="">
            <a:extLst xmlns:a="http://schemas.openxmlformats.org/drawingml/2006/main">
              <a:ext uri="{FF2B5EF4-FFF2-40B4-BE49-F238E27FC236}">
                <a16:creationId xmlns:a16="http://schemas.microsoft.com/office/drawing/2014/main" id="{14BA0896-198C-4D12-8F7D-8398E3F62E48}"/>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Complete a readiness match table</a:t>
            </a:r>
          </a:p>
          <a:p xmlns:a="http://schemas.openxmlformats.org/drawingml/2006/main">
            <a:pPr algn="l">
              <a:defRPr sz="1350" b="0">
                <a:solidFill>
                  <a:srgbClr val="FFFFFF"/>
                </a:solidFill>
              </a:defRPr>
            </a:pPr>
            <a:r>
              <a:rPr sz="1350" b="0">
                <a:solidFill>
                  <a:srgbClr val="FFFFFF"/>
                </a:solidFill>
              </a:rPr>
              <a:t>Use a fictional teacher-provided brief and image.</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Classify fictional inspection findings</a:t>
            </a:r>
          </a:p>
          <a:p xmlns:a="http://schemas.openxmlformats.org/drawingml/2006/main">
            <a:pPr algn="l">
              <a:defRPr sz="1350" b="0">
                <a:solidFill>
                  <a:srgbClr val="FFFFFF"/>
                </a:solidFill>
              </a:defRPr>
            </a:pPr>
            <a:r>
              <a:rPr sz="1350" b="0">
                <a:solidFill>
                  <a:srgbClr val="FFFFFF"/>
                </a:solidFill>
              </a:rPr>
              <a:t>Sort teacher-provided fictional findings into Confirmed, Abnormal and Unconfirmed.</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fictional traffic map</a:t>
            </a:r>
          </a:p>
          <a:p xmlns:a="http://schemas.openxmlformats.org/drawingml/2006/main">
            <a:pPr algn="l">
              <a:defRPr sz="1350" b="0">
                <a:solidFill>
                  <a:srgbClr val="FFFFFF"/>
                </a:solidFill>
              </a:defRPr>
            </a:pPr>
            <a:r>
              <a:rPr sz="1350" b="0">
                <a:solidFill>
                  <a:srgbClr val="FFFFFF"/>
                </a:solidFill>
              </a:rPr>
              <a:t>Mark path crossings, possible blind areas and one changed activity on a fictional map.</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fictional machine handover</a:t>
            </a:r>
          </a:p>
          <a:p xmlns:a="http://schemas.openxmlformats.org/drawingml/2006/main">
            <a:pPr algn="l">
              <a:defRPr sz="1350" b="0">
                <a:solidFill>
                  <a:srgbClr val="FFFFFF"/>
                </a:solidFill>
              </a:defRPr>
            </a:pPr>
            <a:r>
              <a:rPr sz="1350" b="0">
                <a:solidFill>
                  <a:srgbClr val="FFFFFF"/>
                </a:solidFill>
              </a:rPr>
              <a:t>Compare a fictional usage entry, defect note and handover message.</a:t>
            </a:r>
          </a:p>
        </p:txBody>
      </p:sp>
      <p:sp>
        <p:nvSpPr>
          <p:cNvPr id="5" name="">
            <a:extLst xmlns:a="http://schemas.openxmlformats.org/drawingml/2006/main">
              <a:ext uri="{FF2B5EF4-FFF2-40B4-BE49-F238E27FC236}">
                <a16:creationId xmlns:a16="http://schemas.microsoft.com/office/drawing/2014/main" id="{77D4207F-9DE1-4E31-AADB-D4E6ADF04ED4}"/>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0316BD6D-B05F-4130-ADD8-3348CD1F4BB1}"/>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178749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2026-08-21T10:03:28.9410000Z</dcterms:created>
  <dcterms:modified xsi:type="dcterms:W3CDTF">2026-08-21T10:03:28.9410000Z</dcterms:modified>
</coreProperties>
</file>