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eaac01e2484164" /><Relationship Type="http://schemas.openxmlformats.org/officeDocument/2006/relationships/extended-properties" Target="/docProps/app.xml" Id="R47e8dbfaf7074178" /><Relationship Type="http://schemas.openxmlformats.org/officeDocument/2006/relationships/officeDocument" Target="/ppt/presentation.xml" Id="R3bc0e94686554d81" /></Relationships>
</file>

<file path=ppt/presentation.xml><?xml version="1.0" encoding="utf-8"?>
<p:presentation xmlns:p="http://schemas.openxmlformats.org/presentationml/2006/main">
  <p:sldMasterIdLst>
    <p:sldMasterId xmlns:r="http://schemas.openxmlformats.org/officeDocument/2006/relationships" id="2147483648" r:id="Rfc9b9fd3df464e22"/>
  </p:sldMasterIdLst>
  <p:notesMasterIdLst>
    <p:notesMasterId xmlns:r="http://schemas.openxmlformats.org/officeDocument/2006/relationships" r:id="R72f3cca4139541ca"/>
  </p:notesMasterIdLst>
  <p:sldIdLst>
    <p:sldId xmlns:r="http://schemas.openxmlformats.org/officeDocument/2006/relationships" id="256" r:id="Rc74b1010f99a4bb9"/>
    <p:sldId xmlns:r="http://schemas.openxmlformats.org/officeDocument/2006/relationships" id="257" r:id="R6034e18559ae4bba"/>
    <p:sldId xmlns:r="http://schemas.openxmlformats.org/officeDocument/2006/relationships" id="258" r:id="Rf5363b335e20453c"/>
    <p:sldId xmlns:r="http://schemas.openxmlformats.org/officeDocument/2006/relationships" id="259" r:id="R5a0e22292cbd4809"/>
    <p:sldId xmlns:r="http://schemas.openxmlformats.org/officeDocument/2006/relationships" id="260" r:id="Rfdccd34884ea4b51"/>
    <p:sldId xmlns:r="http://schemas.openxmlformats.org/officeDocument/2006/relationships" id="261" r:id="Rb8c39788de99466e"/>
    <p:sldId xmlns:r="http://schemas.openxmlformats.org/officeDocument/2006/relationships" id="262" r:id="R4e8d63194cdd4a6a"/>
    <p:sldId xmlns:r="http://schemas.openxmlformats.org/officeDocument/2006/relationships" id="263" r:id="R7d1095a647f54bb6"/>
    <p:sldId xmlns:r="http://schemas.openxmlformats.org/officeDocument/2006/relationships" id="264" r:id="R3eda02c5e6b24ddf"/>
    <p:sldId xmlns:r="http://schemas.openxmlformats.org/officeDocument/2006/relationships" id="265" r:id="Rb5d3a21b685b42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1d1d4307d644b8" /><Relationship Type="http://schemas.openxmlformats.org/officeDocument/2006/relationships/slideMaster" Target="/ppt/slideMasters/slideMaster1.xml" Id="Rfc9b9fd3df464e22" /><Relationship Type="http://schemas.openxmlformats.org/officeDocument/2006/relationships/notesMaster" Target="/ppt/notesMasters/notesMaster1.xml" Id="R72f3cca4139541ca" /><Relationship Type="http://schemas.openxmlformats.org/officeDocument/2006/relationships/presProps" Target="/ppt/presProps.xml" Id="R8a945bb2cf544c7a" /><Relationship Type="http://schemas.openxmlformats.org/officeDocument/2006/relationships/tableStyles" Target="/ppt/tableStyles.xml" Id="R897ecec0e6a14037" /><Relationship Type="http://schemas.openxmlformats.org/officeDocument/2006/relationships/slide" Target="/ppt/slides/slide1.xml" Id="Rc74b1010f99a4bb9" /><Relationship Type="http://schemas.openxmlformats.org/officeDocument/2006/relationships/slide" Target="/ppt/slides/slide2.xml" Id="R6034e18559ae4bba" /><Relationship Type="http://schemas.openxmlformats.org/officeDocument/2006/relationships/slide" Target="/ppt/slides/slide3.xml" Id="Rf5363b335e20453c" /><Relationship Type="http://schemas.openxmlformats.org/officeDocument/2006/relationships/slide" Target="/ppt/slides/slide4.xml" Id="R5a0e22292cbd4809" /><Relationship Type="http://schemas.openxmlformats.org/officeDocument/2006/relationships/slide" Target="/ppt/slides/slide5.xml" Id="Rfdccd34884ea4b51" /><Relationship Type="http://schemas.openxmlformats.org/officeDocument/2006/relationships/slide" Target="/ppt/slides/slide6.xml" Id="Rb8c39788de99466e" /><Relationship Type="http://schemas.openxmlformats.org/officeDocument/2006/relationships/slide" Target="/ppt/slides/slide7.xml" Id="R4e8d63194cdd4a6a" /><Relationship Type="http://schemas.openxmlformats.org/officeDocument/2006/relationships/slide" Target="/ppt/slides/slide8.xml" Id="R7d1095a647f54bb6" /><Relationship Type="http://schemas.openxmlformats.org/officeDocument/2006/relationships/slide" Target="/ppt/slides/slide9.xml" Id="R3eda02c5e6b24ddf" /><Relationship Type="http://schemas.openxmlformats.org/officeDocument/2006/relationships/slide" Target="/ppt/slides/slide10.xml" Id="Rb5d3a21b685b42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c98b56cb124a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82f68e34ee4b46" /><Relationship Type="http://schemas.openxmlformats.org/officeDocument/2006/relationships/notesMaster" Target="/ppt/notesMasters/notesMaster1.xml" Id="Rbe1935623ba844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9b763e64654a69" /><Relationship Type="http://schemas.openxmlformats.org/officeDocument/2006/relationships/notesMaster" Target="/ppt/notesMasters/notesMaster1.xml" Id="Rbd372775cdca46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b0a4073c68426b" /><Relationship Type="http://schemas.openxmlformats.org/officeDocument/2006/relationships/notesMaster" Target="/ppt/notesMasters/notesMaster1.xml" Id="Re891151df47f48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7643f7b9844e36" /><Relationship Type="http://schemas.openxmlformats.org/officeDocument/2006/relationships/notesMaster" Target="/ppt/notesMasters/notesMaster1.xml" Id="R1a531f8f12de41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51cc3ea4344da9" /><Relationship Type="http://schemas.openxmlformats.org/officeDocument/2006/relationships/notesMaster" Target="/ppt/notesMasters/notesMaster1.xml" Id="Rac98cb2194934d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3f0cbcc9de4afb" /><Relationship Type="http://schemas.openxmlformats.org/officeDocument/2006/relationships/notesMaster" Target="/ppt/notesMasters/notesMaster1.xml" Id="R458de98e731d44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52c05b66c14007" /><Relationship Type="http://schemas.openxmlformats.org/officeDocument/2006/relationships/notesMaster" Target="/ppt/notesMasters/notesMaster1.xml" Id="R849952a0e62c4e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2f5f709a0e4335" /><Relationship Type="http://schemas.openxmlformats.org/officeDocument/2006/relationships/notesMaster" Target="/ppt/notesMasters/notesMaster1.xml" Id="R0533d033c7db45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e7ae7fa76740c3" /><Relationship Type="http://schemas.openxmlformats.org/officeDocument/2006/relationships/notesMaster" Target="/ppt/notesMasters/notesMaster1.xml" Id="R4be1013b209b47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61329f41e754f26" /><Relationship Type="http://schemas.openxmlformats.org/officeDocument/2006/relationships/notesMaster" Target="/ppt/notesMasters/notesMaster1.xml" Id="R7c3e62f04abe4b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connecting the task purpose to the four-module route. Ask students which module most clearly prepares them to notice evidence, make a source-led decision and report through authority.</a:t>
            </a:r>
          </a:p>
          <a:p xmlns:a="http://schemas.openxmlformats.org/drawingml/2006/main">
            <a:r>
              <a:t>Boundary: Supplementary learning is grounded in AHCBIO203 Release 1 and the authorised course map. It teaches pathways, observation, planning fields, record literacy and escalation only. The current property biosecurity plan, workplace procedure, manufacturer information and supervisor control entry, isolation, inspection access, clean-down location, products, PPE, infection controls, cleaning steps, waste handling and release decisions.</a:t>
            </a:r>
          </a:p>
          <a:p xmlns:a="http://schemas.openxmlformats.org/drawingml/2006/main">
            <a:r>
              <a:t>[Sources]</a:t>
            </a:r>
          </a:p>
          <a:p xmlns:a="http://schemas.openxmlformats.org/drawingml/2006/main">
            <a:r>
              <a:t>- Supplementary learning is grounded in AHCBIO203 Release 1 and the authorised course map. It teaches pathways, observation, planning fields, record literacy and escalation only. The current property biosecurity plan, workplace procedure, manufacturer information and supervisor control entry, isolation, inspection access, clean-down location, products, PPE, infection controls, cleaning steps, waste handling and release decisions.</a:t>
            </a:r>
          </a:p>
          <a:p xmlns:a="http://schemas.openxmlformats.org/drawingml/2006/main">
            <a:r>
              <a:t>- Course hero: Generated for this course using OpenAI ImageGen on 21 August 2026.</a:t>
            </a:r>
          </a:p>
          <a:p xmlns:a="http://schemas.openxmlformats.org/drawingml/2006/main">
            <a:r>
              <a:t>- Course data: work/pi/site-data/course.json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Look for source, carrier and destination linked by a plausible movement. From where, carried by what, to where?</a:t>
            </a:r>
          </a:p>
          <a:p xmlns:a="http://schemas.openxmlformats.org/drawingml/2006/main">
            <a:r>
              <a:t>Applied action: Draw a fictional pathway map. Use a teacher-provided fictional farm scene. Draw one pathway with source, carrier, contact point and destination, then add where authorised confirmation is required. Do not prescribe entry or cleaning actions.</a:t>
            </a:r>
          </a:p>
          <a:p xmlns:a="http://schemas.openxmlformats.org/drawingml/2006/main">
            <a:r>
              <a:t>Boundary: Supplementary learning is grounded in AHCBIO203 Release 1 and the authorised course map. It teaches pathways, observation, planning fields, record literacy and escalation only. The current property biosecurity plan, workplace procedure, manufacturer information and supervisor control entry, isolation, inspection access, clean-down location, products, PPE, infection controls, cleaning steps, waste handling and release decisions.</a:t>
            </a:r>
          </a:p>
          <a:p xmlns:a="http://schemas.openxmlformats.org/drawingml/2006/main">
            <a:r>
              <a:t>[Sources]</a:t>
            </a:r>
          </a:p>
          <a:p xmlns:a="http://schemas.openxmlformats.org/drawingml/2006/main">
            <a:r>
              <a:t>- Source basis: AHCBIO203 Release 1 purpose and inspection/reporting requirements. The current property biosecurity plan controls zones, entry, threat status and all response actions.</a:t>
            </a:r>
          </a:p>
          <a:p xmlns:a="http://schemas.openxmlformats.org/drawingml/2006/main">
            <a:r>
              <a:t>- Visual visual-task-04-01: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Look for source, carrier and destination linked by a plausible movement. From where, carried by what, to where?
Applied action: Draw a fictional pathway map. Use a teacher-provided fictional farm scene. Draw one pathway with source, carrier, contact point and destination, then add where authorised confirmation is required. Do not prescribe entry or cleaning actions.
Boundary: Supplementary learning is grounded in AHCBIO203 Release 1 and the authorised course map. It teaches pathways, observation, planning fields, record literacy and escalation only. The current property biosecurity plan, workplace procedure, manufacturer information and supervisor control entry, isolation, inspection access, clean-down location, products, PPE, infection controls, cleaning steps, waste handling and release decisions.
[Sources]
- Source basis: AHCBIO203 Release 1 purpose and inspection/reporting requirements. The current property biosecurity plan controls zones, entry, threat status and all response actions.
- Visual visual-task-04-01: Generated locally from accepted Stage 05 module headings; no external image copied.
- Course visual manifest: work/pi/visuals/visual-manifest.json</a:t>
            </a:r>
          </a:p>
          <a:p xmlns:a="http://schemas.openxmlformats.org/drawingml/2006/main">
            <a:r>
              <a:t>Formative check answer: Soil from an outside paddock may be carried on a vehicle to a property work area.</a:t>
            </a:r>
          </a:p>
          <a:p xmlns:a="http://schemas.openxmlformats.org/drawingml/2006/main">
            <a:r>
              <a:t>Correct feedback: You traced a possible movement pathway without overclaiming certainty.</a:t>
            </a:r>
          </a:p>
          <a:p xmlns:a="http://schemas.openxmlformats.org/drawingml/2006/main">
            <a:r>
              <a:t>Corrective feedback: Look for source, carrier and destination linked by a plausible movement.</a:t>
            </a:r>
          </a:p>
          <a:p xmlns:a="http://schemas.openxmlformats.org/drawingml/2006/main">
            <a:r>
              <a:t>Full contextual example: Observed evidence: A fictional contractor vehicle arrives from another property with dried plant material visible near an exterior wheel area, and its booked entry zone is unclear. Decision and reason: The vehicle may connect an outside source to a property destination, while the local access decision is unconfirmed. Safe action: The learner does not direct entry or attempt cleaning; they report the observation and booking gap to the supervisor. Result: The supervisor applies the property biosecurity plan and gives an authorised direction. Next check or record: The learner records the factual observation and confirmed status in the nominated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The checklist guides questions; it does not authorise physical access or release. Coverage tells what needs confirmation, not how to reach it.</a:t>
            </a:r>
          </a:p>
          <a:p xmlns:a="http://schemas.openxmlformats.org/drawingml/2006/main">
            <a:r>
              <a:t>Applied action: Complete an image-only inspection audit. Use a teacher-supplied fictional or de-identified image. Annotate visible evidence and observation limits only. Do not inspect, touch, open or clean physical equipment for this website activity.</a:t>
            </a:r>
          </a:p>
          <a:p xmlns:a="http://schemas.openxmlformats.org/drawingml/2006/main">
            <a:r>
              <a:t>Boundary: Supplementary learning is grounded in AHCBIO203 Release 1 and the authorised course map. It teaches pathways, observation, planning fields, record literacy and escalation only. The current property biosecurity plan, workplace procedure, manufacturer information and supervisor control entry, isolation, inspection access, clean-down location, products, PPE, infection controls, cleaning steps, waste handling and release decisions.</a:t>
            </a:r>
          </a:p>
          <a:p xmlns:a="http://schemas.openxmlformats.org/drawingml/2006/main">
            <a:r>
              <a:t>[Sources]</a:t>
            </a:r>
          </a:p>
          <a:p xmlns:a="http://schemas.openxmlformats.org/drawingml/2006/main">
            <a:r>
              <a:t>- Source basis: AHCBIO203 Release 1 inspection, equipment-fault reporting and documentation requirements. The unit's physical inspection work remains subject to current workplace procedures, safety controls and supervision and is not taught here.</a:t>
            </a:r>
          </a:p>
          <a:p xmlns:a="http://schemas.openxmlformats.org/drawingml/2006/main">
            <a:r>
              <a:t>- Visual visual-task-04-02: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The checklist guides questions; it does not authorise physical access or release. Coverage tells what needs confirmation, not how to reach it.
Applied action: Complete an image-only inspection audit. Use a teacher-supplied fictional or de-identified image. Annotate visible evidence and observation limits only. Do not inspect, touch, open or clean physical equipment for this website activity.
Boundary: Supplementary learning is grounded in AHCBIO203 Release 1 and the authorised course map. It teaches pathways, observation, planning fields, record literacy and escalation only. The current property biosecurity plan, workplace procedure, manufacturer information and supervisor control entry, isolation, inspection access, clean-down location, products, PPE, infection controls, cleaning steps, waste handling and release decisions.
[Sources]
- Source basis: AHCBIO203 Release 1 inspection, equipment-fault reporting and documentation requirements. The unit's physical inspection work remains subject to current workplace procedures, safety controls and supervision and is not taught here.
- Visual visual-task-04-02: Generated locally from accepted Stage 05 module headings; no external image copied.
- Course visual manifest: work/pi/visuals/visual-manifest.json</a:t>
            </a:r>
          </a:p>
          <a:p xmlns:a="http://schemas.openxmlformats.org/drawingml/2006/main">
            <a:r>
              <a:t>Formative check answer: It prompts what kinds of areas need confirmation without giving a physical inspection procedure.</a:t>
            </a:r>
          </a:p>
          <a:p xmlns:a="http://schemas.openxmlformats.org/drawingml/2006/main">
            <a:r>
              <a:t>Correct feedback: You used categories for evidence coverage, not as operating permission.</a:t>
            </a:r>
          </a:p>
          <a:p xmlns:a="http://schemas.openxmlformats.org/drawingml/2006/main">
            <a:r>
              <a:t>Corrective feedback: The checklist guides questions; it does not authorise physical access or release.</a:t>
            </a:r>
          </a:p>
          <a:p xmlns:a="http://schemas.openxmlformats.org/drawingml/2006/main">
            <a:r>
              <a:t>Full contextual example: Observed evidence: In a fictional inspection photograph, dry soil and seed-like material are visible on an external lower surface, while a nearby cover appears damaged. Decision and reason: The material and damage both require authorised review, and the image cannot confirm areas behind the cover. Safe action: The learner annotates only the visible locations and reports the inaccessible area and damage. Result: The supervisor decides the equipment status and next controlled action. Next check or record: The learner records visible, inaccessible and referred categories without naming a threat or opening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The plan must be tied to the current property procedure and approved location. Ask which source and which authorised place control this exact item.</a:t>
            </a:r>
          </a:p>
          <a:p xmlns:a="http://schemas.openxmlformats.org/drawingml/2006/main">
            <a:r>
              <a:t>Applied action: Audit a source-controlled plan. Review a fictional planning card and highlight missing identity, source, role, location, escalation and authority fields. Do not fill any practical step from memory or another property.</a:t>
            </a:r>
          </a:p>
          <a:p xmlns:a="http://schemas.openxmlformats.org/drawingml/2006/main">
            <a:r>
              <a:t>Boundary: Supplementary learning is grounded in AHCBIO203 Release 1 and the authorised course map. It teaches pathways, observation, planning fields, record literacy and escalation only. The current property biosecurity plan, workplace procedure, manufacturer information and supervisor control entry, isolation, inspection access, clean-down location, products, PPE, infection controls, cleaning steps, waste handling and release decisions.</a:t>
            </a:r>
          </a:p>
          <a:p xmlns:a="http://schemas.openxmlformats.org/drawingml/2006/main">
            <a:r>
              <a:t>[Sources]</a:t>
            </a:r>
          </a:p>
          <a:p xmlns:a="http://schemas.openxmlformats.org/drawingml/2006/main">
            <a:r>
              <a:t>- Source basis: AHCBIO203 Release 1 preparation, supervisor-confirmation, workplace-procedure and reporting requirements. Exact tools, products, PPE, infection controls, locations, cleaning and waste procedures remain controlled local content.</a:t>
            </a:r>
          </a:p>
          <a:p xmlns:a="http://schemas.openxmlformats.org/drawingml/2006/main">
            <a:r>
              <a:t>- Visual visual-task-04-03: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The plan must be tied to the current property procedure and approved location. Ask which source and which authorised place control this exact item.
Applied action: Audit a source-controlled plan. Review a fictional planning card and highlight missing identity, source, role, location, escalation and authority fields. Do not fill any practical step from memory or another property.
Boundary: Supplementary learning is grounded in AHCBIO203 Release 1 and the authorised course map. It teaches pathways, observation, planning fields, record literacy and escalation only. The current property biosecurity plan, workplace procedure, manufacturer information and supervisor control entry, isolation, inspection access, clean-down location, products, PPE, infection controls, cleaning steps, waste handling and release decisions.
[Sources]
- Source basis: AHCBIO203 Release 1 preparation, supervisor-confirmation, workplace-procedure and reporting requirements. Exact tools, products, PPE, infection controls, locations, cleaning and waste procedures remain controlled local content.
- Visual visual-task-04-03: Generated locally from accepted Stage 05 module headings; no external image copied.
- Course visual manifest: work/pi/visuals/visual-manifest.json</a:t>
            </a:r>
          </a:p>
          <a:p xmlns:a="http://schemas.openxmlformats.org/drawingml/2006/main">
            <a:r>
              <a:t>Formative check answer: The current property procedure and authorised work location.</a:t>
            </a:r>
          </a:p>
          <a:p xmlns:a="http://schemas.openxmlformats.org/drawingml/2006/main">
            <a:r>
              <a:t>Correct feedback: You identified two local-authority gates before action.</a:t>
            </a:r>
          </a:p>
          <a:p xmlns:a="http://schemas.openxmlformats.org/drawingml/2006/main">
            <a:r>
              <a:t>Corrective feedback: The plan must be tied to the current property procedure and approved location.</a:t>
            </a:r>
          </a:p>
          <a:p xmlns:a="http://schemas.openxmlformats.org/drawingml/2006/main">
            <a:r>
              <a:t>Full contextual example: Observed evidence: A fictional planning card names a support vehicle and destination but leaves the controlling biosecurity procedure and authorised location blank. Decision and reason: The task cannot progress because two property-specific controls are unknown. Safe action: The learner marks both fields 'confirmation required' and sends a concise query to the supervisor. Result: The supervisor points to the current procedure and nominates the approved work location. Next check or record: The learner updates the source and location fields but does not add cleaning steps from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Do not turn a completed activity into an assumed release. No authorised status means status unconfirmed.</a:t>
            </a:r>
          </a:p>
          <a:p xmlns:a="http://schemas.openxmlformats.org/drawingml/2006/main">
            <a:r>
              <a:t>Applied action: Reconcile a fictional biosecurity record set. Compare fictional inspection, activity and movement records. Identify missing or conflicting status and draft an escalation. Do not use real property, vehicle, worker or assessor information.</a:t>
            </a:r>
          </a:p>
          <a:p xmlns:a="http://schemas.openxmlformats.org/drawingml/2006/main">
            <a:r>
              <a:t>Boundary: Supplementary learning is grounded in AHCBIO203 Release 1 and the authorised course map. It teaches pathways, observation, planning fields, record literacy and escalation only. The current property biosecurity plan, workplace procedure, manufacturer information and supervisor control entry, isolation, inspection access, clean-down location, products, PPE, infection controls, cleaning steps, waste handling and release decisions.</a:t>
            </a:r>
          </a:p>
          <a:p xmlns:a="http://schemas.openxmlformats.org/drawingml/2006/main">
            <a:r>
              <a:t>[Sources]</a:t>
            </a:r>
          </a:p>
          <a:p xmlns:a="http://schemas.openxmlformats.org/drawingml/2006/main">
            <a:r>
              <a:t>- Source basis: AHCBIO203 Release 1 requirements for recording cleaning history, documenting inspection results and delivering reports. Current property procedures and authorised roles control release criteria and final status.</a:t>
            </a:r>
          </a:p>
          <a:p xmlns:a="http://schemas.openxmlformats.org/drawingml/2006/main">
            <a:r>
              <a:t>- Visual visual-task-04-04: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Do not turn a completed activity into an assumed release. No authorised status means status unconfirmed.
Applied action: Reconcile a fictional biosecurity record set. Compare fictional inspection, activity and movement records. Identify missing or conflicting status and draft an escalation. Do not use real property, vehicle, worker or assessor information.
Boundary: Supplementary learning is grounded in AHCBIO203 Release 1 and the authorised course map. It teaches pathways, observation, planning fields, record literacy and escalation only. The current property biosecurity plan, workplace procedure, manufacturer information and supervisor control entry, isolation, inspection access, clean-down location, products, PPE, infection controls, cleaning steps, waste handling and release decisions.
[Sources]
- Source basis: AHCBIO203 Release 1 requirements for recording cleaning history, documenting inspection results and delivering reports. Current property procedures and authorised roles control release criteria and final status.
- Visual visual-task-04-04: Generated locally from accepted Stage 05 module headings; no external image copied.
- Course visual manifest: work/pi/visuals/visual-manifest.json</a:t>
            </a:r>
          </a:p>
          <a:p xmlns:a="http://schemas.openxmlformats.org/drawingml/2006/main">
            <a:r>
              <a:t>Formative check answer: The status remains unconfirmed and must be referred.</a:t>
            </a:r>
          </a:p>
          <a:p xmlns:a="http://schemas.openxmlformats.org/drawingml/2006/main">
            <a:r>
              <a:t>Correct feedback: You kept the item pending until the authorised status is recorded.</a:t>
            </a:r>
          </a:p>
          <a:p xmlns:a="http://schemas.openxmlformats.org/drawingml/2006/main">
            <a:r>
              <a:t>Corrective feedback: Do not turn a completed activity into an assumed release.</a:t>
            </a:r>
          </a:p>
          <a:p xmlns:a="http://schemas.openxmlformats.org/drawingml/2006/main">
            <a:r>
              <a:t>Full contextual example: Observed evidence: A fictional record shows an activity entry and a supervisor name, but one required inspection area is marked 'not accessible' and the final-status field is blank. Decision and reason: The record does not support an assumption that the item is released. Safe action: The learner highlights the unresolved area and asks the authorised supervisor to confirm the next controlled action and status. Result: The supervisor records that the item remains pending. Next check or record: The learner checks that the pending status is visible in the handover and does not add release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one retrieval question from each module, then direct students to the teacher-nominated learning action. Re-state that site work is formative and that current workplace and RTO processes control real practice and assessment.</a:t>
            </a:r>
          </a:p>
          <a:p xmlns:a="http://schemas.openxmlformats.org/drawingml/2006/main">
            <a:r>
              <a:t>Boundary: Supplementary learning is grounded in AHCBIO203 Release 1 and the authorised course map. It teaches pathways, observation, planning fields, record literacy and escalation only. The current property biosecurity plan, workplace procedure, manufacturer information and supervisor control entry, isolation, inspection access, clean-down location, products, PPE, infection controls, cleaning steps, waste handling and release decisions.</a:t>
            </a:r>
          </a:p>
          <a:p xmlns:a="http://schemas.openxmlformats.org/drawingml/2006/main">
            <a:r>
              <a:t>[Sources]</a:t>
            </a:r>
          </a:p>
          <a:p xmlns:a="http://schemas.openxmlformats.org/drawingml/2006/main">
            <a:r>
              <a:t>- Source basis: AHCBIO203 Release 1 purpose and inspection/reporting requirements. The current property biosecurity plan controls zones, entry, threat status and all response actions.</a:t>
            </a:r>
          </a:p>
          <a:p xmlns:a="http://schemas.openxmlformats.org/drawingml/2006/main">
            <a:r>
              <a:t>- Source basis: AHCBIO203 Release 1 inspection, equipment-fault reporting and documentation requirements. The unit's physical inspection work remains subject to current workplace procedures, safety controls and supervision and is not taught here.</a:t>
            </a:r>
          </a:p>
          <a:p xmlns:a="http://schemas.openxmlformats.org/drawingml/2006/main">
            <a:r>
              <a:t>- Source basis: AHCBIO203 Release 1 preparation, supervisor-confirmation, workplace-procedure and reporting requirements. Exact tools, products, PPE, infection controls, locations, cleaning and waste procedures remain controlled local content.</a:t>
            </a:r>
          </a:p>
          <a:p xmlns:a="http://schemas.openxmlformats.org/drawingml/2006/main">
            <a:r>
              <a:t>- Source basis: AHCBIO203 Release 1 requirements for recording cleaning history, documenting inspection results and delivering reports. Current property procedures and authorised roles control release criteria and final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621f2a2b914d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abea3d0b5b4461" /><Relationship Type="http://schemas.openxmlformats.org/officeDocument/2006/relationships/slideLayout" Target="/ppt/slideLayouts/slideLayout1.xml" Id="R4d669d56675147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669d56675147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9433a1da8d1466c" /><Relationship Type="http://schemas.openxmlformats.org/officeDocument/2006/relationships/image" Target="/ppt/media/image.png" Id="Rb5ca287302014acb" /><Relationship Type="http://schemas.openxmlformats.org/officeDocument/2006/relationships/notesSlide" Target="/ppt/notesSlides/notesSlide1.xml" Id="R4df1f9e5a69e49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796457597c4318" /><Relationship Type="http://schemas.openxmlformats.org/officeDocument/2006/relationships/image" Target="/ppt/media/image2.png" Id="Rb19b600605c143a3" /><Relationship Type="http://schemas.openxmlformats.org/officeDocument/2006/relationships/image" Target="/ppt/media/image.svg" Id="R09118f6741ff4c9c" /><Relationship Type="http://schemas.openxmlformats.org/officeDocument/2006/relationships/notesSlide" Target="/ppt/notesSlides/notesSlide2.xml" Id="Rc697b865754249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0bbcb5799444be1" /><Relationship Type="http://schemas.openxmlformats.org/officeDocument/2006/relationships/notesSlide" Target="/ppt/notesSlides/notesSlide3.xml" Id="R38a1076d15a84d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b840685a2f4fec" /><Relationship Type="http://schemas.openxmlformats.org/officeDocument/2006/relationships/image" Target="/ppt/media/image3.png" Id="R036e54220fab41c4" /><Relationship Type="http://schemas.openxmlformats.org/officeDocument/2006/relationships/image" Target="/ppt/media/image2.svg" Id="R89c60f4a75904d56" /><Relationship Type="http://schemas.openxmlformats.org/officeDocument/2006/relationships/notesSlide" Target="/ppt/notesSlides/notesSlide4.xml" Id="R0117f1e3bf1345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5702b69f394e14" /><Relationship Type="http://schemas.openxmlformats.org/officeDocument/2006/relationships/notesSlide" Target="/ppt/notesSlides/notesSlide5.xml" Id="R563cdc05c6c643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3133a3bd624ccd" /><Relationship Type="http://schemas.openxmlformats.org/officeDocument/2006/relationships/image" Target="/ppt/media/image4.png" Id="R7d1b901d57874ec4" /><Relationship Type="http://schemas.openxmlformats.org/officeDocument/2006/relationships/image" Target="/ppt/media/image3.svg" Id="Re1005f1383e042a6" /><Relationship Type="http://schemas.openxmlformats.org/officeDocument/2006/relationships/notesSlide" Target="/ppt/notesSlides/notesSlide6.xml" Id="R5552e3bdc5d84c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c327f21a0741c9" /><Relationship Type="http://schemas.openxmlformats.org/officeDocument/2006/relationships/notesSlide" Target="/ppt/notesSlides/notesSlide7.xml" Id="R0107d3849a4445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54e6f8d5a2640eb" /><Relationship Type="http://schemas.openxmlformats.org/officeDocument/2006/relationships/image" Target="/ppt/media/image5.png" Id="Rc2822b7170ca440c" /><Relationship Type="http://schemas.openxmlformats.org/officeDocument/2006/relationships/image" Target="/ppt/media/image4.svg" Id="Ra6a4e93be8104c43" /><Relationship Type="http://schemas.openxmlformats.org/officeDocument/2006/relationships/notesSlide" Target="/ppt/notesSlides/notesSlide8.xml" Id="Rc4ea974c854044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33d4fa8abc4495d" /><Relationship Type="http://schemas.openxmlformats.org/officeDocument/2006/relationships/notesSlide" Target="/ppt/notesSlides/notesSlide9.xml" Id="R837e63ec46fb43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8fc86a74c484c9c" /><Relationship Type="http://schemas.openxmlformats.org/officeDocument/2006/relationships/notesSlide" Target="/ppt/notesSlides/notesSlide10.xml" Id="R700bc5adaed040bd" /></Relationships>
</file>

<file path=ppt/slides/slide1.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5ca287302014acb"/>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AC041F3-17B1-410E-8841-B0DE5AB441B4}"/>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3" name="">
            <a:extLst xmlns:a="http://schemas.openxmlformats.org/drawingml/2006/main">
              <a:ext uri="{FF2B5EF4-FFF2-40B4-BE49-F238E27FC236}">
                <a16:creationId xmlns:a16="http://schemas.microsoft.com/office/drawing/2014/main" id="{1EB36CBC-9AF4-4663-8B4B-363131761660}"/>
              </a:ext>
            </a:extLst>
          </p:cNvPr>
          <p:cNvSpPr>
            <a:spLocks xmlns:a="http://schemas.openxmlformats.org/drawingml/2006/main" noGrp="1"/>
          </p:cNvSpPr>
          <p:nvPr/>
        </p:nvSpPr>
        <p:spPr>
          <a:xfrm xmlns:a="http://schemas.openxmlformats.org/drawingml/2006/main">
            <a:off x="552450" y="5334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AHC20122 • CERTIFICATE II IN AGRICULTURE</a:t>
            </a:r>
          </a:p>
        </p:txBody>
      </p:sp>
      <p:sp>
        <p:nvSpPr>
          <p:cNvPr id="4" name="deck-title">
            <a:extLst xmlns:a="http://schemas.openxmlformats.org/drawingml/2006/main">
              <a:ext uri="{FF2B5EF4-FFF2-40B4-BE49-F238E27FC236}">
                <a16:creationId xmlns:a16="http://schemas.microsoft.com/office/drawing/2014/main" id="{B9DEC738-FAC4-4661-97AB-880C1527D9ED}"/>
              </a:ext>
            </a:extLst>
          </p:cNvPr>
          <p:cNvSpPr>
            <a:spLocks xmlns:a="http://schemas.openxmlformats.org/drawingml/2006/main" noGrp="1"/>
          </p:cNvSpPr>
          <p:nvPr/>
        </p:nvSpPr>
        <p:spPr>
          <a:xfrm xmlns:a="http://schemas.openxmlformats.org/drawingml/2006/main">
            <a:off x="552450" y="1066800"/>
            <a:ext cx="4857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Task 4 · Biosecurity</a:t>
            </a:r>
          </a:p>
        </p:txBody>
      </p:sp>
      <p:sp>
        <p:nvSpPr>
          <p:cNvPr id="5" name="">
            <a:extLst xmlns:a="http://schemas.openxmlformats.org/drawingml/2006/main">
              <a:ext uri="{FF2B5EF4-FFF2-40B4-BE49-F238E27FC236}">
                <a16:creationId xmlns:a16="http://schemas.microsoft.com/office/drawing/2014/main" id="{8D03A748-CD18-4F0B-A32A-62A4C87E4E60}"/>
              </a:ext>
            </a:extLst>
          </p:cNvPr>
          <p:cNvSpPr>
            <a:spLocks xmlns:a="http://schemas.openxmlformats.org/drawingml/2006/main" noGrp="1"/>
          </p:cNvSpPr>
          <p:nvPr/>
        </p:nvSpPr>
        <p:spPr>
          <a:xfrm xmlns:a="http://schemas.openxmlformats.org/drawingml/2006/main">
            <a:off x="552450" y="24003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3EEDF"/>
                </a:solidFill>
              </a:defRPr>
            </a:pPr>
            <a:r>
              <a:rPr sz="1650" b="0">
                <a:solidFill>
                  <a:srgbClr val="F3EEDF"/>
                </a:solidFill>
              </a:rPr>
              <a:t>Recognise contamination pathways, inspect machinery and equipment, plan a controlled clean-down and keep traceable records.</a:t>
            </a:r>
          </a:p>
        </p:txBody>
      </p:sp>
      <p:sp>
        <p:nvSpPr>
          <p:cNvPr id="6" name="">
            <a:extLst xmlns:a="http://schemas.openxmlformats.org/drawingml/2006/main">
              <a:ext uri="{FF2B5EF4-FFF2-40B4-BE49-F238E27FC236}">
                <a16:creationId xmlns:a16="http://schemas.microsoft.com/office/drawing/2014/main" id="{035D2751-F262-42C8-8620-34E341FCD5F7}"/>
              </a:ext>
            </a:extLst>
          </p:cNvPr>
          <p:cNvSpPr>
            <a:spLocks xmlns:a="http://schemas.openxmlformats.org/drawingml/2006/main" noGrp="1"/>
          </p:cNvSpPr>
          <p:nvPr/>
        </p:nvSpPr>
        <p:spPr>
          <a:xfrm xmlns:a="http://schemas.openxmlformats.org/drawingml/2006/main">
            <a:off x="552450" y="3562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LEARNING ROUTE</a:t>
            </a:r>
          </a:p>
        </p:txBody>
      </p:sp>
      <p:sp>
        <p:nvSpPr>
          <p:cNvPr id="7" name="">
            <a:extLst xmlns:a="http://schemas.openxmlformats.org/drawingml/2006/main">
              <a:ext uri="{FF2B5EF4-FFF2-40B4-BE49-F238E27FC236}">
                <a16:creationId xmlns:a16="http://schemas.microsoft.com/office/drawing/2014/main" id="{DEAAB7FC-CED1-45C4-88AF-CC5429AF0FF2}"/>
              </a:ext>
            </a:extLst>
          </p:cNvPr>
          <p:cNvSpPr>
            <a:spLocks xmlns:a="http://schemas.openxmlformats.org/drawingml/2006/main" noGrp="1"/>
          </p:cNvSpPr>
          <p:nvPr/>
        </p:nvSpPr>
        <p:spPr>
          <a:xfrm xmlns:a="http://schemas.openxmlformats.org/drawingml/2006/main">
            <a:off x="552450" y="3886200"/>
            <a:ext cx="47625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01  Biosecurity pathways and zones</a:t>
            </a:r>
          </a:p>
          <a:p xmlns:a="http://schemas.openxmlformats.org/drawingml/2006/main">
            <a:pPr algn="l">
              <a:defRPr sz="1425" b="1">
                <a:solidFill>
                  <a:srgbClr val="FFFFFF"/>
                </a:solidFill>
              </a:defRPr>
            </a:pPr>
            <a:r>
              <a:rPr sz="1425" b="1">
                <a:solidFill>
                  <a:srgbClr val="FFFFFF"/>
                </a:solidFill>
              </a:rPr>
              <a:t>02  Inspect machinery, tools and equipment</a:t>
            </a:r>
          </a:p>
          <a:p xmlns:a="http://schemas.openxmlformats.org/drawingml/2006/main">
            <a:pPr algn="l">
              <a:defRPr sz="1425" b="1">
                <a:solidFill>
                  <a:srgbClr val="FFFFFF"/>
                </a:solidFill>
              </a:defRPr>
            </a:pPr>
            <a:r>
              <a:rPr sz="1425" b="1">
                <a:solidFill>
                  <a:srgbClr val="FFFFFF"/>
                </a:solidFill>
              </a:rPr>
              <a:t>03  Build a clean-down work plan</a:t>
            </a:r>
          </a:p>
          <a:p xmlns:a="http://schemas.openxmlformats.org/drawingml/2006/main">
            <a:pPr algn="l">
              <a:defRPr sz="1425" b="1">
                <a:solidFill>
                  <a:srgbClr val="FFFFFF"/>
                </a:solidFill>
              </a:defRPr>
            </a:pPr>
            <a:r>
              <a:rPr sz="1425" b="1">
                <a:solidFill>
                  <a:srgbClr val="FFFFFF"/>
                </a:solidFill>
              </a:rPr>
              <a:t>04  Records, release checks and escalation</a:t>
            </a:r>
          </a:p>
        </p:txBody>
      </p:sp>
      <p:sp>
        <p:nvSpPr>
          <p:cNvPr id="8" name="">
            <a:extLst xmlns:a="http://schemas.openxmlformats.org/drawingml/2006/main">
              <a:ext uri="{FF2B5EF4-FFF2-40B4-BE49-F238E27FC236}">
                <a16:creationId xmlns:a16="http://schemas.microsoft.com/office/drawing/2014/main" id="{C870B22B-DE18-46E5-A395-CFABB0FFB1BB}"/>
              </a:ext>
            </a:extLst>
          </p:cNvPr>
          <p:cNvSpPr>
            <a:spLocks xmlns:a="http://schemas.openxmlformats.org/drawingml/2006/main" noGrp="1"/>
          </p:cNvSpPr>
          <p:nvPr/>
        </p:nvSpPr>
        <p:spPr>
          <a:xfrm xmlns:a="http://schemas.openxmlformats.org/drawingml/2006/main">
            <a:off x="552450" y="61722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BD6D0"/>
                </a:solidFill>
              </a:defRPr>
            </a:pPr>
            <a:r>
              <a:rPr sz="1050" b="0">
                <a:solidFill>
                  <a:srgbClr val="BBD6D0"/>
                </a:solidFill>
              </a:rPr>
              <a:t>Supplementary learning • current local sources and supervision control real work</a:t>
            </a:r>
          </a:p>
        </p:txBody>
      </p:sp>
    </p:spTree>
    <p:extLst>
      <p:ext uri="{BB962C8B-B14F-4D97-AF65-F5344CB8AC3E}">
        <p14:creationId xmlns:p14="http://schemas.microsoft.com/office/powerpoint/2010/main" val="2023708868"/>
      </p:ext>
    </p:extLst>
  </p:cSld>
</p:sld>
</file>

<file path=ppt/slides/slide2.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C225D80-856B-47A2-BA2C-45F9E4103BBF}"/>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2">
            <a:extLst xmlns:a="http://schemas.openxmlformats.org/drawingml/2006/main">
              <a:ext uri="{FF2B5EF4-FFF2-40B4-BE49-F238E27FC236}">
                <a16:creationId xmlns:a16="http://schemas.microsoft.com/office/drawing/2014/main" id="{EB654A10-569D-409B-9CFF-FD837E56EE3A}"/>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04  •  PRIMARY INDUSTRIES</a:t>
            </a:r>
          </a:p>
        </p:txBody>
      </p:sp>
      <p:sp>
        <p:nvSpPr>
          <p:cNvPr id="3" name="title-2">
            <a:extLst xmlns:a="http://schemas.openxmlformats.org/drawingml/2006/main">
              <a:ext uri="{FF2B5EF4-FFF2-40B4-BE49-F238E27FC236}">
                <a16:creationId xmlns:a16="http://schemas.microsoft.com/office/drawing/2014/main" id="{0B510604-513B-4032-BE0E-D7D19B2A7C3F}"/>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Biosecurity pathways and zones</a:t>
            </a:r>
          </a:p>
        </p:txBody>
      </p:sp>
      <p:sp>
        <p:nvSpPr>
          <p:cNvPr id="4" name="">
            <a:extLst xmlns:a="http://schemas.openxmlformats.org/drawingml/2006/main">
              <a:ext uri="{FF2B5EF4-FFF2-40B4-BE49-F238E27FC236}">
                <a16:creationId xmlns:a16="http://schemas.microsoft.com/office/drawing/2014/main" id="{98C9D209-3624-43F9-84E6-7A7D84F8C236}"/>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4</a:t>
            </a:r>
          </a:p>
        </p:txBody>
      </p:sp>
      <p:sp>
        <p:nvSpPr>
          <p:cNvPr id="5" name="">
            <a:extLst xmlns:a="http://schemas.openxmlformats.org/drawingml/2006/main">
              <a:ext uri="{FF2B5EF4-FFF2-40B4-BE49-F238E27FC236}">
                <a16:creationId xmlns:a16="http://schemas.microsoft.com/office/drawing/2014/main" id="{7B34453F-F395-4478-8927-290777365C92}"/>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2/10</a:t>
            </a:r>
          </a:p>
        </p:txBody>
      </p:sp>
      <p:sp>
        <p:nvSpPr>
          <p:cNvPr id="6" name="">
            <a:extLst xmlns:a="http://schemas.openxmlformats.org/drawingml/2006/main">
              <a:ext uri="{FF2B5EF4-FFF2-40B4-BE49-F238E27FC236}">
                <a16:creationId xmlns:a16="http://schemas.microsoft.com/office/drawing/2014/main" id="{7C9E7AD5-F082-479F-92CF-DB772AAC0097}"/>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19b600605c143a3">
            <a:extLst>
              <a:ext uri="{96DAC541-7B7A-43D3-8B79-37D633B846F1}">
                <asvg:svgBlip xmlns:asvg="http://schemas.microsoft.com/office/drawing/2016/SVG/main" r:embed="R09118f6741ff4c9c"/>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61007BE-72DF-48E6-9542-3F1B232D7BC6}"/>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F785834F-CE6E-4C75-A283-F00E21088392}"/>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Biosecurity manages movement of risk</a:t>
            </a:r>
          </a:p>
          <a:p xmlns:a="http://schemas.openxmlformats.org/drawingml/2006/main">
            <a:pPr algn="l">
              <a:defRPr sz="1725" b="1">
                <a:solidFill>
                  <a:srgbClr val="123E2A"/>
                </a:solidFill>
              </a:defRPr>
            </a:pPr>
            <a:r>
              <a:rPr sz="1725" b="1">
                <a:solidFill>
                  <a:srgbClr val="123E2A"/>
                </a:solidFill>
              </a:rPr>
              <a:t>• Map source, carrier and destination</a:t>
            </a:r>
          </a:p>
        </p:txBody>
      </p:sp>
      <p:sp>
        <p:nvSpPr>
          <p:cNvPr id="10" name="">
            <a:extLst xmlns:a="http://schemas.openxmlformats.org/drawingml/2006/main">
              <a:ext uri="{FF2B5EF4-FFF2-40B4-BE49-F238E27FC236}">
                <a16:creationId xmlns:a16="http://schemas.microsoft.com/office/drawing/2014/main" id="{86DC32B7-3973-4C03-8A78-A8C139478CE8}"/>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Biosecurity protects properties, production systems, animals, plants and environments by reducing the movement and establishment of pests, diseases and unwanted material. A pathway explanation has at least three parts: where material may come from, what may carry it and where it could be transferred.</a:t>
            </a:r>
          </a:p>
        </p:txBody>
      </p:sp>
      <p:sp>
        <p:nvSpPr>
          <p:cNvPr id="11" name="">
            <a:extLst xmlns:a="http://schemas.openxmlformats.org/drawingml/2006/main">
              <a:ext uri="{FF2B5EF4-FFF2-40B4-BE49-F238E27FC236}">
                <a16:creationId xmlns:a16="http://schemas.microsoft.com/office/drawing/2014/main" id="{8206E681-9FF7-424D-B59F-512CC5080FC3}"/>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B5009E77-93E2-4E53-A9AE-4B392E706B36}"/>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1BCFDDA1-E7A1-4F4C-8475-94CEEBD70E03}"/>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574362999"/>
      </p:ext>
    </p:extLst>
  </p:cSld>
</p:sld>
</file>

<file path=ppt/slides/slide3.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98918CB-9B67-473F-AA47-11C3CA4CD4FA}"/>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3">
            <a:extLst xmlns:a="http://schemas.openxmlformats.org/drawingml/2006/main">
              <a:ext uri="{FF2B5EF4-FFF2-40B4-BE49-F238E27FC236}">
                <a16:creationId xmlns:a16="http://schemas.microsoft.com/office/drawing/2014/main" id="{DB054433-5C5B-4473-933F-AFD6A329E644}"/>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04  •  PRIMARY INDUSTRIES</a:t>
            </a:r>
          </a:p>
        </p:txBody>
      </p:sp>
      <p:sp>
        <p:nvSpPr>
          <p:cNvPr id="3" name="title-3">
            <a:extLst xmlns:a="http://schemas.openxmlformats.org/drawingml/2006/main">
              <a:ext uri="{FF2B5EF4-FFF2-40B4-BE49-F238E27FC236}">
                <a16:creationId xmlns:a16="http://schemas.microsoft.com/office/drawing/2014/main" id="{F02EFB88-AFA4-4B26-87A0-52AD5F8D204B}"/>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Biosecurity pathways and zones: decide from evidence</a:t>
            </a:r>
          </a:p>
        </p:txBody>
      </p:sp>
      <p:sp>
        <p:nvSpPr>
          <p:cNvPr id="4" name="">
            <a:extLst xmlns:a="http://schemas.openxmlformats.org/drawingml/2006/main">
              <a:ext uri="{FF2B5EF4-FFF2-40B4-BE49-F238E27FC236}">
                <a16:creationId xmlns:a16="http://schemas.microsoft.com/office/drawing/2014/main" id="{FDFCBE2A-2B9D-4B12-932F-8E21452F46B0}"/>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4</a:t>
            </a:r>
          </a:p>
        </p:txBody>
      </p:sp>
      <p:sp>
        <p:nvSpPr>
          <p:cNvPr id="5" name="">
            <a:extLst xmlns:a="http://schemas.openxmlformats.org/drawingml/2006/main">
              <a:ext uri="{FF2B5EF4-FFF2-40B4-BE49-F238E27FC236}">
                <a16:creationId xmlns:a16="http://schemas.microsoft.com/office/drawing/2014/main" id="{EB05809F-9956-4CCA-9315-D78CB389AFA4}"/>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3/10</a:t>
            </a:r>
          </a:p>
        </p:txBody>
      </p:sp>
      <p:sp>
        <p:nvSpPr>
          <p:cNvPr id="6" name="">
            <a:extLst xmlns:a="http://schemas.openxmlformats.org/drawingml/2006/main">
              <a:ext uri="{FF2B5EF4-FFF2-40B4-BE49-F238E27FC236}">
                <a16:creationId xmlns:a16="http://schemas.microsoft.com/office/drawing/2014/main" id="{651202CC-3746-4802-9B42-478A3FE0AFAC}"/>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8E27EB9-B28C-4DD7-BEDE-E877B7B0706D}"/>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5061512F-56F8-4CCA-A75C-3CC9C70BCADE}"/>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 fictional contractor vehicle arrives from another property with dried plant material visible near an exterior wheel area, and its booked entry zone is unclear.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The vehicle may connect an outside source to a property destination, while the local access decision is unconfirmed.</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The learner does not direct entry or attempt cleaning; they report the observation and booking gap to the supervisor.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The learner records the factual observation and confirmed status in the nominated system.</a:t>
            </a:r>
          </a:p>
        </p:txBody>
      </p:sp>
      <p:sp>
        <p:nvSpPr>
          <p:cNvPr id="9" name="">
            <a:extLst xmlns:a="http://schemas.openxmlformats.org/drawingml/2006/main">
              <a:ext uri="{FF2B5EF4-FFF2-40B4-BE49-F238E27FC236}">
                <a16:creationId xmlns:a16="http://schemas.microsoft.com/office/drawing/2014/main" id="{20DD4DB1-454F-45C1-A54F-72F49E116801}"/>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45DB39E0-6870-478D-BA85-193B8FE9AB35}"/>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83F2C49C-C387-4EEC-9E98-4FFCA74DF1FC}"/>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description contains a complete biosecurity pathway?</a:t>
            </a:r>
          </a:p>
        </p:txBody>
      </p:sp>
      <p:sp>
        <p:nvSpPr>
          <p:cNvPr id="12" name="">
            <a:extLst xmlns:a="http://schemas.openxmlformats.org/drawingml/2006/main">
              <a:ext uri="{FF2B5EF4-FFF2-40B4-BE49-F238E27FC236}">
                <a16:creationId xmlns:a16="http://schemas.microsoft.com/office/drawing/2014/main" id="{CACF3EC0-51EB-4AF8-8743-125F3226059E}"/>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Mud is dirty and should be removed.</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Soil from an outside paddock may be carried on a vehicle to a property work area.</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Every vehicle from another property is contaminated.</a:t>
            </a:r>
          </a:p>
        </p:txBody>
      </p:sp>
      <p:sp>
        <p:nvSpPr>
          <p:cNvPr id="13" name="">
            <a:extLst xmlns:a="http://schemas.openxmlformats.org/drawingml/2006/main">
              <a:ext uri="{FF2B5EF4-FFF2-40B4-BE49-F238E27FC236}">
                <a16:creationId xmlns:a16="http://schemas.microsoft.com/office/drawing/2014/main" id="{DD70C952-F816-4A54-A2E0-4E5ED6431AA1}"/>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From where, carried by what, to where?</a:t>
            </a:r>
          </a:p>
        </p:txBody>
      </p:sp>
    </p:spTree>
    <p:extLst>
      <p:ext uri="{BB962C8B-B14F-4D97-AF65-F5344CB8AC3E}">
        <p14:creationId xmlns:p14="http://schemas.microsoft.com/office/powerpoint/2010/main" val="169702817"/>
      </p:ext>
    </p:extLst>
  </p:cSld>
</p:sld>
</file>

<file path=ppt/slides/slide4.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99AFA40-1F25-478D-AB90-4DA7DCD986FA}"/>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4">
            <a:extLst xmlns:a="http://schemas.openxmlformats.org/drawingml/2006/main">
              <a:ext uri="{FF2B5EF4-FFF2-40B4-BE49-F238E27FC236}">
                <a16:creationId xmlns:a16="http://schemas.microsoft.com/office/drawing/2014/main" id="{BD442F99-A45A-449E-931E-40741CDDF807}"/>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04  •  PRIMARY INDUSTRIES</a:t>
            </a:r>
          </a:p>
        </p:txBody>
      </p:sp>
      <p:sp>
        <p:nvSpPr>
          <p:cNvPr id="3" name="title-4">
            <a:extLst xmlns:a="http://schemas.openxmlformats.org/drawingml/2006/main">
              <a:ext uri="{FF2B5EF4-FFF2-40B4-BE49-F238E27FC236}">
                <a16:creationId xmlns:a16="http://schemas.microsoft.com/office/drawing/2014/main" id="{6F3F8452-35D5-4DCF-B489-57036CBC12DE}"/>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Inspect machinery, tools and equipment</a:t>
            </a:r>
          </a:p>
        </p:txBody>
      </p:sp>
      <p:sp>
        <p:nvSpPr>
          <p:cNvPr id="4" name="">
            <a:extLst xmlns:a="http://schemas.openxmlformats.org/drawingml/2006/main">
              <a:ext uri="{FF2B5EF4-FFF2-40B4-BE49-F238E27FC236}">
                <a16:creationId xmlns:a16="http://schemas.microsoft.com/office/drawing/2014/main" id="{5A98BD28-9FC4-4125-8559-85663A1C8BD9}"/>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4</a:t>
            </a:r>
          </a:p>
        </p:txBody>
      </p:sp>
      <p:sp>
        <p:nvSpPr>
          <p:cNvPr id="5" name="">
            <a:extLst xmlns:a="http://schemas.openxmlformats.org/drawingml/2006/main">
              <a:ext uri="{FF2B5EF4-FFF2-40B4-BE49-F238E27FC236}">
                <a16:creationId xmlns:a16="http://schemas.microsoft.com/office/drawing/2014/main" id="{5C8C822F-C624-4A89-8661-7B8418EB13F2}"/>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4/10</a:t>
            </a:r>
          </a:p>
        </p:txBody>
      </p:sp>
      <p:sp>
        <p:nvSpPr>
          <p:cNvPr id="6" name="">
            <a:extLst xmlns:a="http://schemas.openxmlformats.org/drawingml/2006/main">
              <a:ext uri="{FF2B5EF4-FFF2-40B4-BE49-F238E27FC236}">
                <a16:creationId xmlns:a16="http://schemas.microsoft.com/office/drawing/2014/main" id="{82031D99-9676-4B72-8347-DB1F8C1C2103}"/>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36e54220fab41c4">
            <a:extLst>
              <a:ext uri="{96DAC541-7B7A-43D3-8B79-37D633B846F1}">
                <asvg:svgBlip xmlns:asvg="http://schemas.microsoft.com/office/drawing/2016/SVG/main" r:embed="R89c60f4a75904d56"/>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AB8146D-BF19-4CFC-8941-9948161E053F}"/>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96C5AB8A-75B4-4103-806C-46A64FB0C6E3}"/>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Inspection asks whether evidence needs action</a:t>
            </a:r>
          </a:p>
          <a:p xmlns:a="http://schemas.openxmlformats.org/drawingml/2006/main">
            <a:pPr algn="l">
              <a:defRPr sz="1725" b="1">
                <a:solidFill>
                  <a:srgbClr val="123E2A"/>
                </a:solidFill>
              </a:defRPr>
            </a:pPr>
            <a:r>
              <a:rPr sz="1725" b="1">
                <a:solidFill>
                  <a:srgbClr val="123E2A"/>
                </a:solidFill>
              </a:rPr>
              <a:t>• Confirm identity and inspection authority</a:t>
            </a:r>
          </a:p>
        </p:txBody>
      </p:sp>
      <p:sp>
        <p:nvSpPr>
          <p:cNvPr id="10" name="">
            <a:extLst xmlns:a="http://schemas.openxmlformats.org/drawingml/2006/main">
              <a:ext uri="{FF2B5EF4-FFF2-40B4-BE49-F238E27FC236}">
                <a16:creationId xmlns:a16="http://schemas.microsoft.com/office/drawing/2014/main" id="{764FF3A0-1653-4FE1-98F7-75705165B213}"/>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Biosecurity inspection looks for observable material or condition that may contribute to movement of a threat. The item, previous use, destination and applicable procedure must be correctly matched.</a:t>
            </a:r>
          </a:p>
        </p:txBody>
      </p:sp>
      <p:sp>
        <p:nvSpPr>
          <p:cNvPr id="11" name="">
            <a:extLst xmlns:a="http://schemas.openxmlformats.org/drawingml/2006/main">
              <a:ext uri="{FF2B5EF4-FFF2-40B4-BE49-F238E27FC236}">
                <a16:creationId xmlns:a16="http://schemas.microsoft.com/office/drawing/2014/main" id="{8D6B05BD-A260-4954-805F-A4C6791B9BA3}"/>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467D8D7D-5E86-4D80-81D8-89E9AE7329E7}"/>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8A3D8BD3-D9F5-499A-8265-0095B95F1564}"/>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337438584"/>
      </p:ext>
    </p:extLst>
  </p:cSld>
</p:sld>
</file>

<file path=ppt/slides/slide5.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77A92F4-0118-415E-B911-FCA8DF80F026}"/>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5">
            <a:extLst xmlns:a="http://schemas.openxmlformats.org/drawingml/2006/main">
              <a:ext uri="{FF2B5EF4-FFF2-40B4-BE49-F238E27FC236}">
                <a16:creationId xmlns:a16="http://schemas.microsoft.com/office/drawing/2014/main" id="{BD29C526-8741-4511-A477-2D229D0ECB4C}"/>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04  •  PRIMARY INDUSTRIES</a:t>
            </a:r>
          </a:p>
        </p:txBody>
      </p:sp>
      <p:sp>
        <p:nvSpPr>
          <p:cNvPr id="3" name="title-5">
            <a:extLst xmlns:a="http://schemas.openxmlformats.org/drawingml/2006/main">
              <a:ext uri="{FF2B5EF4-FFF2-40B4-BE49-F238E27FC236}">
                <a16:creationId xmlns:a16="http://schemas.microsoft.com/office/drawing/2014/main" id="{02631718-C1BF-49CF-B5BC-B3351DB2799E}"/>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Inspect machinery, tools and equipment: decide from evidence</a:t>
            </a:r>
          </a:p>
        </p:txBody>
      </p:sp>
      <p:sp>
        <p:nvSpPr>
          <p:cNvPr id="4" name="">
            <a:extLst xmlns:a="http://schemas.openxmlformats.org/drawingml/2006/main">
              <a:ext uri="{FF2B5EF4-FFF2-40B4-BE49-F238E27FC236}">
                <a16:creationId xmlns:a16="http://schemas.microsoft.com/office/drawing/2014/main" id="{E519AAD8-0170-4821-A713-8F00858933E6}"/>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4</a:t>
            </a:r>
          </a:p>
        </p:txBody>
      </p:sp>
      <p:sp>
        <p:nvSpPr>
          <p:cNvPr id="5" name="">
            <a:extLst xmlns:a="http://schemas.openxmlformats.org/drawingml/2006/main">
              <a:ext uri="{FF2B5EF4-FFF2-40B4-BE49-F238E27FC236}">
                <a16:creationId xmlns:a16="http://schemas.microsoft.com/office/drawing/2014/main" id="{127ECDA1-A6B2-4F6A-80A2-1B77CAD45E1B}"/>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5/10</a:t>
            </a:r>
          </a:p>
        </p:txBody>
      </p:sp>
      <p:sp>
        <p:nvSpPr>
          <p:cNvPr id="6" name="">
            <a:extLst xmlns:a="http://schemas.openxmlformats.org/drawingml/2006/main">
              <a:ext uri="{FF2B5EF4-FFF2-40B4-BE49-F238E27FC236}">
                <a16:creationId xmlns:a16="http://schemas.microsoft.com/office/drawing/2014/main" id="{074F5C20-099E-41B7-A37D-F0B79352F349}"/>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CE86B71A-1AEE-4AF9-BFCE-90A9C09DF4D2}"/>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6E1D332A-B9F0-4A9C-A8BD-DFD19EE147DD}"/>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In a fictional inspection photograph, dry soil and seed-like material are visible on an external lower surface, while a nearby cover appears damaged.</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The material and damage both require authorised review, and the image cannot confirm areas behind the cover.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The learner annotates only the visible locations and reports the inaccessible area and damage.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The learner records visible, inaccessible and referred categories without naming a threat or opening the cover.</a:t>
            </a:r>
          </a:p>
        </p:txBody>
      </p:sp>
      <p:sp>
        <p:nvSpPr>
          <p:cNvPr id="9" name="">
            <a:extLst xmlns:a="http://schemas.openxmlformats.org/drawingml/2006/main">
              <a:ext uri="{FF2B5EF4-FFF2-40B4-BE49-F238E27FC236}">
                <a16:creationId xmlns:a16="http://schemas.microsoft.com/office/drawing/2014/main" id="{424C14EA-BC7F-459F-905B-77767F3193B9}"/>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80C11E54-5F53-411B-8179-EBEC50B6E7C5}"/>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78E727CD-4756-498F-AC96-3F214F448261}"/>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does a coverage category do in this lesson?</a:t>
            </a:r>
          </a:p>
        </p:txBody>
      </p:sp>
      <p:sp>
        <p:nvSpPr>
          <p:cNvPr id="12" name="">
            <a:extLst xmlns:a="http://schemas.openxmlformats.org/drawingml/2006/main">
              <a:ext uri="{FF2B5EF4-FFF2-40B4-BE49-F238E27FC236}">
                <a16:creationId xmlns:a16="http://schemas.microsoft.com/office/drawing/2014/main" id="{4F36C828-2607-4ABB-8450-6951FAC11778}"/>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It prompts what kinds of areas need confirmation without giving a physical inspection procedure.</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It authorises the learner to remove any guard that blocks the view.</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It proves the item is clean when most boxes are ticked.</a:t>
            </a:r>
          </a:p>
        </p:txBody>
      </p:sp>
      <p:sp>
        <p:nvSpPr>
          <p:cNvPr id="13" name="">
            <a:extLst xmlns:a="http://schemas.openxmlformats.org/drawingml/2006/main">
              <a:ext uri="{FF2B5EF4-FFF2-40B4-BE49-F238E27FC236}">
                <a16:creationId xmlns:a16="http://schemas.microsoft.com/office/drawing/2014/main" id="{E32539F6-2CB3-4263-80EB-FC0A3815EAB6}"/>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Coverage tells what needs confirmation, not how to reach it.</a:t>
            </a:r>
          </a:p>
        </p:txBody>
      </p:sp>
    </p:spTree>
    <p:extLst>
      <p:ext uri="{BB962C8B-B14F-4D97-AF65-F5344CB8AC3E}">
        <p14:creationId xmlns:p14="http://schemas.microsoft.com/office/powerpoint/2010/main" val="1696641269"/>
      </p:ext>
    </p:extLst>
  </p:cSld>
</p:sld>
</file>

<file path=ppt/slides/slide6.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1A38968-A9DB-4B33-9FF0-EDA64C1B8531}"/>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6">
            <a:extLst xmlns:a="http://schemas.openxmlformats.org/drawingml/2006/main">
              <a:ext uri="{FF2B5EF4-FFF2-40B4-BE49-F238E27FC236}">
                <a16:creationId xmlns:a16="http://schemas.microsoft.com/office/drawing/2014/main" id="{13C324A4-FB00-4B6C-997F-7CFE4FA9E39D}"/>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04  •  PRIMARY INDUSTRIES</a:t>
            </a:r>
          </a:p>
        </p:txBody>
      </p:sp>
      <p:sp>
        <p:nvSpPr>
          <p:cNvPr id="3" name="title-6">
            <a:extLst xmlns:a="http://schemas.openxmlformats.org/drawingml/2006/main">
              <a:ext uri="{FF2B5EF4-FFF2-40B4-BE49-F238E27FC236}">
                <a16:creationId xmlns:a16="http://schemas.microsoft.com/office/drawing/2014/main" id="{5BC0A50B-D11F-4A98-A9B9-80C996C8844A}"/>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Build a clean-down work plan</a:t>
            </a:r>
          </a:p>
        </p:txBody>
      </p:sp>
      <p:sp>
        <p:nvSpPr>
          <p:cNvPr id="4" name="">
            <a:extLst xmlns:a="http://schemas.openxmlformats.org/drawingml/2006/main">
              <a:ext uri="{FF2B5EF4-FFF2-40B4-BE49-F238E27FC236}">
                <a16:creationId xmlns:a16="http://schemas.microsoft.com/office/drawing/2014/main" id="{2F5B2742-7A89-4DBD-853A-71E4A6D77B08}"/>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4</a:t>
            </a:r>
          </a:p>
        </p:txBody>
      </p:sp>
      <p:sp>
        <p:nvSpPr>
          <p:cNvPr id="5" name="">
            <a:extLst xmlns:a="http://schemas.openxmlformats.org/drawingml/2006/main">
              <a:ext uri="{FF2B5EF4-FFF2-40B4-BE49-F238E27FC236}">
                <a16:creationId xmlns:a16="http://schemas.microsoft.com/office/drawing/2014/main" id="{68DBE1AD-28C4-4A77-9F74-F1D2B0DA5B63}"/>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6/10</a:t>
            </a:r>
          </a:p>
        </p:txBody>
      </p:sp>
      <p:sp>
        <p:nvSpPr>
          <p:cNvPr id="6" name="">
            <a:extLst xmlns:a="http://schemas.openxmlformats.org/drawingml/2006/main">
              <a:ext uri="{FF2B5EF4-FFF2-40B4-BE49-F238E27FC236}">
                <a16:creationId xmlns:a16="http://schemas.microsoft.com/office/drawing/2014/main" id="{35678402-0A08-41F1-BEC5-2E7A8423BD97}"/>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d1b901d57874ec4">
            <a:extLst>
              <a:ext uri="{96DAC541-7B7A-43D3-8B79-37D633B846F1}">
                <asvg:svgBlip xmlns:asvg="http://schemas.microsoft.com/office/drawing/2016/SVG/main" r:embed="Re1005f1383e042a6"/>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C80F6DC-6198-4E9B-A6F4-44918E581231}"/>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9AC669A7-5172-4080-B335-537A964548D5}"/>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A plan organises authority before action</a:t>
            </a:r>
          </a:p>
          <a:p xmlns:a="http://schemas.openxmlformats.org/drawingml/2006/main">
            <a:pPr algn="l">
              <a:defRPr sz="1725" b="1">
                <a:solidFill>
                  <a:srgbClr val="123E2A"/>
                </a:solidFill>
              </a:defRPr>
            </a:pPr>
            <a:r>
              <a:rPr sz="1725" b="1">
                <a:solidFill>
                  <a:srgbClr val="123E2A"/>
                </a:solidFill>
              </a:rPr>
              <a:t>• Start with identity and source fields</a:t>
            </a:r>
          </a:p>
        </p:txBody>
      </p:sp>
      <p:sp>
        <p:nvSpPr>
          <p:cNvPr id="10" name="">
            <a:extLst xmlns:a="http://schemas.openxmlformats.org/drawingml/2006/main">
              <a:ext uri="{FF2B5EF4-FFF2-40B4-BE49-F238E27FC236}">
                <a16:creationId xmlns:a16="http://schemas.microsoft.com/office/drawing/2014/main" id="{8D9EB4EE-E486-4AC8-911C-36C443276B9E}"/>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clean-down work plan should make the task identity, purpose, responsibilities, controlling procedure and unresolved decisions visible. The plan needs the item or equipment identity, previous work context, intended destination and current property procedure.</a:t>
            </a:r>
          </a:p>
        </p:txBody>
      </p:sp>
      <p:sp>
        <p:nvSpPr>
          <p:cNvPr id="11" name="">
            <a:extLst xmlns:a="http://schemas.openxmlformats.org/drawingml/2006/main">
              <a:ext uri="{FF2B5EF4-FFF2-40B4-BE49-F238E27FC236}">
                <a16:creationId xmlns:a16="http://schemas.microsoft.com/office/drawing/2014/main" id="{060BD708-D292-4BFC-839E-36786F51D371}"/>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61CB2C31-F958-4B3E-8D5C-0B39628852A6}"/>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4B53C9D3-D476-4389-9BFC-037CF985E903}"/>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424216016"/>
      </p:ext>
    </p:extLst>
  </p:cSld>
</p:sld>
</file>

<file path=ppt/slides/slide7.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F7ABA66-B766-40E0-9F50-9E329DF109E4}"/>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7">
            <a:extLst xmlns:a="http://schemas.openxmlformats.org/drawingml/2006/main">
              <a:ext uri="{FF2B5EF4-FFF2-40B4-BE49-F238E27FC236}">
                <a16:creationId xmlns:a16="http://schemas.microsoft.com/office/drawing/2014/main" id="{6347AC5D-3700-4FD0-8FE1-7835F0C42CAB}"/>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04  •  PRIMARY INDUSTRIES</a:t>
            </a:r>
          </a:p>
        </p:txBody>
      </p:sp>
      <p:sp>
        <p:nvSpPr>
          <p:cNvPr id="3" name="title-7">
            <a:extLst xmlns:a="http://schemas.openxmlformats.org/drawingml/2006/main">
              <a:ext uri="{FF2B5EF4-FFF2-40B4-BE49-F238E27FC236}">
                <a16:creationId xmlns:a16="http://schemas.microsoft.com/office/drawing/2014/main" id="{49A61640-9DAB-4A6C-926C-42F122C4AA8F}"/>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Build a clean-down work plan: decide from evidence</a:t>
            </a:r>
          </a:p>
        </p:txBody>
      </p:sp>
      <p:sp>
        <p:nvSpPr>
          <p:cNvPr id="4" name="">
            <a:extLst xmlns:a="http://schemas.openxmlformats.org/drawingml/2006/main">
              <a:ext uri="{FF2B5EF4-FFF2-40B4-BE49-F238E27FC236}">
                <a16:creationId xmlns:a16="http://schemas.microsoft.com/office/drawing/2014/main" id="{31F546EE-BC94-402B-9F64-5A5B3383AD0B}"/>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4</a:t>
            </a:r>
          </a:p>
        </p:txBody>
      </p:sp>
      <p:sp>
        <p:nvSpPr>
          <p:cNvPr id="5" name="">
            <a:extLst xmlns:a="http://schemas.openxmlformats.org/drawingml/2006/main">
              <a:ext uri="{FF2B5EF4-FFF2-40B4-BE49-F238E27FC236}">
                <a16:creationId xmlns:a16="http://schemas.microsoft.com/office/drawing/2014/main" id="{6371F0ED-54E7-49DB-AD7D-7647D52015BA}"/>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7/10</a:t>
            </a:r>
          </a:p>
        </p:txBody>
      </p:sp>
      <p:sp>
        <p:nvSpPr>
          <p:cNvPr id="6" name="">
            <a:extLst xmlns:a="http://schemas.openxmlformats.org/drawingml/2006/main">
              <a:ext uri="{FF2B5EF4-FFF2-40B4-BE49-F238E27FC236}">
                <a16:creationId xmlns:a16="http://schemas.microsoft.com/office/drawing/2014/main" id="{6E57EA74-F327-4069-BAAB-6A6BD9BA9243}"/>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F44B601-9AD1-4B91-BBB3-5295D9FFBDE4}"/>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6C3AE578-EC40-4E93-A25F-CE2DE8D0BE2C}"/>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 fictional planning card names a support vehicle and destination but leaves the controlling biosecurity procedure and authorised location blank.</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The task cannot progress because two property-specific controls are unknown.</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The learner marks both fields 'confirmation required' and sends a concise query to the supervisor.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The learner updates the source and location fields but does not add cleaning steps from memory.</a:t>
            </a:r>
          </a:p>
        </p:txBody>
      </p:sp>
      <p:sp>
        <p:nvSpPr>
          <p:cNvPr id="9" name="">
            <a:extLst xmlns:a="http://schemas.openxmlformats.org/drawingml/2006/main">
              <a:ext uri="{FF2B5EF4-FFF2-40B4-BE49-F238E27FC236}">
                <a16:creationId xmlns:a16="http://schemas.microsoft.com/office/drawing/2014/main" id="{7860E8E4-2C69-4962-A6FE-5270526CF2F2}"/>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1D211F12-6AD1-485B-97A0-999CB106F25B}"/>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122A6B62-05E7-4FA7-AB19-813DB39766E7}"/>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pair of fields must be confirmed before a source-controlled clean-down plan can progress?</a:t>
            </a:r>
          </a:p>
        </p:txBody>
      </p:sp>
      <p:sp>
        <p:nvSpPr>
          <p:cNvPr id="12" name="">
            <a:extLst xmlns:a="http://schemas.openxmlformats.org/drawingml/2006/main">
              <a:ext uri="{FF2B5EF4-FFF2-40B4-BE49-F238E27FC236}">
                <a16:creationId xmlns:a16="http://schemas.microsoft.com/office/drawing/2014/main" id="{9AF2F207-2BAF-494F-8922-837A94253DC1}"/>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The learner's preferred product and quickest method.</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The current property procedure and authorised work location.</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A generic internet checklist and another farm's zone map.</a:t>
            </a:r>
          </a:p>
        </p:txBody>
      </p:sp>
      <p:sp>
        <p:nvSpPr>
          <p:cNvPr id="13" name="">
            <a:extLst xmlns:a="http://schemas.openxmlformats.org/drawingml/2006/main">
              <a:ext uri="{FF2B5EF4-FFF2-40B4-BE49-F238E27FC236}">
                <a16:creationId xmlns:a16="http://schemas.microsoft.com/office/drawing/2014/main" id="{C1FDAA2A-3E35-4D93-87DC-0F30CFF1E5CB}"/>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Ask which source and which authorised place control this exact item.</a:t>
            </a:r>
          </a:p>
        </p:txBody>
      </p:sp>
    </p:spTree>
    <p:extLst>
      <p:ext uri="{BB962C8B-B14F-4D97-AF65-F5344CB8AC3E}">
        <p14:creationId xmlns:p14="http://schemas.microsoft.com/office/powerpoint/2010/main" val="1426082130"/>
      </p:ext>
    </p:extLst>
  </p:cSld>
</p:sld>
</file>

<file path=ppt/slides/slide8.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2AC88CA-C24C-4AB8-88DF-DF19251B9BB1}"/>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8">
            <a:extLst xmlns:a="http://schemas.openxmlformats.org/drawingml/2006/main">
              <a:ext uri="{FF2B5EF4-FFF2-40B4-BE49-F238E27FC236}">
                <a16:creationId xmlns:a16="http://schemas.microsoft.com/office/drawing/2014/main" id="{CF510F99-E4CA-4F9C-B62B-7A42997A00E4}"/>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04  •  PRIMARY INDUSTRIES</a:t>
            </a:r>
          </a:p>
        </p:txBody>
      </p:sp>
      <p:sp>
        <p:nvSpPr>
          <p:cNvPr id="3" name="title-8">
            <a:extLst xmlns:a="http://schemas.openxmlformats.org/drawingml/2006/main">
              <a:ext uri="{FF2B5EF4-FFF2-40B4-BE49-F238E27FC236}">
                <a16:creationId xmlns:a16="http://schemas.microsoft.com/office/drawing/2014/main" id="{314CD5F3-FDBE-4A1D-BD38-EB8954FDDCCB}"/>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Records, release checks and escalation</a:t>
            </a:r>
          </a:p>
        </p:txBody>
      </p:sp>
      <p:sp>
        <p:nvSpPr>
          <p:cNvPr id="4" name="">
            <a:extLst xmlns:a="http://schemas.openxmlformats.org/drawingml/2006/main">
              <a:ext uri="{FF2B5EF4-FFF2-40B4-BE49-F238E27FC236}">
                <a16:creationId xmlns:a16="http://schemas.microsoft.com/office/drawing/2014/main" id="{DEB255E9-D7E1-4904-8D58-F638B4068992}"/>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4</a:t>
            </a:r>
          </a:p>
        </p:txBody>
      </p:sp>
      <p:sp>
        <p:nvSpPr>
          <p:cNvPr id="5" name="">
            <a:extLst xmlns:a="http://schemas.openxmlformats.org/drawingml/2006/main">
              <a:ext uri="{FF2B5EF4-FFF2-40B4-BE49-F238E27FC236}">
                <a16:creationId xmlns:a16="http://schemas.microsoft.com/office/drawing/2014/main" id="{9E407C31-7AD5-4309-8421-5FA4F321EEBA}"/>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8/10</a:t>
            </a:r>
          </a:p>
        </p:txBody>
      </p:sp>
      <p:sp>
        <p:nvSpPr>
          <p:cNvPr id="6" name="">
            <a:extLst xmlns:a="http://schemas.openxmlformats.org/drawingml/2006/main">
              <a:ext uri="{FF2B5EF4-FFF2-40B4-BE49-F238E27FC236}">
                <a16:creationId xmlns:a16="http://schemas.microsoft.com/office/drawing/2014/main" id="{479CD40A-EF5C-46E0-B1D3-93D028371ECE}"/>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2822b7170ca440c">
            <a:extLst>
              <a:ext uri="{96DAC541-7B7A-43D3-8B79-37D633B846F1}">
                <asvg:svgBlip xmlns:asvg="http://schemas.microsoft.com/office/drawing/2016/SVG/main" r:embed="Ra6a4e93be8104c43"/>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D2D6BED-1B9C-4F65-B7DC-847645B959C6}"/>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BE1EE819-B9C4-4E4A-A9E2-0775B1A2D93A}"/>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A biosecurity record preserves the decision trail</a:t>
            </a:r>
          </a:p>
          <a:p xmlns:a="http://schemas.openxmlformats.org/drawingml/2006/main">
            <a:pPr algn="l">
              <a:defRPr sz="1725" b="1">
                <a:solidFill>
                  <a:srgbClr val="123E2A"/>
                </a:solidFill>
              </a:defRPr>
            </a:pPr>
            <a:r>
              <a:rPr sz="1725" b="1">
                <a:solidFill>
                  <a:srgbClr val="123E2A"/>
                </a:solidFill>
              </a:rPr>
              <a:t>• Use clear status language</a:t>
            </a:r>
          </a:p>
        </p:txBody>
      </p:sp>
      <p:sp>
        <p:nvSpPr>
          <p:cNvPr id="10" name="">
            <a:extLst xmlns:a="http://schemas.openxmlformats.org/drawingml/2006/main">
              <a:ext uri="{FF2B5EF4-FFF2-40B4-BE49-F238E27FC236}">
                <a16:creationId xmlns:a16="http://schemas.microsoft.com/office/drawing/2014/main" id="{D129CE0A-9CCC-42CA-98E5-F54DDD2E9B54}"/>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An inspection or work record links the item, date, task context, observations, authorised activity, unresolved findings and people notified. Records should clearly distinguish observed, action recorded, referred, pending confirmation and authorised final status.</a:t>
            </a:r>
          </a:p>
        </p:txBody>
      </p:sp>
      <p:sp>
        <p:nvSpPr>
          <p:cNvPr id="11" name="">
            <a:extLst xmlns:a="http://schemas.openxmlformats.org/drawingml/2006/main">
              <a:ext uri="{FF2B5EF4-FFF2-40B4-BE49-F238E27FC236}">
                <a16:creationId xmlns:a16="http://schemas.microsoft.com/office/drawing/2014/main" id="{EA2F9A84-252B-4E09-94FD-F056A91A4B02}"/>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69DC7F37-FFDC-4052-A2BC-5963FC56BBA0}"/>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AE112DEC-159C-4626-9C3A-56FB8D72C3AE}"/>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916547573"/>
      </p:ext>
    </p:extLst>
  </p:cSld>
</p:sld>
</file>

<file path=ppt/slides/slide9.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C28A889-6FFB-4F33-A13A-53419151AD45}"/>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9">
            <a:extLst xmlns:a="http://schemas.openxmlformats.org/drawingml/2006/main">
              <a:ext uri="{FF2B5EF4-FFF2-40B4-BE49-F238E27FC236}">
                <a16:creationId xmlns:a16="http://schemas.microsoft.com/office/drawing/2014/main" id="{2C5341FE-3AB3-4EB1-96C5-87AC1AD30F00}"/>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04  •  PRIMARY INDUSTRIES</a:t>
            </a:r>
          </a:p>
        </p:txBody>
      </p:sp>
      <p:sp>
        <p:nvSpPr>
          <p:cNvPr id="3" name="title-9">
            <a:extLst xmlns:a="http://schemas.openxmlformats.org/drawingml/2006/main">
              <a:ext uri="{FF2B5EF4-FFF2-40B4-BE49-F238E27FC236}">
                <a16:creationId xmlns:a16="http://schemas.microsoft.com/office/drawing/2014/main" id="{B0A8D671-E0AE-498C-84A9-E81A18136F1E}"/>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Records, release checks and escalation: decide from evidence</a:t>
            </a:r>
          </a:p>
        </p:txBody>
      </p:sp>
      <p:sp>
        <p:nvSpPr>
          <p:cNvPr id="4" name="">
            <a:extLst xmlns:a="http://schemas.openxmlformats.org/drawingml/2006/main">
              <a:ext uri="{FF2B5EF4-FFF2-40B4-BE49-F238E27FC236}">
                <a16:creationId xmlns:a16="http://schemas.microsoft.com/office/drawing/2014/main" id="{4865E02C-DE0E-4C2E-BDD4-9A90F1083C66}"/>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4</a:t>
            </a:r>
          </a:p>
        </p:txBody>
      </p:sp>
      <p:sp>
        <p:nvSpPr>
          <p:cNvPr id="5" name="">
            <a:extLst xmlns:a="http://schemas.openxmlformats.org/drawingml/2006/main">
              <a:ext uri="{FF2B5EF4-FFF2-40B4-BE49-F238E27FC236}">
                <a16:creationId xmlns:a16="http://schemas.microsoft.com/office/drawing/2014/main" id="{97A9759F-F869-4884-A671-A144F000E4C5}"/>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9/10</a:t>
            </a:r>
          </a:p>
        </p:txBody>
      </p:sp>
      <p:sp>
        <p:nvSpPr>
          <p:cNvPr id="6" name="">
            <a:extLst xmlns:a="http://schemas.openxmlformats.org/drawingml/2006/main">
              <a:ext uri="{FF2B5EF4-FFF2-40B4-BE49-F238E27FC236}">
                <a16:creationId xmlns:a16="http://schemas.microsoft.com/office/drawing/2014/main" id="{57EC6AE9-D2B6-43E4-9F76-C55E7AB6A62E}"/>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8CABE80-94B8-4AE4-AA35-9AE4BDD1DB8A}"/>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03E17C4E-8E6A-4819-8FDB-E1F122C214BD}"/>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 fictional record shows an activity entry and a supervisor name, but one required inspection area is marked 'not accessible' and the final-status field is blank.</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The record does not support an assumption that the item is released.</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The learner highlights the unresolved area and asks the authorised supervisor to confirm the next controlled action and status.</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The learner checks that the pending status is visible in the handover and does not add release criteria.</a:t>
            </a:r>
          </a:p>
        </p:txBody>
      </p:sp>
      <p:sp>
        <p:nvSpPr>
          <p:cNvPr id="9" name="">
            <a:extLst xmlns:a="http://schemas.openxmlformats.org/drawingml/2006/main">
              <a:ext uri="{FF2B5EF4-FFF2-40B4-BE49-F238E27FC236}">
                <a16:creationId xmlns:a16="http://schemas.microsoft.com/office/drawing/2014/main" id="{7EA11AFC-8767-4A50-967B-999B59BB8758}"/>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50A0F532-C47E-4167-9C5E-DDBC6FC60780}"/>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DD281138-6132-475D-9FB4-CFB6D23D3677}"/>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A record says activity completed but the final-status field is blank. What can the learner conclude?</a:t>
            </a:r>
          </a:p>
        </p:txBody>
      </p:sp>
      <p:sp>
        <p:nvSpPr>
          <p:cNvPr id="12" name="">
            <a:extLst xmlns:a="http://schemas.openxmlformats.org/drawingml/2006/main">
              <a:ext uri="{FF2B5EF4-FFF2-40B4-BE49-F238E27FC236}">
                <a16:creationId xmlns:a16="http://schemas.microsoft.com/office/drawing/2014/main" id="{77D1CB0E-2B7E-484C-9AAA-0D534CA5897E}"/>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The item is automatically released.</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The status remains unconfirmed and must be referred.</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The learner should add the status that seems most likely.</a:t>
            </a:r>
          </a:p>
        </p:txBody>
      </p:sp>
      <p:sp>
        <p:nvSpPr>
          <p:cNvPr id="13" name="">
            <a:extLst xmlns:a="http://schemas.openxmlformats.org/drawingml/2006/main">
              <a:ext uri="{FF2B5EF4-FFF2-40B4-BE49-F238E27FC236}">
                <a16:creationId xmlns:a16="http://schemas.microsoft.com/office/drawing/2014/main" id="{61B5CE32-D3ED-4534-800D-67DB42126EEB}"/>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No authorised status means status unconfirmed.</a:t>
            </a:r>
          </a:p>
        </p:txBody>
      </p:sp>
    </p:spTree>
    <p:extLst>
      <p:ext uri="{BB962C8B-B14F-4D97-AF65-F5344CB8AC3E}">
        <p14:creationId xmlns:p14="http://schemas.microsoft.com/office/powerpoint/2010/main" val="1696137740"/>
      </p:ext>
    </p:extLst>
  </p:cSld>
</p:sld>
</file>

<file path=ppt/slides/slide10.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8A12DC-76EA-4A0C-BD92-C8BFA36D4C63}"/>
              </a:ext>
            </a:extLst>
          </p:cNvPr>
          <p:cNvSpPr>
            <a:spLocks xmlns:a="http://schemas.openxmlformats.org/drawingml/2006/main" noGrp="1"/>
          </p:cNvSpPr>
          <p:nvPr/>
        </p:nvSpPr>
        <p:spPr>
          <a:xfrm xmlns:a="http://schemas.openxmlformats.org/drawingml/2006/main">
            <a:off x="571500" y="457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CLOSE THE LOOP WITH EVIDENCE</a:t>
            </a:r>
          </a:p>
        </p:txBody>
      </p:sp>
      <p:sp>
        <p:nvSpPr>
          <p:cNvPr id="2" name="">
            <a:extLst xmlns:a="http://schemas.openxmlformats.org/drawingml/2006/main">
              <a:ext uri="{FF2B5EF4-FFF2-40B4-BE49-F238E27FC236}">
                <a16:creationId xmlns:a16="http://schemas.microsoft.com/office/drawing/2014/main" id="{8E2C317E-0961-4217-A720-1FD77EA83B29}"/>
              </a:ext>
            </a:extLst>
          </p:cNvPr>
          <p:cNvSpPr>
            <a:spLocks xmlns:a="http://schemas.openxmlformats.org/drawingml/2006/main" noGrp="1"/>
          </p:cNvSpPr>
          <p:nvPr/>
        </p:nvSpPr>
        <p:spPr>
          <a:xfrm xmlns:a="http://schemas.openxmlformats.org/drawingml/2006/main">
            <a:off x="571500" y="8763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Apply the task route — then check the boundary</a:t>
            </a:r>
          </a:p>
        </p:txBody>
      </p:sp>
      <p:sp>
        <p:nvSpPr>
          <p:cNvPr id="3" name="">
            <a:extLst xmlns:a="http://schemas.openxmlformats.org/drawingml/2006/main">
              <a:ext uri="{FF2B5EF4-FFF2-40B4-BE49-F238E27FC236}">
                <a16:creationId xmlns:a16="http://schemas.microsoft.com/office/drawing/2014/main" id="{18C8FF14-C659-4A5B-9C93-D6A262F11222}"/>
              </a:ext>
            </a:extLst>
          </p:cNvPr>
          <p:cNvSpPr>
            <a:spLocks xmlns:a="http://schemas.openxmlformats.org/drawingml/2006/main" noGrp="1"/>
          </p:cNvSpPr>
          <p:nvPr/>
        </p:nvSpPr>
        <p:spPr>
          <a:xfrm xmlns:a="http://schemas.openxmlformats.org/drawingml/2006/main">
            <a:off x="571500" y="1809750"/>
            <a:ext cx="4095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3EEDF"/>
                </a:solidFill>
              </a:defRPr>
            </a:pPr>
            <a:r>
              <a:rPr sz="1650" b="1">
                <a:solidFill>
                  <a:srgbClr val="F3EEDF"/>
                </a:solidFill>
              </a:rPr>
              <a:t>01  Biosecurity pathways and zones</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02  Inspect machinery, tools and equipment</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03  Build a clean-down work plan</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04  Records, release checks and escalation</a:t>
            </a:r>
          </a:p>
        </p:txBody>
      </p:sp>
      <p:sp>
        <p:nvSpPr>
          <p:cNvPr id="4" name="">
            <a:extLst xmlns:a="http://schemas.openxmlformats.org/drawingml/2006/main">
              <a:ext uri="{FF2B5EF4-FFF2-40B4-BE49-F238E27FC236}">
                <a16:creationId xmlns:a16="http://schemas.microsoft.com/office/drawing/2014/main" id="{0BA4CAB7-8D89-4082-AE30-7FB4AD07D579}"/>
              </a:ext>
            </a:extLst>
          </p:cNvPr>
          <p:cNvSpPr>
            <a:spLocks xmlns:a="http://schemas.openxmlformats.org/drawingml/2006/main" noGrp="1"/>
          </p:cNvSpPr>
          <p:nvPr/>
        </p:nvSpPr>
        <p:spPr>
          <a:xfrm xmlns:a="http://schemas.openxmlformats.org/drawingml/2006/main">
            <a:off x="5143500" y="1809750"/>
            <a:ext cx="6191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Draw a fictional pathway map</a:t>
            </a:r>
          </a:p>
          <a:p xmlns:a="http://schemas.openxmlformats.org/drawingml/2006/main">
            <a:pPr algn="l">
              <a:defRPr sz="1350" b="0">
                <a:solidFill>
                  <a:srgbClr val="FFFFFF"/>
                </a:solidFill>
              </a:defRPr>
            </a:pPr>
            <a:r>
              <a:rPr sz="1350" b="0">
                <a:solidFill>
                  <a:srgbClr val="FFFFFF"/>
                </a:solidFill>
              </a:rPr>
              <a:t>Use a teacher-provided fictional farm scene.</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Complete an image-only inspection audit</a:t>
            </a:r>
          </a:p>
          <a:p xmlns:a="http://schemas.openxmlformats.org/drawingml/2006/main">
            <a:pPr algn="l">
              <a:defRPr sz="1350" b="0">
                <a:solidFill>
                  <a:srgbClr val="FFFFFF"/>
                </a:solidFill>
              </a:defRPr>
            </a:pPr>
            <a:r>
              <a:rPr sz="1350" b="0">
                <a:solidFill>
                  <a:srgbClr val="FFFFFF"/>
                </a:solidFill>
              </a:rPr>
              <a:t>Use a teacher-supplied fictional or de-identified image.</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Audit a source-controlled plan</a:t>
            </a:r>
          </a:p>
          <a:p xmlns:a="http://schemas.openxmlformats.org/drawingml/2006/main">
            <a:pPr algn="l">
              <a:defRPr sz="1350" b="0">
                <a:solidFill>
                  <a:srgbClr val="FFFFFF"/>
                </a:solidFill>
              </a:defRPr>
            </a:pPr>
            <a:r>
              <a:rPr sz="1350" b="0">
                <a:solidFill>
                  <a:srgbClr val="FFFFFF"/>
                </a:solidFill>
              </a:rPr>
              <a:t>Review a fictional planning card and highlight missing identity, source, role, location, escalation and authority fields.</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Reconcile a fictional biosecurity record set</a:t>
            </a:r>
          </a:p>
          <a:p xmlns:a="http://schemas.openxmlformats.org/drawingml/2006/main">
            <a:pPr algn="l">
              <a:defRPr sz="1350" b="0">
                <a:solidFill>
                  <a:srgbClr val="FFFFFF"/>
                </a:solidFill>
              </a:defRPr>
            </a:pPr>
            <a:r>
              <a:rPr sz="1350" b="0">
                <a:solidFill>
                  <a:srgbClr val="FFFFFF"/>
                </a:solidFill>
              </a:rPr>
              <a:t>Compare fictional inspection, activity and movement records.</a:t>
            </a:r>
          </a:p>
        </p:txBody>
      </p:sp>
      <p:sp>
        <p:nvSpPr>
          <p:cNvPr id="5" name="">
            <a:extLst xmlns:a="http://schemas.openxmlformats.org/drawingml/2006/main">
              <a:ext uri="{FF2B5EF4-FFF2-40B4-BE49-F238E27FC236}">
                <a16:creationId xmlns:a16="http://schemas.microsoft.com/office/drawing/2014/main" id="{0E954856-CA03-45BA-9EEF-CDC38894F693}"/>
              </a:ext>
            </a:extLst>
          </p:cNvPr>
          <p:cNvSpPr>
            <a:spLocks xmlns:a="http://schemas.openxmlformats.org/drawingml/2006/main" noGrp="1"/>
          </p:cNvSpPr>
          <p:nvPr/>
        </p:nvSpPr>
        <p:spPr>
          <a:xfrm xmlns:a="http://schemas.openxmlformats.org/drawingml/2006/main">
            <a:off x="571500" y="5391150"/>
            <a:ext cx="10763250" cy="876300"/>
          </a:xfrm>
          <a:prstGeom xmlns:a="http://schemas.openxmlformats.org/drawingml/2006/main" prst="roundRect">
            <a:avLst>
              <a:gd name="adj" fmla="val 19565"/>
            </a:avLst>
          </a:prstGeom>
          <a:solidFill xmlns:a="http://schemas.openxmlformats.org/drawingml/2006/main">
            <a:srgbClr val="F3EEDF"/>
          </a:solidFill>
          <a:ln xmlns:a="http://schemas.openxmlformats.org/drawingml/2006/main" w="9525">
            <a:solidFill>
              <a:srgbClr val="D4A62A"/>
            </a:solidFill>
            <a:prstDash val="solid"/>
          </a:ln>
        </p:spPr>
      </p:sp>
      <p:sp>
        <p:nvSpPr>
          <p:cNvPr id="6" name="">
            <a:extLst xmlns:a="http://schemas.openxmlformats.org/drawingml/2006/main">
              <a:ext uri="{FF2B5EF4-FFF2-40B4-BE49-F238E27FC236}">
                <a16:creationId xmlns:a16="http://schemas.microsoft.com/office/drawing/2014/main" id="{AF30676D-1A8E-4E86-904E-B82D30F885C9}"/>
              </a:ext>
            </a:extLst>
          </p:cNvPr>
          <p:cNvSpPr>
            <a:spLocks xmlns:a="http://schemas.openxmlformats.org/drawingml/2006/main" noGrp="1"/>
          </p:cNvSpPr>
          <p:nvPr/>
        </p:nvSpPr>
        <p:spPr>
          <a:xfrm xmlns:a="http://schemas.openxmlformats.org/drawingml/2006/main">
            <a:off x="800100" y="5600700"/>
            <a:ext cx="1032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E2A"/>
                </a:solidFill>
              </a:defRPr>
            </a:pPr>
            <a:r>
              <a:rPr sz="1425" b="1">
                <a:solidFill>
                  <a:srgbClr val="123E2A"/>
                </a:solidFill>
              </a:rPr>
              <a:t>NEXT STEP  Complete the teacher-nominated learning action. Use current local sources and supervision before any real practical decision. Website responses remain formative.</a:t>
            </a:r>
          </a:p>
        </p:txBody>
      </p:sp>
    </p:spTree>
    <p:extLst>
      <p:ext uri="{BB962C8B-B14F-4D97-AF65-F5344CB8AC3E}">
        <p14:creationId xmlns:p14="http://schemas.microsoft.com/office/powerpoint/2010/main" val="12942426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2026-08-21T09:51:04.5960000Z</dcterms:created>
  <dcterms:modified xsi:type="dcterms:W3CDTF">2026-08-21T09:51:04.5960000Z</dcterms:modified>
</coreProperties>
</file>